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2b6e2f3a5184208" /><Relationship Type="http://schemas.openxmlformats.org/officeDocument/2006/relationships/extended-properties" Target="/docProps/app.xml" Id="Rda02136d9717448d" /><Relationship Type="http://schemas.openxmlformats.org/officeDocument/2006/relationships/officeDocument" Target="/ppt/presentation.xml" Id="Rac3e73a945054003" /></Relationships>
</file>

<file path=ppt/presentation.xml><?xml version="1.0" encoding="utf-8"?>
<p:presentation xmlns:p="http://schemas.openxmlformats.org/presentationml/2006/main">
  <p:sldMasterIdLst>
    <p:sldMasterId xmlns:r="http://schemas.openxmlformats.org/officeDocument/2006/relationships" id="2147483648" r:id="Rc8559fb4d16b432d"/>
  </p:sldMasterIdLst>
  <p:notesMasterIdLst>
    <p:notesMasterId xmlns:r="http://schemas.openxmlformats.org/officeDocument/2006/relationships" r:id="Rebad56635a044011"/>
  </p:notesMasterIdLst>
  <p:sldIdLst>
    <p:sldId xmlns:r="http://schemas.openxmlformats.org/officeDocument/2006/relationships" id="256" r:id="R2025ab98db39413e"/>
    <p:sldId xmlns:r="http://schemas.openxmlformats.org/officeDocument/2006/relationships" id="257" r:id="Rdd6a683b6dd040ec"/>
    <p:sldId xmlns:r="http://schemas.openxmlformats.org/officeDocument/2006/relationships" id="258" r:id="R7a8bd1712f4d469e"/>
    <p:sldId xmlns:r="http://schemas.openxmlformats.org/officeDocument/2006/relationships" id="259" r:id="Rb18f17942cc24b44"/>
    <p:sldId xmlns:r="http://schemas.openxmlformats.org/officeDocument/2006/relationships" id="260" r:id="R9ef4913c99f24af0"/>
    <p:sldId xmlns:r="http://schemas.openxmlformats.org/officeDocument/2006/relationships" id="261" r:id="R60c884e1a51f4865"/>
    <p:sldId xmlns:r="http://schemas.openxmlformats.org/officeDocument/2006/relationships" id="262" r:id="R9e2017c6d3e44fcb"/>
    <p:sldId xmlns:r="http://schemas.openxmlformats.org/officeDocument/2006/relationships" id="263" r:id="R3df4b2f6dbf64081"/>
    <p:sldId xmlns:r="http://schemas.openxmlformats.org/officeDocument/2006/relationships" id="264" r:id="R93ed5082f26a44a0"/>
    <p:sldId xmlns:r="http://schemas.openxmlformats.org/officeDocument/2006/relationships" id="265" r:id="Rf0aa199a919949ec"/>
    <p:sldId xmlns:r="http://schemas.openxmlformats.org/officeDocument/2006/relationships" id="266" r:id="Rab19281a23bc40d3"/>
    <p:sldId xmlns:r="http://schemas.openxmlformats.org/officeDocument/2006/relationships" id="267" r:id="R72000c67d3b040b4"/>
    <p:sldId xmlns:r="http://schemas.openxmlformats.org/officeDocument/2006/relationships" id="268" r:id="Rb3dba9c0526247b8"/>
    <p:sldId xmlns:r="http://schemas.openxmlformats.org/officeDocument/2006/relationships" id="269" r:id="Rfeb88660ea2147eb"/>
    <p:sldId xmlns:r="http://schemas.openxmlformats.org/officeDocument/2006/relationships" id="270" r:id="Rbbc649afa04a4c45"/>
    <p:sldId xmlns:r="http://schemas.openxmlformats.org/officeDocument/2006/relationships" id="271" r:id="R93e9afd7543d4e67"/>
    <p:sldId xmlns:r="http://schemas.openxmlformats.org/officeDocument/2006/relationships" id="272" r:id="R8e7391e005074d8b"/>
    <p:sldId xmlns:r="http://schemas.openxmlformats.org/officeDocument/2006/relationships" id="273" r:id="Ref087aa716744927"/>
    <p:sldId xmlns:r="http://schemas.openxmlformats.org/officeDocument/2006/relationships" id="274" r:id="Rcb04fdf6882c4797"/>
    <p:sldId xmlns:r="http://schemas.openxmlformats.org/officeDocument/2006/relationships" id="275" r:id="R67697feefbad4b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fbcff671584a2a" /><Relationship Type="http://schemas.openxmlformats.org/officeDocument/2006/relationships/slideMaster" Target="/ppt/slideMasters/slideMaster1.xml" Id="Rc8559fb4d16b432d" /><Relationship Type="http://schemas.openxmlformats.org/officeDocument/2006/relationships/notesMaster" Target="/ppt/notesMasters/notesMaster1.xml" Id="Rebad56635a044011" /><Relationship Type="http://schemas.openxmlformats.org/officeDocument/2006/relationships/presProps" Target="/ppt/presProps.xml" Id="R5168ae38272a4fc7" /><Relationship Type="http://schemas.openxmlformats.org/officeDocument/2006/relationships/tableStyles" Target="/ppt/tableStyles.xml" Id="Re02b7a25636f45b5" /><Relationship Type="http://schemas.openxmlformats.org/officeDocument/2006/relationships/slide" Target="/ppt/slides/slide1.xml" Id="R2025ab98db39413e" /><Relationship Type="http://schemas.openxmlformats.org/officeDocument/2006/relationships/slide" Target="/ppt/slides/slide2.xml" Id="Rdd6a683b6dd040ec" /><Relationship Type="http://schemas.openxmlformats.org/officeDocument/2006/relationships/slide" Target="/ppt/slides/slide3.xml" Id="R7a8bd1712f4d469e" /><Relationship Type="http://schemas.openxmlformats.org/officeDocument/2006/relationships/slide" Target="/ppt/slides/slide4.xml" Id="Rb18f17942cc24b44" /><Relationship Type="http://schemas.openxmlformats.org/officeDocument/2006/relationships/slide" Target="/ppt/slides/slide5.xml" Id="R9ef4913c99f24af0" /><Relationship Type="http://schemas.openxmlformats.org/officeDocument/2006/relationships/slide" Target="/ppt/slides/slide6.xml" Id="R60c884e1a51f4865" /><Relationship Type="http://schemas.openxmlformats.org/officeDocument/2006/relationships/slide" Target="/ppt/slides/slide7.xml" Id="R9e2017c6d3e44fcb" /><Relationship Type="http://schemas.openxmlformats.org/officeDocument/2006/relationships/slide" Target="/ppt/slides/slide8.xml" Id="R3df4b2f6dbf64081" /><Relationship Type="http://schemas.openxmlformats.org/officeDocument/2006/relationships/slide" Target="/ppt/slides/slide9.xml" Id="R93ed5082f26a44a0" /><Relationship Type="http://schemas.openxmlformats.org/officeDocument/2006/relationships/slide" Target="/ppt/slides/slide10.xml" Id="Rf0aa199a919949ec" /><Relationship Type="http://schemas.openxmlformats.org/officeDocument/2006/relationships/slide" Target="/ppt/slides/slide11.xml" Id="Rab19281a23bc40d3" /><Relationship Type="http://schemas.openxmlformats.org/officeDocument/2006/relationships/slide" Target="/ppt/slides/slide12.xml" Id="R72000c67d3b040b4" /><Relationship Type="http://schemas.openxmlformats.org/officeDocument/2006/relationships/slide" Target="/ppt/slides/slide13.xml" Id="Rb3dba9c0526247b8" /><Relationship Type="http://schemas.openxmlformats.org/officeDocument/2006/relationships/slide" Target="/ppt/slides/slide14.xml" Id="Rfeb88660ea2147eb" /><Relationship Type="http://schemas.openxmlformats.org/officeDocument/2006/relationships/slide" Target="/ppt/slides/slide15.xml" Id="Rbbc649afa04a4c45" /><Relationship Type="http://schemas.openxmlformats.org/officeDocument/2006/relationships/slide" Target="/ppt/slides/slide16.xml" Id="R93e9afd7543d4e67" /><Relationship Type="http://schemas.openxmlformats.org/officeDocument/2006/relationships/slide" Target="/ppt/slides/slide17.xml" Id="R8e7391e005074d8b" /><Relationship Type="http://schemas.openxmlformats.org/officeDocument/2006/relationships/slide" Target="/ppt/slides/slide18.xml" Id="Ref087aa716744927" /><Relationship Type="http://schemas.openxmlformats.org/officeDocument/2006/relationships/slide" Target="/ppt/slides/slide19.xml" Id="Rcb04fdf6882c4797" /><Relationship Type="http://schemas.openxmlformats.org/officeDocument/2006/relationships/slide" Target="/ppt/slides/slide20.xml" Id="R67697feefbad4b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92749fe0d347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71e5c9ce3445db" /><Relationship Type="http://schemas.openxmlformats.org/officeDocument/2006/relationships/notesMaster" Target="/ppt/notesMasters/notesMaster1.xml" Id="Ra9d06687f4944d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ed37a2be374389" /><Relationship Type="http://schemas.openxmlformats.org/officeDocument/2006/relationships/notesMaster" Target="/ppt/notesMasters/notesMaster1.xml" Id="R5b00ae710ba64b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bb72259351456e" /><Relationship Type="http://schemas.openxmlformats.org/officeDocument/2006/relationships/notesMaster" Target="/ppt/notesMasters/notesMaster1.xml" Id="Rdc8c7976145242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0c73b6772c4be3" /><Relationship Type="http://schemas.openxmlformats.org/officeDocument/2006/relationships/notesMaster" Target="/ppt/notesMasters/notesMaster1.xml" Id="Rf71acbe5d1004e6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ddcd44542e48c3" /><Relationship Type="http://schemas.openxmlformats.org/officeDocument/2006/relationships/notesMaster" Target="/ppt/notesMasters/notesMaster1.xml" Id="R28497bde813e43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d38511e0a04bb5" /><Relationship Type="http://schemas.openxmlformats.org/officeDocument/2006/relationships/notesMaster" Target="/ppt/notesMasters/notesMaster1.xml" Id="Rca76acb0cbb64c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7f37b459b24ab9" /><Relationship Type="http://schemas.openxmlformats.org/officeDocument/2006/relationships/notesMaster" Target="/ppt/notesMasters/notesMaster1.xml" Id="R0ed95fe541784e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30a56cbbbe4a05" /><Relationship Type="http://schemas.openxmlformats.org/officeDocument/2006/relationships/notesMaster" Target="/ppt/notesMasters/notesMaster1.xml" Id="Rde6da9f5952f4f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3eac66c84a49e6" /><Relationship Type="http://schemas.openxmlformats.org/officeDocument/2006/relationships/notesMaster" Target="/ppt/notesMasters/notesMaster1.xml" Id="R62b0c9a798d44e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6ddee1dc33d46e6" /><Relationship Type="http://schemas.openxmlformats.org/officeDocument/2006/relationships/notesMaster" Target="/ppt/notesMasters/notesMaster1.xml" Id="R8a5abc65c1cc433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4547d032f84d50" /><Relationship Type="http://schemas.openxmlformats.org/officeDocument/2006/relationships/notesMaster" Target="/ppt/notesMasters/notesMaster1.xml" Id="Re3f89fd7493241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009bc36dfe4f13" /><Relationship Type="http://schemas.openxmlformats.org/officeDocument/2006/relationships/notesMaster" Target="/ppt/notesMasters/notesMaster1.xml" Id="R9ea0f6977e3746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bd8537014ec4cb2" /><Relationship Type="http://schemas.openxmlformats.org/officeDocument/2006/relationships/notesMaster" Target="/ppt/notesMasters/notesMaster1.xml" Id="R8c1b1fee288646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c3c726898e4f0a" /><Relationship Type="http://schemas.openxmlformats.org/officeDocument/2006/relationships/notesMaster" Target="/ppt/notesMasters/notesMaster1.xml" Id="Rd002dc037fd141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b34aba1f8e4b42" /><Relationship Type="http://schemas.openxmlformats.org/officeDocument/2006/relationships/notesMaster" Target="/ppt/notesMasters/notesMaster1.xml" Id="R85c830b2e6ff43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376095e70e44737" /><Relationship Type="http://schemas.openxmlformats.org/officeDocument/2006/relationships/notesMaster" Target="/ppt/notesMasters/notesMaster1.xml" Id="R4672e07696fa4c7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86af3d03a3c4104" /><Relationship Type="http://schemas.openxmlformats.org/officeDocument/2006/relationships/notesMaster" Target="/ppt/notesMasters/notesMaster1.xml" Id="R7952ca268e5f4d3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4e986252d9240de" /><Relationship Type="http://schemas.openxmlformats.org/officeDocument/2006/relationships/notesMaster" Target="/ppt/notesMasters/notesMaster1.xml" Id="Ra573810df31f475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abb5af95c954b17" /><Relationship Type="http://schemas.openxmlformats.org/officeDocument/2006/relationships/notesMaster" Target="/ppt/notesMasters/notesMaster1.xml" Id="Rfdca642490cd469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ac5da81a1374fdc" /><Relationship Type="http://schemas.openxmlformats.org/officeDocument/2006/relationships/notesMaster" Target="/ppt/notesMasters/notesMaster1.xml" Id="Rd88fded9110d40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Maitreya Vaghulade, 117437999. Karan Jain, 117420953. Introduce the goal: implement general search and use admissible, consistent heuristics to solve increasingly rich Pac-Man problems. The main result is an optimal 60-step food route with 255 expansions. Click Start to open the menu. The cover is a conceptual maze illustration. Suggested speaking split: Maitreya presents the search algorithms, then Karan presents corners, food search and the evaluation. Adjust the split to match rehearsal.</a:t>
            </a:r>
          </a:p>
          <a:p xmlns:a="http://schemas.openxmlformats.org/drawingml/2006/main">
            <a:r>
              <a:t/>
            </a:r>
          </a:p>
          <a:p xmlns:a="http://schemas.openxmlformats.org/drawingml/2006/main">
            <a:r>
              <a:t>Sources: Project01-Fall2026.pdf, CSE 537 assignment, pages 2-7. Project01_Report.pdf. Benchmark evidence in the completed search.zip, September 15,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presentation is designed for approximately 8-10 minutes plus a short demonstration. A normal sequence begins with the problem definitions. Use this menu when the professor asks to revisit a section. Links operate in Slide Show mode. In the editor, start Slide Show before using the navigation. The final three slides are optional demo instructions. Keep the VS Code terminal open before presenting.</a:t>
            </a:r>
          </a:p>
          <a:p xmlns:a="http://schemas.openxmlformats.org/drawingml/2006/main">
            <a:r>
              <a:t/>
            </a:r>
          </a:p>
          <a:p xmlns:a="http://schemas.openxmlformats.org/drawingml/2006/main">
            <a:r>
              <a:t>Sources: Project01-Fall2026.pdf, CSE 537 assignment, pages 2-7. Project01_Report.pdf. Benchmark evidence in the completed search.zip, September 15,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search problem specifies a start state, a goal test, and successors with actions and costs. A state should contain exactly the information needed to predict future choices and recognize the goal. A position is enough for one destination. Corners need visit history. Food search needs a grid recording which dots remain. The general search functions interact only through the problem interface, so the same algorithms also work on eight-puzzle states. Parent links reconstruct the final action sequence without copying the whole path at each expansion. The project changes only search.py and searchAgents.py among the starter files.</a:t>
            </a:r>
          </a:p>
          <a:p xmlns:a="http://schemas.openxmlformats.org/drawingml/2006/main">
            <a:r>
              <a:t/>
            </a:r>
          </a:p>
          <a:p xmlns:a="http://schemas.openxmlformats.org/drawingml/2006/main">
            <a:r>
              <a:t>Sources: Project01-Fall2026.pdf, supplied CSE 537 assignment, pages 2–7; search.py SearchProblem; searchAgents.py PositionSearchProblem, CornersProblem, FoodSearchProblem.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DFS uses a stack and follows the deepest available branch. It marks states on pop, so duplicate frontier entries cannot suppress a deeper route prematurely. BFS uses a queue and marks on insertion because its first discovery is already a shortest path in number of actions. UCS and A* track the best discovered accumulated cost. An improved cost creates a new priority-queue entry, and old entries are skipped when popped. A state can reopen if a cheaper route arrives, supporting admissible but inconsistent heuristics. Equal priorities keep insertion order. UCS assumes nonnegative costs. A* additionally needs an admissible heuristic with zero at goals. BFS minimizes cost only when all steps have equal cost.</a:t>
            </a:r>
          </a:p>
          <a:p xmlns:a="http://schemas.openxmlformats.org/drawingml/2006/main">
            <a:r>
              <a:t/>
            </a:r>
          </a:p>
          <a:p xmlns:a="http://schemas.openxmlformats.org/drawingml/2006/main">
            <a:r>
              <a:t>Sources: Project01-Fall2026.pdf, supplied CSE 537 assignment, pages 2–7, Q1–Q4; search.py depthFirstSearch, breadthFirstSearch, _costSearch.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for a prediction before revealing the chart. Ask which method guarantees the fewest moves when every move costs one. The answer is BFS. DFS may find an equally short route by chance, but it has no shortest-path guarantee. Click Reveal the comparison to show measured routes on mediumMaze and openMaze.</a:t>
            </a:r>
          </a:p>
          <a:p xmlns:a="http://schemas.openxmlformats.org/drawingml/2006/main">
            <a:r>
              <a:t/>
            </a:r>
          </a:p>
          <a:p xmlns:a="http://schemas.openxmlformats.org/drawingml/2006/main">
            <a:r>
              <a:t>Sources: Project01-Fall2026.pdf, CSE 537 assignment, pages 2-7. Project01_Report.pdf. Benchmark evidence in the completed search.zip, September 15,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mediumMaze, DFS expands 146 states and returns a 130-step route. BFS expands 269 states and returns the optimal 68-step route. The larger exploration effort buys a better solution. On openMaze, DFS takes 298 moves while BFS needs only 54. DFS happens to return an optimal path on bigMaze, but this is not a guarantee. The provided PDF gives an approximate DFS length hint. The supplied maze and specified successor order produce the measured 130-step route, which was replayed successfully. Pac-Man does not physically visit every explored state. Exploration is internal planning, and the final path can omit dead ends.</a:t>
            </a:r>
          </a:p>
          <a:p xmlns:a="http://schemas.openxmlformats.org/drawingml/2006/main">
            <a:r>
              <a:t/>
            </a:r>
          </a:p>
          <a:p xmlns:a="http://schemas.openxmlformats.org/drawingml/2006/main">
            <a:r>
              <a:t>Sources: validation/benchmark_results.json, CPython 3.11.16, macOS arm64, September 15, 2026; Project01_Report.pdf, section 3; assignment Q1–Q2.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cost functions charge for entering column x. StayEast makes positions farther east cheaper, while StayWest penalizes eastward positions exponentially. BFS still minimizes the number of moves, but it does not minimize these weighted objectives. On mediumDottedMaze, UCS adds six moves while reducing total weighted cost slightly. On mediumScaryMaze, UCS adds twenty moves and reduces cost by about 1.95 billion cost units. These magnitudes are arbitrary model costs, not money. The agent console prints integer costs, so the benchmark records the precise values instead. The comparison illustrates why the objective must be defined before choosing a search strategy.</a:t>
            </a:r>
          </a:p>
          <a:p xmlns:a="http://schemas.openxmlformats.org/drawingml/2006/main">
            <a:r>
              <a:t/>
            </a:r>
          </a:p>
          <a:p xmlns:a="http://schemas.openxmlformats.org/drawingml/2006/main">
            <a:r>
              <a:t>Sources: validation/benchmark_results.json, CPython 3.11.16, macOS arm64, September 15, 2026; searchAgents.py StayEastSearchAgent and StayWestSearchAgent; assignment Q3.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Manhattan distance adds the horizontal and vertical distance to the goal. Ignoring walls can only make reaching the goal easier, so this is a lower bound for unit-cost four-direction movement. A move can reduce that estimate by at most one, giving consistency. The heuristic is zero at the goal. On bigMaze, A* expands 549 states compared with 620 for UCS, an 11.5 percent reduction, while both routes have cost 210. The measured medians are 0.628 and 0.687 milliseconds. Manhattan distance can still create many equal-priority states in an open region. On openMaze, A* expands 535 states and UCS expands 682. Do not assume unscaled Manhattan distance is valid for the exponential weighted cost functions.</a:t>
            </a:r>
          </a:p>
          <a:p xmlns:a="http://schemas.openxmlformats.org/drawingml/2006/main">
            <a:r>
              <a:t/>
            </a:r>
          </a:p>
          <a:p xmlns:a="http://schemas.openxmlformats.org/drawingml/2006/main">
            <a:r>
              <a:t>Sources: validation/benchmark_results.json, CPython 3.11.16, macOS arm64, September 15, 2026; searchAgents.py manhattanHeuristic; assignment Q4.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alone is insufficient because reaching the same cell with different corner histories can require different future actions. Each successor is a new immutable tuple containing the new position and an integer bit mask. Set bit i using a bitwise OR when the move reaches corner i. Never store one shared mutable set of visited corners on the problem object, because that would leak history between branches. The constructor keeps fixed maze data, while states keep branch-specific information. Every legal move costs one. Starting on a corner already visits it. There are at most sixteen masks per walkable cell, so at most 16V abstract states. The full game state contains irrelevant ghost and food data and would make search unnecessarily large.</a:t>
            </a:r>
          </a:p>
          <a:p xmlns:a="http://schemas.openxmlformats.org/drawingml/2006/main">
            <a:r>
              <a:t/>
            </a:r>
          </a:p>
          <a:p xmlns:a="http://schemas.openxmlformats.org/drawingml/2006/main">
            <a:r>
              <a:t>Sources: Project01-Fall2026.pdf, supplied CSE 537 assignment, pages 2–7, Q5; searchAgents.py CornersProblem.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heuristic minimizes the Manhattan distance from the current position to the first unvisited corner plus the Manhattan distances between successive corners. With four corners there are at most 24 orders. It caches corner-to-corner suffix costs by visit mask, since those costs do not depend on Pac-Man’s current position. Any real completion induces an order of first visits, and each real segment is at least its Manhattan distance. Therefore the minimum relaxed tour is admissible. For consistency, one legal move followed by the best relaxed completion of the next state is also a relaxed completion of the current state. Thus h(s) is at most one plus h(s next). On mediumCorners, expansions fall by 62.3 percent to 741, below the assignment’s fewer-than-800 stretch target. On tinyCorners, both find 28 moves, but heuristic overhead makes A* slightly slower.</a:t>
            </a:r>
          </a:p>
          <a:p xmlns:a="http://schemas.openxmlformats.org/drawingml/2006/main">
            <a:r>
              <a:t/>
            </a:r>
          </a:p>
          <a:p xmlns:a="http://schemas.openxmlformats.org/drawingml/2006/main">
            <a:r>
              <a:t>Sources: validation/benchmark_results.json, CPython 3.11.16, macOS arm64, September 15, 2026; searchAgents.py cornersHeuristic; assignment Q6.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heuristic uses shortest-path maze distances, not straight-line distance. A breadth-first distance map from each food location is cached. Prim’s algorithm computes the minimum spanning tree weight on the complete food graph, with each edge weighted by maze distance. Cache that tree cost by remaining food subset. For admissibility, any completion first reaches a food at a cost no smaller than the nearest-food distance. The rest of its walk connects all food locations, so it costs at least a minimum spanning tree. These bounds apply to consecutive portions of the route, making their sum valid. For consistency without eating, the tree stays fixed and nearest distance drops by at most one. When eating q, attach q to the nearest node in the successor tree. This proves MST(F) &lt;= MST(F without q) + nearest distance from q. Together with the one-step move, this gives h(s) &lt;= 1 + h(s next). The final-food case also drops by at most one.</a:t>
            </a:r>
          </a:p>
          <a:p xmlns:a="http://schemas.openxmlformats.org/drawingml/2006/main">
            <a:r>
              <a:t/>
            </a:r>
          </a:p>
          <a:p xmlns:a="http://schemas.openxmlformats.org/drawingml/2006/main">
            <a:r>
              <a:t>Sources: Project01-Fall2026.pdf, supplied CSE 537 assignment, pages 2–7, Q7; searchAgents.py foodHeuristic and _mazeDistanceMap; Project01_Report.pdf, section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briefly for a prediction. Emphasize that A* must still preserve optimality. Reveal the next slide: it expands 255 states and returns the same optimal cost of 60. This question motivates the benefit of a strong lower bound before the audience sees the result.</a:t>
            </a:r>
          </a:p>
          <a:p xmlns:a="http://schemas.openxmlformats.org/drawingml/2006/main">
            <a:r>
              <a:t/>
            </a:r>
          </a:p>
          <a:p xmlns:a="http://schemas.openxmlformats.org/drawingml/2006/main">
            <a:r>
              <a:t>Sources: Project01-Fall2026.pdf, CSE 537 assignment, pages 2-7. Project01_Report.pdf. Benchmark evidence in the completed search.zip, September 15,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 food heuristic reaches the same 60-step optimum as UCS with 255 expansions rather than 16,688. That is a 98.47 percent reduction. Its median search time is approximately 49.7 times lower. Peak traced Python allocations fall by about 97.9 percent. These memory values include heuristic maps and caches, but exclude interpreter startup and whole-process resident memory. The criterion listed for extra credit is fewer than 7,000 expansions. Meeting this measured threshold is not an official grade, since the course autograder was not supplied. On tinySearch, A* and UCS both return cost 27, with 89 versus 5,057 expansions. On testSearch, both return cost seven.</a:t>
            </a:r>
          </a:p>
          <a:p xmlns:a="http://schemas.openxmlformats.org/drawingml/2006/main">
            <a:r>
              <a:t/>
            </a:r>
          </a:p>
          <a:p xmlns:a="http://schemas.openxmlformats.org/drawingml/2006/main">
            <a:r>
              <a:t>Sources: validation/benchmark_results.json, CPython 3.11.16, macOS arm64, September 15, 2026; validation/test_project.py; assignment Q7 expansion thresholds.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benchmark measures only the search call on a fresh problem with empty heuristic caches. Five untraced timings give a median. A separate cold tracemalloc run records peak Python allocations, in KiB. Heuristic preprocessing and cache construction are included. Importing modules, parsing layouts, constructing the problem, replaying the result, and animating the game are outside the measurement window. Expanded nodes count calls to the problem successor function, including neither goal pops nor heuristic-only maze preprocessing. The regression suite covers sixty generated weighted graphs checked against an independent reference, zero-cost cycles, stale queue entries, early goal generation, reopening with inconsistent heuristics, and eight-puzzle states. Exhaustive admissibility and consistency checks cover tinyCorners, mediumCorners, testSearch, and tinySearch. These project checks are local evidence, not the unavailable official course autograder.</a:t>
            </a:r>
          </a:p>
          <a:p xmlns:a="http://schemas.openxmlformats.org/drawingml/2006/main">
            <a:r>
              <a:t/>
            </a:r>
          </a:p>
          <a:p xmlns:a="http://schemas.openxmlformats.org/drawingml/2006/main">
            <a:r>
              <a:t>Sources: validation/benchmark_results.json, CPython 3.11.16, macOS arm64, September 15, 2026; validation/tests_python311.log; validation/examples.log; validation/test_project.py.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benchmark measures the search call, excluding graphics and game execution. The packaged trickySearch A* median is 9.188 milliseconds, and a fresh diagnostic was 9.257 milliseconds. The prior local launcher used frameTime 0.2, so a 60-move plan requests about 12 seconds of pauses, plus graphics work. It now uses 0.04 for approximately 2.4 seconds of requested pauses. The supplied graphics code divides each move into four animation frames when frameTime exceeds 0.01. Negative frameTime waits for keys and is a step-through mode, not a hang. The optional mediumSearch case is different: 108 food dots create many food subsets. A three-second instrumented profile spent about 86 percent of cumulative time in foodHeuristic, including minimum-spanning-tree work. Without memory tracing, a five-second probe explored 15,902 states and still did not complete. Profiling and tracing add overhead, so these probes are diagnostic, not benchmark times. No correctness defect appeared in the required cases. A faster optional mediumSearch solver would require further optimization or a stronger proven lower bound.</a:t>
            </a:r>
          </a:p>
          <a:p xmlns:a="http://schemas.openxmlformats.org/drawingml/2006/main">
            <a:r>
              <a:t/>
            </a:r>
          </a:p>
          <a:p xmlns:a="http://schemas.openxmlformats.org/drawingml/2006/main">
            <a:r>
              <a:t>Sources: Project01-Fall2026.pdf, CSE 537 assignment, pages 2-7. Project01_Report.pdf. Benchmark evidence in the completed search.zip, September 15, 2026. graphicsDisplay.py animatePacman; pacman.py frameTime option; local performance diagnostics, September 16,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one short demonstration rather than running every maze during the presentation. The buttons open instructions in this deck. They do not automatically launch external programs. On this Mac, open Terminal or the VS Code terminal in /Users/maitreyavaghulade/Desktop/Pacman and run ./Demo_Pacman.command. Choose 1 for BFS, 2 for corners or 3 for food. Choose 4 to step through food search or 5 to remove animation delays. During step mode, any key advances one move and q resumes playback. Use Control-C in the terminal to stop a demonstration. Return to this slide with its Menu button, then use Continue to conclusions.</a:t>
            </a:r>
          </a:p>
          <a:p xmlns:a="http://schemas.openxmlformats.org/drawingml/2006/main">
            <a:r>
              <a:t/>
            </a:r>
          </a:p>
          <a:p xmlns:a="http://schemas.openxmlformats.org/drawingml/2006/main">
            <a:r>
              <a:t>Sources: Project01-Fall2026.pdf, CSE 537 assignment, pages 2-7. Project01_Report.pdf. Benchmark evidence in the completed search.zip, September 15,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empirical comparison supports a conditional conclusion. DFS can find a feasible route quickly but has no path-quality guarantee. BFS is effective for equal costs. UCS is the reliable baseline for varying costs. A* helps most when its lower bound captures meaningful future work at low computation cost. Fewer expanded states do not automatically imply less elapsed time. On tinyCorners, A* takes 0.391 milliseconds versus BFS at 0.319 milliseconds. The optional mediumSearch case has 108 food dots and did not finish within a five-second diagnostic with memory tracing enabled. That run is partial and its timing is not comparable with the ordinary untraced benchmark. For a live demonstration, run: python pacman.py -l mediumMaze -p SearchAgent -a fn=bfs ; python pacman.py -l mediumCorners -p AStarCornersAgent ; python pacman.py -l trickySearch -p AStarFoodSearchAgent. Be ready to explain goal-on-pop, visit masks, and heuristic consistency.</a:t>
            </a:r>
          </a:p>
          <a:p xmlns:a="http://schemas.openxmlformats.org/drawingml/2006/main">
            <a:r>
              <a:t/>
            </a:r>
          </a:p>
          <a:p xmlns:a="http://schemas.openxmlformats.org/drawingml/2006/main">
            <a:r>
              <a:t>Sources: validation/benchmark_results.json, CPython 3.11.16, macOS arm64, September 15, 2026; validation/medium_search_probe.json; Project01_Report.pdf, critical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VS Code terminal. First run: cd /Users/maitreyavaghulade/Desktop/Pacman</a:t>
            </a:r>
          </a:p>
          <a:p xmlns:a="http://schemas.openxmlformats.org/drawingml/2006/main">
            <a:r>
              <a:t>Then run: ./Demo_Pacman.command bfs</a:t>
            </a:r>
          </a:p>
          <a:p xmlns:a="http://schemas.openxmlformats.org/drawingml/2006/main">
            <a:r>
              <a:t>This helper selects the Python 3.11 runtime already configured on the demonstration laptop. For another computer with Python 3.11 and Tkinter installed, the equivalent command is:</a:t>
            </a:r>
          </a:p>
          <a:p xmlns:a="http://schemas.openxmlformats.org/drawingml/2006/main">
            <a:r>
              <a:t>python pacman.py -l mediumMaze -p SearchAgent -a fn=bfs --frameTime 0.04</a:t>
            </a:r>
          </a:p>
          <a:p xmlns:a="http://schemas.openxmlformats.org/drawingml/2006/main">
            <a:r>
              <a:t>Use --frameTime 0 to remove animation pauses. To stop, press Control-C in the terminal. Explain why the queue gives a shortest path when every move costs one.</a:t>
            </a:r>
          </a:p>
          <a:p xmlns:a="http://schemas.openxmlformats.org/drawingml/2006/main">
            <a:r>
              <a:t/>
            </a:r>
          </a:p>
          <a:p xmlns:a="http://schemas.openxmlformats.org/drawingml/2006/main">
            <a:r>
              <a:t>Sources: Project01-Fall2026.pdf, CSE 537 assignment, pages 2-7. Project01_Report.pdf. Benchmark evidence in the completed search.zip, September 15,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VS Code terminal. First run: cd /Users/maitreyavaghulade/Desktop/Pacman</a:t>
            </a:r>
          </a:p>
          <a:p xmlns:a="http://schemas.openxmlformats.org/drawingml/2006/main">
            <a:r>
              <a:t>Then run: ./Demo_Pacman.command corners</a:t>
            </a:r>
          </a:p>
          <a:p xmlns:a="http://schemas.openxmlformats.org/drawingml/2006/main">
            <a:r>
              <a:t>This helper selects the Python 3.11 runtime already configured on the demonstration laptop. For another computer with Python 3.11 and Tkinter installed, the equivalent command is:</a:t>
            </a:r>
          </a:p>
          <a:p xmlns:a="http://schemas.openxmlformats.org/drawingml/2006/main">
            <a:r>
              <a:t>python pacman.py -l mediumCorners -p AStarCornersAgent --frameTime 0.04</a:t>
            </a:r>
          </a:p>
          <a:p xmlns:a="http://schemas.openxmlformats.org/drawingml/2006/main">
            <a:r>
              <a:t>Use --frameTime 0 to remove animation pauses. To stop, press Control-C in the terminal. Point out the visited-corner history and the goal mask 1111.</a:t>
            </a:r>
          </a:p>
          <a:p xmlns:a="http://schemas.openxmlformats.org/drawingml/2006/main">
            <a:r>
              <a:t/>
            </a:r>
          </a:p>
          <a:p xmlns:a="http://schemas.openxmlformats.org/drawingml/2006/main">
            <a:r>
              <a:t>Sources: Project01-Fall2026.pdf, CSE 537 assignment, pages 2-7. Project01_Report.pdf. Benchmark evidence in the completed search.zip, September 15,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VS Code terminal. First run: cd /Users/maitreyavaghulade/Desktop/Pacman</a:t>
            </a:r>
          </a:p>
          <a:p xmlns:a="http://schemas.openxmlformats.org/drawingml/2006/main">
            <a:r>
              <a:t>Then run: ./Demo_Pacman.command food</a:t>
            </a:r>
          </a:p>
          <a:p xmlns:a="http://schemas.openxmlformats.org/drawingml/2006/main">
            <a:r>
              <a:t>This helper selects the Python 3.11 runtime already configured on the demonstration laptop. For another computer with Python 3.11 and Tkinter installed, the equivalent command is:</a:t>
            </a:r>
          </a:p>
          <a:p xmlns:a="http://schemas.openxmlformats.org/drawingml/2006/main">
            <a:r>
              <a:t>python pacman.py -l trickySearch -p AStarFoodSearchAgent --frameTime 0.04</a:t>
            </a:r>
          </a:p>
          <a:p xmlns:a="http://schemas.openxmlformats.org/drawingml/2006/main">
            <a:r>
              <a:t>Use --frameTime 0 to remove animation pauses. To stop, press Control-C in the terminal. Explain the nearest-food term and why a spanning tree is a lower bound.</a:t>
            </a:r>
          </a:p>
          <a:p xmlns:a="http://schemas.openxmlformats.org/drawingml/2006/main">
            <a:r>
              <a:t/>
            </a:r>
          </a:p>
          <a:p xmlns:a="http://schemas.openxmlformats.org/drawingml/2006/main">
            <a:r>
              <a:t>Sources: Project01-Fall2026.pdf, CSE 537 assignment, pages 2-7. Project01_Report.pdf. Benchmark evidence in the completed search.zip, September 15,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2727f0b2c9246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d0f82f02694402" /><Relationship Type="http://schemas.openxmlformats.org/officeDocument/2006/relationships/slideLayout" Target="/ppt/slideLayouts/slideLayout1.xml" Id="R1958877dea0f4f8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958877dea0f4f8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98e160bf0e3e4936"/><Relationship Type="http://schemas.openxmlformats.org/officeDocument/2006/relationships/image" Target="/ppt/media/image.png" Id="R9336c9fbedbc4d07"/><Relationship Type="http://schemas.openxmlformats.org/officeDocument/2006/relationships/notesSlide" Target="/ppt/notesSlides/notesSlide1.xml" Id="Rf60727d59f1d4339"/><Relationship Id="rIdNav4" Type="http://schemas.openxmlformats.org/officeDocument/2006/relationships/slide" Target="slide2.xml"/></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6dd001c304b24d06"/><Relationship Type="http://schemas.openxmlformats.org/officeDocument/2006/relationships/notesSlide" Target="/ppt/notesSlides/notesSlide2.xml" Id="R218569273f4145d8"/><Relationship Id="rIdNav3" Type="http://schemas.openxmlformats.org/officeDocument/2006/relationships/slide" Target="slide4.xml"/><Relationship Id="rIdNav4" Type="http://schemas.openxmlformats.org/officeDocument/2006/relationships/slide" Target="slide9.xml"/><Relationship Id="rIdNav5" Type="http://schemas.openxmlformats.org/officeDocument/2006/relationships/slide" Target="slide11.xml"/><Relationship Id="rIdNav6" Type="http://schemas.openxmlformats.org/officeDocument/2006/relationships/slide" Target="slide14.xml"/><Relationship Id="rIdNav7" Type="http://schemas.openxmlformats.org/officeDocument/2006/relationships/slide" Target="slide16.xml"/><Relationship Id="rIdNav8" Type="http://schemas.openxmlformats.org/officeDocument/2006/relationships/slide" Target="slide3.xml"/><Relationship Id="rIdNav9" Type="http://schemas.openxmlformats.org/officeDocument/2006/relationships/slide" Target="slide2.xml"/><Relationship Id="rIdNav10" Type="http://schemas.openxmlformats.org/officeDocument/2006/relationships/slide" Target="slide1.xml"/><Relationship Id="rIdNav11" Type="http://schemas.openxmlformats.org/officeDocument/2006/relationships/slide" Target="slide3.xml"/></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00ddd2644462421c"/><Relationship Type="http://schemas.openxmlformats.org/officeDocument/2006/relationships/notesSlide" Target="/ppt/notesSlides/notesSlide3.xml" Id="R70ab773a6fde458e"/><Relationship Id="rIdNav3" Type="http://schemas.openxmlformats.org/officeDocument/2006/relationships/slide" Target="slide2.xml"/><Relationship Id="rIdNav4" Type="http://schemas.openxmlformats.org/officeDocument/2006/relationships/slide" Target="slide2.xml"/><Relationship Id="rIdNav5" Type="http://schemas.openxmlformats.org/officeDocument/2006/relationships/slide" Target="slide4.xml"/></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04e199e7cb64213"/><Relationship Type="http://schemas.openxmlformats.org/officeDocument/2006/relationships/notesSlide" Target="/ppt/notesSlides/notesSlide4.xml" Id="R8714ee719c334b48"/><Relationship Id="rIdNav3" Type="http://schemas.openxmlformats.org/officeDocument/2006/relationships/slide" Target="slide2.xml"/><Relationship Id="rIdNav4" Type="http://schemas.openxmlformats.org/officeDocument/2006/relationships/slide" Target="slide3.xml"/><Relationship Id="rIdNav5" Type="http://schemas.openxmlformats.org/officeDocument/2006/relationships/slide" Target="slide5.xml"/></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2c39dd4467d34a1a"/><Relationship Type="http://schemas.openxmlformats.org/officeDocument/2006/relationships/notesSlide" Target="/ppt/notesSlides/notesSlide5.xml" Id="R4dc75831405f4382"/><Relationship Id="rIdNav3" Type="http://schemas.openxmlformats.org/officeDocument/2006/relationships/slide" Target="slide6.xml"/><Relationship Id="rIdNav4" Type="http://schemas.openxmlformats.org/officeDocument/2006/relationships/slide" Target="slide2.xml"/><Relationship Id="rIdNav5" Type="http://schemas.openxmlformats.org/officeDocument/2006/relationships/slide" Target="slide4.xml"/><Relationship Id="rIdNav6" Type="http://schemas.openxmlformats.org/officeDocument/2006/relationships/slide" Target="slide6.xml"/></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9c94645464ad40ad"/><Relationship Type="http://schemas.openxmlformats.org/officeDocument/2006/relationships/chart" Target="/ppt/slides/charts/chart1.xml" Id="R8214002dbd0947dd"/><Relationship Type="http://schemas.openxmlformats.org/officeDocument/2006/relationships/notesSlide" Target="/ppt/notesSlides/notesSlide6.xml" Id="R805d61ab31394c6d"/><Relationship Id="rIdNav4" Type="http://schemas.openxmlformats.org/officeDocument/2006/relationships/slide" Target="slide2.xml"/><Relationship Id="rIdNav5" Type="http://schemas.openxmlformats.org/officeDocument/2006/relationships/slide" Target="slide5.xml"/><Relationship Id="rIdNav6" Type="http://schemas.openxmlformats.org/officeDocument/2006/relationships/slide" Target="slide7.xml"/></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0994c29969e14c6f"/><Relationship Type="http://schemas.openxmlformats.org/officeDocument/2006/relationships/notesSlide" Target="/ppt/notesSlides/notesSlide7.xml" Id="Rb17fbecca4124da9"/><Relationship Id="rIdNav3" Type="http://schemas.openxmlformats.org/officeDocument/2006/relationships/slide" Target="slide2.xml"/><Relationship Id="rIdNav4" Type="http://schemas.openxmlformats.org/officeDocument/2006/relationships/slide" Target="slide6.xml"/><Relationship Id="rIdNav5" Type="http://schemas.openxmlformats.org/officeDocument/2006/relationships/slide" Target="slide8.xml"/></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63c1489e25b24b0f"/><Relationship Type="http://schemas.openxmlformats.org/officeDocument/2006/relationships/chart" Target="/ppt/slides/charts/chart2.xml" Id="Rc9031b96bfa34398"/><Relationship Type="http://schemas.openxmlformats.org/officeDocument/2006/relationships/notesSlide" Target="/ppt/notesSlides/notesSlide8.xml" Id="R28c2d8c830244743"/><Relationship Id="rIdNav4" Type="http://schemas.openxmlformats.org/officeDocument/2006/relationships/slide" Target="slide2.xml"/><Relationship Id="rIdNav5" Type="http://schemas.openxmlformats.org/officeDocument/2006/relationships/slide" Target="slide7.xml"/><Relationship Id="rIdNav6" Type="http://schemas.openxmlformats.org/officeDocument/2006/relationships/slide" Target="slide9.xml"/></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95a1be053494434d"/><Relationship Type="http://schemas.openxmlformats.org/officeDocument/2006/relationships/notesSlide" Target="/ppt/notesSlides/notesSlide9.xml" Id="Rc217f5d050c14d48"/><Relationship Id="rIdNav3" Type="http://schemas.openxmlformats.org/officeDocument/2006/relationships/slide" Target="slide2.xml"/><Relationship Id="rIdNav4" Type="http://schemas.openxmlformats.org/officeDocument/2006/relationships/slide" Target="slide8.xml"/><Relationship Id="rIdNav5" Type="http://schemas.openxmlformats.org/officeDocument/2006/relationships/slide" Target="slide10.xml"/></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b753c535e4ca4158"/><Relationship Type="http://schemas.openxmlformats.org/officeDocument/2006/relationships/chart" Target="/ppt/slides/charts/chart3.xml" Id="Re448996d86c74d0b"/><Relationship Type="http://schemas.openxmlformats.org/officeDocument/2006/relationships/notesSlide" Target="/ppt/notesSlides/notesSlide10.xml" Id="R2774661847aa4466"/><Relationship Id="rIdNav4" Type="http://schemas.openxmlformats.org/officeDocument/2006/relationships/slide" Target="slide2.xml"/><Relationship Id="rIdNav5" Type="http://schemas.openxmlformats.org/officeDocument/2006/relationships/slide" Target="slide9.xml"/><Relationship Id="rIdNav6" Type="http://schemas.openxmlformats.org/officeDocument/2006/relationships/slide" Target="slide11.xml"/></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647081e7988f4fbd"/><Relationship Type="http://schemas.openxmlformats.org/officeDocument/2006/relationships/notesSlide" Target="/ppt/notesSlides/notesSlide11.xml" Id="Rd948b1d272554f8f"/><Relationship Id="rIdNav3" Type="http://schemas.openxmlformats.org/officeDocument/2006/relationships/slide" Target="slide2.xml"/><Relationship Id="rIdNav4" Type="http://schemas.openxmlformats.org/officeDocument/2006/relationships/slide" Target="slide10.xml"/><Relationship Id="rIdNav5" Type="http://schemas.openxmlformats.org/officeDocument/2006/relationships/slide" Target="slide12.xml"/></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10999678eb4e4526"/><Relationship Type="http://schemas.openxmlformats.org/officeDocument/2006/relationships/notesSlide" Target="/ppt/notesSlides/notesSlide12.xml" Id="R134e8400ac2748c7"/><Relationship Id="rIdNav3" Type="http://schemas.openxmlformats.org/officeDocument/2006/relationships/slide" Target="slide13.xml"/><Relationship Id="rIdNav4" Type="http://schemas.openxmlformats.org/officeDocument/2006/relationships/slide" Target="slide2.xml"/><Relationship Id="rIdNav5" Type="http://schemas.openxmlformats.org/officeDocument/2006/relationships/slide" Target="slide11.xml"/><Relationship Id="rIdNav6" Type="http://schemas.openxmlformats.org/officeDocument/2006/relationships/slide" Target="slide13.xml"/></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e697a3f883154b83"/><Relationship Type="http://schemas.openxmlformats.org/officeDocument/2006/relationships/chart" Target="/ppt/slides/charts/chart4.xml" Id="R76ed0101e9804045"/><Relationship Type="http://schemas.openxmlformats.org/officeDocument/2006/relationships/notesSlide" Target="/ppt/notesSlides/notesSlide13.xml" Id="R8ea0964f50ea42d1"/><Relationship Id="rIdNav4" Type="http://schemas.openxmlformats.org/officeDocument/2006/relationships/slide" Target="slide2.xml"/><Relationship Id="rIdNav5" Type="http://schemas.openxmlformats.org/officeDocument/2006/relationships/slide" Target="slide12.xml"/><Relationship Id="rIdNav6" Type="http://schemas.openxmlformats.org/officeDocument/2006/relationships/slide" Target="slide14.xml"/></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a81ae90d645c4a19"/><Relationship Type="http://schemas.openxmlformats.org/officeDocument/2006/relationships/notesSlide" Target="/ppt/notesSlides/notesSlide14.xml" Id="R298aab699d85492f"/><Relationship Id="rIdNav3" Type="http://schemas.openxmlformats.org/officeDocument/2006/relationships/slide" Target="slide2.xml"/><Relationship Id="rIdNav4" Type="http://schemas.openxmlformats.org/officeDocument/2006/relationships/slide" Target="slide13.xml"/><Relationship Id="rIdNav5" Type="http://schemas.openxmlformats.org/officeDocument/2006/relationships/slide" Target="slide15.xml"/></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1dd160bfffe04d3c"/><Relationship Type="http://schemas.openxmlformats.org/officeDocument/2006/relationships/notesSlide" Target="/ppt/notesSlides/notesSlide15.xml" Id="Rdfbd1ed2887c4dbb"/><Relationship Id="rIdNav3" Type="http://schemas.openxmlformats.org/officeDocument/2006/relationships/slide" Target="slide2.xml"/><Relationship Id="rIdNav4" Type="http://schemas.openxmlformats.org/officeDocument/2006/relationships/slide" Target="slide14.xml"/><Relationship Id="rIdNav5" Type="http://schemas.openxmlformats.org/officeDocument/2006/relationships/slide" Target="slide16.xml"/></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2affebdba5f74008"/><Relationship Type="http://schemas.openxmlformats.org/officeDocument/2006/relationships/notesSlide" Target="/ppt/notesSlides/notesSlide16.xml" Id="Rf4cd645defc64c6e"/><Relationship Id="rIdNav3" Type="http://schemas.openxmlformats.org/officeDocument/2006/relationships/slide" Target="slide18.xml"/><Relationship Id="rIdNav4" Type="http://schemas.openxmlformats.org/officeDocument/2006/relationships/slide" Target="slide19.xml"/><Relationship Id="rIdNav5" Type="http://schemas.openxmlformats.org/officeDocument/2006/relationships/slide" Target="slide20.xml"/><Relationship Id="rIdNav6" Type="http://schemas.openxmlformats.org/officeDocument/2006/relationships/slide" Target="slide17.xml"/><Relationship Id="rIdNav7" Type="http://schemas.openxmlformats.org/officeDocument/2006/relationships/slide" Target="slide2.xml"/><Relationship Id="rIdNav8" Type="http://schemas.openxmlformats.org/officeDocument/2006/relationships/slide" Target="slide15.xml"/><Relationship Id="rIdNav9" Type="http://schemas.openxmlformats.org/officeDocument/2006/relationships/slide" Target="slide17.xml"/></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f84e10fcf8ea4caa"/><Relationship Type="http://schemas.openxmlformats.org/officeDocument/2006/relationships/notesSlide" Target="/ppt/notesSlides/notesSlide17.xml" Id="R054dd0f305e443c5"/><Relationship Id="rIdNav3" Type="http://schemas.openxmlformats.org/officeDocument/2006/relationships/slide" Target="slide2.xml"/><Relationship Id="rIdNav4" Type="http://schemas.openxmlformats.org/officeDocument/2006/relationships/slide" Target="slide16.xml"/><Relationship Id="rIdNav5" Type="http://schemas.openxmlformats.org/officeDocument/2006/relationships/slide" Target="slide2.xml"/></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81dbaf148fbd41f7"/><Relationship Type="http://schemas.openxmlformats.org/officeDocument/2006/relationships/notesSlide" Target="/ppt/notesSlides/notesSlide18.xml" Id="Rc1f74004991d4ba4"/><Relationship Id="rIdNav3" Type="http://schemas.openxmlformats.org/officeDocument/2006/relationships/slide" Target="slide16.xml"/><Relationship Id="rIdNav4" Type="http://schemas.openxmlformats.org/officeDocument/2006/relationships/slide" Target="slide6.xml"/><Relationship Id="rIdNav5" Type="http://schemas.openxmlformats.org/officeDocument/2006/relationships/slide" Target="slide2.xml"/><Relationship Id="rIdNav6" Type="http://schemas.openxmlformats.org/officeDocument/2006/relationships/slide" Target="slide16.xml"/><Relationship Id="rIdNav7" Type="http://schemas.openxmlformats.org/officeDocument/2006/relationships/slide" Target="slide16.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38369702530b44da"/><Relationship Type="http://schemas.openxmlformats.org/officeDocument/2006/relationships/notesSlide" Target="/ppt/notesSlides/notesSlide19.xml" Id="R1a03c73ed319413d"/><Relationship Id="rIdNav3" Type="http://schemas.openxmlformats.org/officeDocument/2006/relationships/slide" Target="slide16.xml"/><Relationship Id="rIdNav4" Type="http://schemas.openxmlformats.org/officeDocument/2006/relationships/slide" Target="slide9.xml"/><Relationship Id="rIdNav5" Type="http://schemas.openxmlformats.org/officeDocument/2006/relationships/slide" Target="slide2.xml"/><Relationship Id="rIdNav6" Type="http://schemas.openxmlformats.org/officeDocument/2006/relationships/slide" Target="slide16.xml"/><Relationship Id="rIdNav7" Type="http://schemas.openxmlformats.org/officeDocument/2006/relationships/slide" Target="slide16.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2843c91dcf324af6"/><Relationship Type="http://schemas.openxmlformats.org/officeDocument/2006/relationships/notesSlide" Target="/ppt/notesSlides/notesSlide20.xml" Id="R75c8d23152b949df"/><Relationship Id="rIdNav3" Type="http://schemas.openxmlformats.org/officeDocument/2006/relationships/slide" Target="slide16.xml"/><Relationship Id="rIdNav4" Type="http://schemas.openxmlformats.org/officeDocument/2006/relationships/slide" Target="slide11.xml"/><Relationship Id="rIdNav5" Type="http://schemas.openxmlformats.org/officeDocument/2006/relationships/slide" Target="slide2.xml"/><Relationship Id="rIdNav6" Type="http://schemas.openxmlformats.org/officeDocument/2006/relationships/slide" Target="slide16.xml"/><Relationship Id="rIdNav7" Type="http://schemas.openxmlformats.org/officeDocument/2006/relationships/slide" Target="slide16.xml"/></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42C40"/>
                </a:solidFill>
                <a:latin typeface="Arial"/>
                <a:ea typeface="Arial"/>
                <a:cs typeface="Arial"/>
              </a:rPr>
              <a:t>Path length in moves</a:t>
            </a:r>
          </a:p>
        </c:rich>
      </c:tx>
      <c:overlay val="0"/>
      <c:txPr>
        <a:bodyPr xmlns:a="http://schemas.openxmlformats.org/drawingml/2006/main" anchorCtr="1"/>
        <a:lstStyle xmlns:a="http://schemas.openxmlformats.org/drawingml/2006/main"/>
        <a:p xmlns:a="http://schemas.openxmlformats.org/drawingml/2006/main">
          <a:pPr>
            <a:defRPr sz="1800">
              <a:solidFill>
                <a:srgbClr val="142C40"/>
              </a:solidFill>
              <a:latin typeface="Arial"/>
              <a:ea typeface="Arial"/>
              <a:cs typeface="Arial"/>
            </a:defRPr>
          </a:pPr>
        </a:p>
      </c:txPr>
    </c:title>
    <c:plotArea>
      <c:barChart>
        <c:barDir val="col"/>
        <c:grouping val="clustered"/>
        <c:varyColors val="0"/>
        <c:ser>
          <c:idx val="0"/>
          <c:order val="0"/>
          <c:tx>
            <c:v>DFS</c:v>
          </c:tx>
          <c:spPr>
            <a:solidFill xmlns:a="http://schemas.openxmlformats.org/drawingml/2006/main">
              <a:srgbClr val="536D83"/>
            </a:solidFill>
          </c:spPr>
          <c:cat>
            <c:strRef>
              <c:f>'Chart Data'!$A$2:$A$3</c:f>
              <c:strCache>
                <c:ptCount val="2"/>
                <c:pt idx="0">
                  <c:v>mediumMaze</c:v>
                </c:pt>
                <c:pt idx="1">
                  <c:v>openMaze</c:v>
                </c:pt>
              </c:strCache>
            </c:strRef>
          </c:cat>
          <c:val>
            <c:numRef>
              <c:f>'Chart Data'!$B$2:$B$3</c:f>
              <c:numCache>
                <c:formatCode>#,##0</c:formatCode>
                <c:ptCount val="2"/>
                <c:pt idx="0">
                  <c:v>130</c:v>
                </c:pt>
                <c:pt idx="1">
                  <c:v>298</c:v>
                </c:pt>
              </c:numCache>
            </c:numRef>
          </c:val>
        </c:ser>
        <c:ser>
          <c:idx val="1"/>
          <c:order val="1"/>
          <c:tx>
            <c:v>BFS</c:v>
          </c:tx>
          <c:spPr>
            <a:solidFill xmlns:a="http://schemas.openxmlformats.org/drawingml/2006/main">
              <a:srgbClr val="087F7B"/>
            </a:solidFill>
          </c:spPr>
          <c:cat>
            <c:strRef>
              <c:f>'Chart Data'!$C$2:$C$3</c:f>
              <c:strCache>
                <c:ptCount val="2"/>
                <c:pt idx="0">
                  <c:v>mediumMaze</c:v>
                </c:pt>
                <c:pt idx="1">
                  <c:v>openMaze</c:v>
                </c:pt>
              </c:strCache>
            </c:strRef>
          </c:cat>
          <c:val>
            <c:numRef>
              <c:f>'Chart Data'!$D$2:$D$3</c:f>
              <c:numCache>
                <c:formatCode>#,##0</c:formatCode>
                <c:ptCount val="2"/>
                <c:pt idx="0">
                  <c:v>68</c:v>
                </c:pt>
                <c:pt idx="1">
                  <c:v>54</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C40"/>
                  </a:solidFill>
                  <a:latin typeface="Arial"/>
                  <a:ea typeface="Arial"/>
                  <a:cs typeface="Arial"/>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8D2"/>
            </a:solidFill>
          </a:ln>
        </c:spPr>
        <c:txPr>
          <a:bodyPr xmlns:a="http://schemas.openxmlformats.org/drawingml/2006/main" anchorCtr="1"/>
          <a:lstStyle xmlns:a="http://schemas.openxmlformats.org/drawingml/2006/main"/>
          <a:p xmlns:a="http://schemas.openxmlformats.org/drawingml/2006/main">
            <a:pPr>
              <a:defRPr sz="1650">
                <a:solidFill>
                  <a:srgbClr val="142C40"/>
                </a:solidFill>
                <a:latin typeface="Arial"/>
                <a:ea typeface="Arial"/>
                <a:cs typeface="Arial"/>
              </a:defRPr>
            </a:pPr>
          </a:p>
        </c:txPr>
        <c:crossAx val="48672768"/>
      </c:catAx>
      <c:valAx>
        <c:axId val="48672768"/>
        <c:scaling>
          <c:orientation val="minMax"/>
          <c:max val="340"/>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66979"/>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42C4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42C40"/>
                </a:solidFill>
                <a:latin typeface="Arial"/>
                <a:ea typeface="Arial"/>
                <a:cs typeface="Arial"/>
              </a:rPr>
              <a:t>bigMaze expansions</a:t>
            </a:r>
          </a:p>
        </c:rich>
      </c:tx>
      <c:overlay val="0"/>
      <c:txPr>
        <a:bodyPr xmlns:a="http://schemas.openxmlformats.org/drawingml/2006/main" anchorCtr="1"/>
        <a:lstStyle xmlns:a="http://schemas.openxmlformats.org/drawingml/2006/main"/>
        <a:p xmlns:a="http://schemas.openxmlformats.org/drawingml/2006/main">
          <a:pPr>
            <a:defRPr sz="1800">
              <a:solidFill>
                <a:srgbClr val="142C40"/>
              </a:solidFill>
              <a:latin typeface="Arial"/>
              <a:ea typeface="Arial"/>
              <a:cs typeface="Arial"/>
            </a:defRPr>
          </a:pPr>
        </a:p>
      </c:txPr>
    </c:title>
    <c:plotArea>
      <c:barChart>
        <c:barDir val="col"/>
        <c:grouping val="clustered"/>
        <c:varyColors val="0"/>
        <c:ser>
          <c:idx val="0"/>
          <c:order val="0"/>
          <c:tx>
            <c:v>Expanded states</c:v>
          </c:tx>
          <c:spPr>
            <a:solidFill xmlns:a="http://schemas.openxmlformats.org/drawingml/2006/main">
              <a:srgbClr val="087F7B"/>
            </a:solidFill>
          </c:spPr>
          <c:cat>
            <c:strRef>
              <c:f>'Chart Data'!$A$2:$A$3</c:f>
              <c:strCache>
                <c:ptCount val="2"/>
                <c:pt idx="0">
                  <c:v>UCS</c:v>
                </c:pt>
                <c:pt idx="1">
                  <c:v>A*</c:v>
                </c:pt>
              </c:strCache>
            </c:strRef>
          </c:cat>
          <c:val>
            <c:numRef>
              <c:f>'Chart Data'!$B$2:$B$3</c:f>
              <c:numCache>
                <c:formatCode>#,##0</c:formatCode>
                <c:ptCount val="2"/>
                <c:pt idx="0">
                  <c:v>620</c:v>
                </c:pt>
                <c:pt idx="1">
                  <c:v>549</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C40"/>
                  </a:solidFill>
                  <a:latin typeface="Arial"/>
                  <a:ea typeface="Arial"/>
                  <a:cs typeface="Arial"/>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8D2"/>
            </a:solidFill>
          </a:ln>
        </c:spPr>
        <c:txPr>
          <a:bodyPr xmlns:a="http://schemas.openxmlformats.org/drawingml/2006/main" anchorCtr="1"/>
          <a:lstStyle xmlns:a="http://schemas.openxmlformats.org/drawingml/2006/main"/>
          <a:p xmlns:a="http://schemas.openxmlformats.org/drawingml/2006/main">
            <a:pPr>
              <a:defRPr sz="1650">
                <a:solidFill>
                  <a:srgbClr val="142C40"/>
                </a:solidFill>
                <a:latin typeface="Arial"/>
                <a:ea typeface="Arial"/>
                <a:cs typeface="Arial"/>
              </a:defRPr>
            </a:pPr>
          </a:p>
        </c:txPr>
        <c:crossAx val="48672768"/>
      </c:catAx>
      <c:valAx>
        <c:axId val="48672768"/>
        <c:scaling>
          <c:orientation val="minMax"/>
          <c:max val="720"/>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66979"/>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42C40"/>
                </a:solidFill>
                <a:latin typeface="Arial"/>
                <a:ea typeface="Arial"/>
                <a:cs typeface="Arial"/>
              </a:rPr>
              <a:t>mediumCorners expansions</a:t>
            </a:r>
          </a:p>
        </c:rich>
      </c:tx>
      <c:overlay val="0"/>
      <c:txPr>
        <a:bodyPr xmlns:a="http://schemas.openxmlformats.org/drawingml/2006/main" anchorCtr="1"/>
        <a:lstStyle xmlns:a="http://schemas.openxmlformats.org/drawingml/2006/main"/>
        <a:p xmlns:a="http://schemas.openxmlformats.org/drawingml/2006/main">
          <a:pPr>
            <a:defRPr sz="1800">
              <a:solidFill>
                <a:srgbClr val="142C40"/>
              </a:solidFill>
              <a:latin typeface="Arial"/>
              <a:ea typeface="Arial"/>
              <a:cs typeface="Arial"/>
            </a:defRPr>
          </a:pPr>
        </a:p>
      </c:txPr>
    </c:title>
    <c:plotArea>
      <c:barChart>
        <c:barDir val="col"/>
        <c:grouping val="clustered"/>
        <c:varyColors val="0"/>
        <c:ser>
          <c:idx val="0"/>
          <c:order val="0"/>
          <c:tx>
            <c:v>Expanded states</c:v>
          </c:tx>
          <c:spPr>
            <a:solidFill xmlns:a="http://schemas.openxmlformats.org/drawingml/2006/main">
              <a:srgbClr val="087F7B"/>
            </a:solidFill>
          </c:spPr>
          <c:cat>
            <c:strRef>
              <c:f>'Chart Data'!$A$2:$A$3</c:f>
              <c:strCache>
                <c:ptCount val="2"/>
                <c:pt idx="0">
                  <c:v>BFS</c:v>
                </c:pt>
                <c:pt idx="1">
                  <c:v>A*</c:v>
                </c:pt>
              </c:strCache>
            </c:strRef>
          </c:cat>
          <c:val>
            <c:numRef>
              <c:f>'Chart Data'!$B$2:$B$3</c:f>
              <c:numCache>
                <c:formatCode>#,##0</c:formatCode>
                <c:ptCount val="2"/>
                <c:pt idx="0">
                  <c:v>1966</c:v>
                </c:pt>
                <c:pt idx="1">
                  <c:v>741</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C40"/>
                  </a:solidFill>
                  <a:latin typeface="Arial"/>
                  <a:ea typeface="Arial"/>
                  <a:cs typeface="Arial"/>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8D2"/>
            </a:solidFill>
          </a:ln>
        </c:spPr>
        <c:txPr>
          <a:bodyPr xmlns:a="http://schemas.openxmlformats.org/drawingml/2006/main" anchorCtr="1"/>
          <a:lstStyle xmlns:a="http://schemas.openxmlformats.org/drawingml/2006/main"/>
          <a:p xmlns:a="http://schemas.openxmlformats.org/drawingml/2006/main">
            <a:pPr>
              <a:defRPr sz="1650">
                <a:solidFill>
                  <a:srgbClr val="142C40"/>
                </a:solidFill>
                <a:latin typeface="Arial"/>
                <a:ea typeface="Arial"/>
                <a:cs typeface="Arial"/>
              </a:defRPr>
            </a:pPr>
          </a:p>
        </c:txPr>
        <c:crossAx val="48672768"/>
      </c:catAx>
      <c:valAx>
        <c:axId val="48672768"/>
        <c:scaling>
          <c:orientation val="minMax"/>
          <c:max val="2300"/>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66979"/>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42C40"/>
                </a:solidFill>
                <a:latin typeface="Arial"/>
                <a:ea typeface="Arial"/>
                <a:cs typeface="Arial"/>
              </a:rPr>
              <a:t>Expanded states</a:t>
            </a:r>
          </a:p>
        </c:rich>
      </c:tx>
      <c:overlay val="0"/>
      <c:txPr>
        <a:bodyPr xmlns:a="http://schemas.openxmlformats.org/drawingml/2006/main" anchorCtr="1"/>
        <a:lstStyle xmlns:a="http://schemas.openxmlformats.org/drawingml/2006/main"/>
        <a:p xmlns:a="http://schemas.openxmlformats.org/drawingml/2006/main">
          <a:pPr>
            <a:defRPr sz="1800">
              <a:solidFill>
                <a:srgbClr val="142C40"/>
              </a:solidFill>
              <a:latin typeface="Arial"/>
              <a:ea typeface="Arial"/>
              <a:cs typeface="Arial"/>
            </a:defRPr>
          </a:pPr>
        </a:p>
      </c:txPr>
    </c:title>
    <c:plotArea>
      <c:barChart>
        <c:barDir val="col"/>
        <c:grouping val="clustered"/>
        <c:varyColors val="0"/>
        <c:ser>
          <c:idx val="0"/>
          <c:order val="0"/>
          <c:tx>
            <c:v>Expanded states</c:v>
          </c:tx>
          <c:spPr>
            <a:solidFill xmlns:a="http://schemas.openxmlformats.org/drawingml/2006/main">
              <a:srgbClr val="087F7B"/>
            </a:solidFill>
          </c:spPr>
          <c:cat>
            <c:strRef>
              <c:f>'Chart Data'!$A$2:$A$3</c:f>
              <c:strCache>
                <c:ptCount val="2"/>
                <c:pt idx="0">
                  <c:v>UCS</c:v>
                </c:pt>
                <c:pt idx="1">
                  <c:v>A*</c:v>
                </c:pt>
              </c:strCache>
            </c:strRef>
          </c:cat>
          <c:val>
            <c:numRef>
              <c:f>'Chart Data'!$B$2:$B$3</c:f>
              <c:numCache>
                <c:formatCode>#,##0</c:formatCode>
                <c:ptCount val="2"/>
                <c:pt idx="0">
                  <c:v>16688</c:v>
                </c:pt>
                <c:pt idx="1">
                  <c:v>255</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42C40"/>
                  </a:solidFill>
                  <a:latin typeface="Arial"/>
                  <a:ea typeface="Arial"/>
                  <a:cs typeface="Arial"/>
                </a:defRPr>
              </a:pPr>
            </a:p>
          </c:txPr>
          <c:dLblPos val="outEnd"/>
          <c:showLegendKey val="0"/>
          <c:showVal val="1"/>
          <c:showCatName val="0"/>
          <c:showSerName val="0"/>
          <c:showPercent val="0"/>
          <c:showBubbleSize val="0"/>
          <c:showLeaderLines val="0"/>
        </c:dLbls>
        <c:gapWidth val="9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8D2"/>
            </a:solidFill>
          </a:ln>
        </c:spPr>
        <c:txPr>
          <a:bodyPr xmlns:a="http://schemas.openxmlformats.org/drawingml/2006/main" anchorCtr="1"/>
          <a:lstStyle xmlns:a="http://schemas.openxmlformats.org/drawingml/2006/main"/>
          <a:p xmlns:a="http://schemas.openxmlformats.org/drawingml/2006/main">
            <a:pPr>
              <a:defRPr sz="1650">
                <a:solidFill>
                  <a:srgbClr val="142C40"/>
                </a:solidFill>
                <a:latin typeface="Arial"/>
                <a:ea typeface="Arial"/>
                <a:cs typeface="Arial"/>
              </a:defRPr>
            </a:pPr>
          </a:p>
        </c:txPr>
        <c:crossAx val="48672768"/>
      </c:catAx>
      <c:valAx>
        <c:axId val="48672768"/>
        <c:scaling>
          <c:orientation val="minMax"/>
          <c:max val="19000"/>
          <c:min val="0"/>
        </c:scaling>
        <c:delete val="0"/>
        <c:axPos val="l"/>
        <c:majorGridlines>
          <c:spPr>
            <a:ln xmlns:a="http://schemas.openxmlformats.org/drawingml/2006/main" w="9525">
              <a:solidFill>
                <a:srgbClr val="DCE5EB"/>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566979"/>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C40"/>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336c9fbedbc4d07"/>
          <a:stretch xmlns:a="http://schemas.openxmlformats.org/drawingml/2006/main"/>
        </p:blipFill>
        <p:spPr>
          <a:xfrm xmlns:a="http://schemas.openxmlformats.org/drawingml/2006/main">
            <a:off x="6191250" y="361950"/>
            <a:ext cx="5905500" cy="5905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7A9CF5-5426-4478-B55C-650D35D3986D}"/>
              </a:ext>
            </a:extLst>
          </p:cNvPr>
          <p:cNvSpPr>
            <a:spLocks xmlns:a="http://schemas.openxmlformats.org/drawingml/2006/main" noGrp="1"/>
          </p:cNvSpPr>
          <p:nvPr/>
        </p:nvSpPr>
        <p:spPr>
          <a:xfrm xmlns:a="http://schemas.openxmlformats.org/drawingml/2006/main">
            <a:off x="609600" y="1476375"/>
            <a:ext cx="5619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150" b="1">
                <a:solidFill>
                  <a:srgbClr val="FFD43B"/>
                </a:solidFill>
                <a:latin typeface="Arial"/>
                <a:ea typeface="Arial"/>
                <a:cs typeface="Arial"/>
              </a:defRPr>
            </a:pPr>
            <a:r>
              <a:rPr sz="6150" b="1">
                <a:solidFill>
                  <a:srgbClr val="FFD43B"/>
                </a:solidFill>
                <a:latin typeface="Arial"/>
                <a:ea typeface="Arial"/>
                <a:cs typeface="Arial"/>
              </a:rPr>
              <a:t>Pac-Man</a:t>
            </a:r>
          </a:p>
        </p:txBody>
      </p:sp>
      <p:sp>
        <p:nvSpPr>
          <p:cNvPr id="3" name="">
            <a:extLst xmlns:a="http://schemas.openxmlformats.org/drawingml/2006/main">
              <a:ext uri="{FF2B5EF4-FFF2-40B4-BE49-F238E27FC236}">
                <a16:creationId xmlns:a16="http://schemas.microsoft.com/office/drawing/2014/main" id="{0205FFEF-7215-48D2-A15B-81DC8B3FE013}"/>
              </a:ext>
            </a:extLst>
          </p:cNvPr>
          <p:cNvSpPr>
            <a:spLocks xmlns:a="http://schemas.openxmlformats.org/drawingml/2006/main" noGrp="1"/>
          </p:cNvSpPr>
          <p:nvPr/>
        </p:nvSpPr>
        <p:spPr>
          <a:xfrm xmlns:a="http://schemas.openxmlformats.org/drawingml/2006/main">
            <a:off x="628650" y="2619375"/>
            <a:ext cx="5619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Search algorithms</a:t>
            </a:r>
          </a:p>
          <a:p xmlns:a="http://schemas.openxmlformats.org/drawingml/2006/main">
            <a:pPr>
              <a:buNone/>
              <a:defRPr sz="3150" b="1">
                <a:solidFill>
                  <a:srgbClr val="FFFFFF"/>
                </a:solidFill>
                <a:latin typeface="Arial"/>
                <a:ea typeface="Arial"/>
                <a:cs typeface="Arial"/>
              </a:defRPr>
            </a:pPr>
            <a:r>
              <a:rPr sz="3150" b="1">
                <a:solidFill>
                  <a:srgbClr val="FFFFFF"/>
                </a:solidFill>
                <a:latin typeface="Arial"/>
                <a:ea typeface="Arial"/>
                <a:cs typeface="Arial"/>
              </a:rPr>
              <a:t>and informed planning</a:t>
            </a:r>
          </a:p>
        </p:txBody>
      </p:sp>
      <p:sp>
        <p:nvSpPr>
          <p:cNvPr id="4" name="">
            <a:extLst xmlns:a="http://schemas.openxmlformats.org/drawingml/2006/main">
              <a:ext uri="{FF2B5EF4-FFF2-40B4-BE49-F238E27FC236}">
                <a16:creationId xmlns:a16="http://schemas.microsoft.com/office/drawing/2014/main" id="{F2ADBDFD-FF01-4C2D-B69B-8FCF47E8CC8B}"/>
              </a:ext>
            </a:extLst>
          </p:cNvPr>
          <p:cNvSpPr>
            <a:spLocks xmlns:a="http://schemas.openxmlformats.org/drawingml/2006/main" noGrp="1"/>
          </p:cNvSpPr>
          <p:nvPr/>
        </p:nvSpPr>
        <p:spPr>
          <a:xfrm xmlns:a="http://schemas.openxmlformats.org/drawingml/2006/main">
            <a:off x="647700" y="42100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D0DBE4"/>
                </a:solidFill>
                <a:latin typeface="Arial"/>
                <a:ea typeface="Arial"/>
                <a:cs typeface="Arial"/>
              </a:defRPr>
            </a:pPr>
            <a:r>
              <a:rPr sz="1800" b="0">
                <a:solidFill>
                  <a:srgbClr val="D0DBE4"/>
                </a:solidFill>
                <a:latin typeface="Arial"/>
                <a:ea typeface="Arial"/>
                <a:cs typeface="Arial"/>
              </a:rPr>
              <a:t>CSE 537  Project 01   Fall 2026</a:t>
            </a:r>
          </a:p>
        </p:txBody>
      </p:sp>
      <p:sp>
        <p:nvSpPr>
          <p:cNvPr id="6" name="">
            <a:extLst xmlns:a="http://schemas.openxmlformats.org/drawingml/2006/main">
              <a:ext uri="{FF2B5EF4-FFF2-40B4-BE49-F238E27FC236}">
                <a16:creationId xmlns:a16="http://schemas.microsoft.com/office/drawing/2014/main" id="{261B8E6B-4D92-4D70-BEB5-276E7EDC1E3C}"/>
              </a:ext>
            </a:extLst>
          </p:cNvPr>
          <p:cNvSpPr>
            <a:spLocks xmlns:a="http://schemas.openxmlformats.org/drawingml/2006/main" noGrp="1"/>
          </p:cNvSpPr>
          <p:nvPr/>
        </p:nvSpPr>
        <p:spPr>
          <a:xfrm xmlns:a="http://schemas.openxmlformats.org/drawingml/2006/main">
            <a:off x="647700" y="4857750"/>
            <a:ext cx="5572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Maitreya Vaghulade   117437999</a:t>
            </a:r>
          </a:p>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Karan Jain                  117420953</a:t>
            </a:r>
          </a:p>
        </p:txBody>
      </p:sp>
      <p:sp>
        <p:nvSpPr>
          <p:cNvPr id="7" name="jump-1">
            <a:extLst xmlns:a="http://schemas.openxmlformats.org/drawingml/2006/main">
              <a:ext uri="{FF2B5EF4-FFF2-40B4-BE49-F238E27FC236}">
                <a16:creationId xmlns:a16="http://schemas.microsoft.com/office/drawing/2014/main" id="{AF4C0962-0E56-49B7-9CFD-97789BB92232}"/>
              </a:ext>
            </a:extLst>
            <ns0:hlinkClick xmlns:ns0="http://schemas.openxmlformats.org/drawingml/2006/main" xmlns:ns1="http://schemas.openxmlformats.org/officeDocument/2006/relationships" ns1:id="rIdNav4" action="ppaction://hlinksldjump" tooltip="Go to slide 2"/>
          </p:cNvPr>
          <p:cNvSpPr>
            <a:spLocks xmlns:a="http://schemas.openxmlformats.org/drawingml/2006/main" noGrp="1"/>
          </p:cNvSpPr>
          <p:nvPr/>
        </p:nvSpPr>
        <p:spPr>
          <a:xfrm xmlns:a="http://schemas.openxmlformats.org/drawingml/2006/main">
            <a:off x="647700" y="5981700"/>
            <a:ext cx="3286125" cy="552450"/>
          </a:xfrm>
          <a:prstGeom xmlns:a="http://schemas.openxmlformats.org/drawingml/2006/main" prst="rect">
            <a:avLst/>
          </a:prstGeom>
          <a:solidFill xmlns:a="http://schemas.openxmlformats.org/drawingml/2006/main">
            <a:srgbClr val="087F7B"/>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Start presentation</a:t>
            </a:r>
          </a:p>
        </p:txBody>
      </p:sp>
    </p:spTree>
    <p:extLst>
      <p:ext uri="{BB962C8B-B14F-4D97-AF65-F5344CB8AC3E}">
        <p14:creationId xmlns:p14="http://schemas.microsoft.com/office/powerpoint/2010/main" val="212495866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4669E19-24A4-443F-920B-1CD40D300459}"/>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Arial"/>
                <a:ea typeface="Arial"/>
                <a:cs typeface="Arial"/>
              </a:defRPr>
            </a:pPr>
            <a:r>
              <a:rPr sz="3300" b="1">
                <a:solidFill>
                  <a:srgbClr val="142C40"/>
                </a:solidFill>
                <a:latin typeface="Arial"/>
                <a:ea typeface="Arial"/>
                <a:cs typeface="Arial"/>
              </a:rPr>
              <a:t>Presentation menu</a:t>
            </a:r>
          </a:p>
        </p:txBody>
      </p:sp>
      <p:sp>
        <p:nvSpPr>
          <p:cNvPr id="2" name="">
            <a:extLst xmlns:a="http://schemas.openxmlformats.org/drawingml/2006/main">
              <a:ext uri="{FF2B5EF4-FFF2-40B4-BE49-F238E27FC236}">
                <a16:creationId xmlns:a16="http://schemas.microsoft.com/office/drawing/2014/main" id="{57098DD5-3A00-4253-9739-874D723BB5FA}"/>
              </a:ext>
            </a:extLst>
          </p:cNvPr>
          <p:cNvSpPr>
            <a:spLocks xmlns:a="http://schemas.openxmlformats.org/drawingml/2006/main" noGrp="1"/>
          </p:cNvSpPr>
          <p:nvPr/>
        </p:nvSpPr>
        <p:spPr>
          <a:xfrm xmlns:a="http://schemas.openxmlformats.org/drawingml/2006/main">
            <a:off x="628650" y="1190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979"/>
                </a:solidFill>
                <a:latin typeface="Arial"/>
                <a:ea typeface="Arial"/>
                <a:cs typeface="Arial"/>
              </a:defRPr>
            </a:pPr>
            <a:r>
              <a:rPr sz="1875" b="0">
                <a:solidFill>
                  <a:srgbClr val="566979"/>
                </a:solidFill>
                <a:latin typeface="Arial"/>
                <a:ea typeface="Arial"/>
                <a:cs typeface="Arial"/>
              </a:rPr>
              <a:t>Select a section, or follow the slides in order</a:t>
            </a:r>
          </a:p>
        </p:txBody>
      </p:sp>
      <p:sp>
        <p:nvSpPr>
          <p:cNvPr id="3" name="jump-2">
            <a:extLst xmlns:a="http://schemas.openxmlformats.org/drawingml/2006/main">
              <a:ext uri="{FF2B5EF4-FFF2-40B4-BE49-F238E27FC236}">
                <a16:creationId xmlns:a16="http://schemas.microsoft.com/office/drawing/2014/main" id="{3D8C6133-B213-4C3B-9C64-82D425B38708}"/>
              </a:ext>
            </a:extLst>
            <ns0:hlinkClick xmlns:ns0="http://schemas.openxmlformats.org/drawingml/2006/main" xmlns:ns1="http://schemas.openxmlformats.org/officeDocument/2006/relationships" ns1:id="rIdNav3" action="ppaction://hlinksldjump" tooltip="Go to slide 4"/>
          </p:cNvPr>
          <p:cNvSpPr>
            <a:spLocks xmlns:a="http://schemas.openxmlformats.org/drawingml/2006/main" noGrp="1"/>
          </p:cNvSpPr>
          <p:nvPr/>
        </p:nvSpPr>
        <p:spPr>
          <a:xfrm xmlns:a="http://schemas.openxmlformats.org/drawingml/2006/main">
            <a:off x="647700" y="1905000"/>
            <a:ext cx="5381625" cy="609600"/>
          </a:xfrm>
          <a:prstGeom xmlns:a="http://schemas.openxmlformats.org/drawingml/2006/main" prst="rect">
            <a:avLst/>
          </a:prstGeom>
          <a:solidFill xmlns:a="http://schemas.openxmlformats.org/drawingml/2006/main">
            <a:srgbClr val="087F7B"/>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Search algorithms</a:t>
            </a:r>
          </a:p>
        </p:txBody>
      </p:sp>
      <p:sp>
        <p:nvSpPr>
          <p:cNvPr id="4" name="jump-3">
            <a:extLst xmlns:a="http://schemas.openxmlformats.org/drawingml/2006/main">
              <a:ext uri="{FF2B5EF4-FFF2-40B4-BE49-F238E27FC236}">
                <a16:creationId xmlns:a16="http://schemas.microsoft.com/office/drawing/2014/main" id="{44D4832E-B485-4E76-BDF6-A4AC3966DF55}"/>
              </a:ext>
            </a:extLst>
            <ns2:hlinkClick xmlns:ns2="http://schemas.openxmlformats.org/drawingml/2006/main" xmlns:ns3="http://schemas.openxmlformats.org/officeDocument/2006/relationships" ns3:id="rIdNav4" action="ppaction://hlinksldjump" tooltip="Go to slide 9"/>
          </p:cNvPr>
          <p:cNvSpPr>
            <a:spLocks xmlns:a="http://schemas.openxmlformats.org/drawingml/2006/main" noGrp="1"/>
          </p:cNvSpPr>
          <p:nvPr/>
        </p:nvSpPr>
        <p:spPr>
          <a:xfrm xmlns:a="http://schemas.openxmlformats.org/drawingml/2006/main">
            <a:off x="647700" y="2686050"/>
            <a:ext cx="5381625" cy="6096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087F7B"/>
                </a:solidFill>
                <a:latin typeface="Arial"/>
                <a:ea typeface="Arial"/>
                <a:cs typeface="Arial"/>
              </a:defRPr>
            </a:pPr>
            <a:r>
              <a:rPr sz="2025" b="1">
                <a:solidFill>
                  <a:srgbClr val="087F7B"/>
                </a:solidFill>
                <a:latin typeface="Arial"/>
                <a:ea typeface="Arial"/>
                <a:cs typeface="Arial"/>
              </a:rPr>
              <a:t>Corners and visit history</a:t>
            </a:r>
          </a:p>
        </p:txBody>
      </p:sp>
      <p:sp>
        <p:nvSpPr>
          <p:cNvPr id="5" name="jump-4">
            <a:extLst xmlns:a="http://schemas.openxmlformats.org/drawingml/2006/main">
              <a:ext uri="{FF2B5EF4-FFF2-40B4-BE49-F238E27FC236}">
                <a16:creationId xmlns:a16="http://schemas.microsoft.com/office/drawing/2014/main" id="{24D08F3C-4DE6-4073-996F-165D3101EEA5}"/>
              </a:ext>
            </a:extLst>
            <ns4:hlinkClick xmlns:ns4="http://schemas.openxmlformats.org/drawingml/2006/main" xmlns:ns5="http://schemas.openxmlformats.org/officeDocument/2006/relationships" ns5:id="rIdNav5" action="ppaction://hlinksldjump" tooltip="Go to slide 11"/>
          </p:cNvPr>
          <p:cNvSpPr>
            <a:spLocks xmlns:a="http://schemas.openxmlformats.org/drawingml/2006/main" noGrp="1"/>
          </p:cNvSpPr>
          <p:nvPr/>
        </p:nvSpPr>
        <p:spPr>
          <a:xfrm xmlns:a="http://schemas.openxmlformats.org/drawingml/2006/main">
            <a:off x="647700" y="3467100"/>
            <a:ext cx="5381625" cy="6096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087F7B"/>
                </a:solidFill>
                <a:latin typeface="Arial"/>
                <a:ea typeface="Arial"/>
                <a:cs typeface="Arial"/>
              </a:defRPr>
            </a:pPr>
            <a:r>
              <a:rPr sz="2025" b="1">
                <a:solidFill>
                  <a:srgbClr val="087F7B"/>
                </a:solidFill>
                <a:latin typeface="Arial"/>
                <a:ea typeface="Arial"/>
                <a:cs typeface="Arial"/>
              </a:rPr>
              <a:t>Food search and results</a:t>
            </a:r>
          </a:p>
        </p:txBody>
      </p:sp>
      <p:sp>
        <p:nvSpPr>
          <p:cNvPr id="6" name="jump-5">
            <a:extLst xmlns:a="http://schemas.openxmlformats.org/drawingml/2006/main">
              <a:ext uri="{FF2B5EF4-FFF2-40B4-BE49-F238E27FC236}">
                <a16:creationId xmlns:a16="http://schemas.microsoft.com/office/drawing/2014/main" id="{2E6382A1-D40D-4EEC-97AC-56748E5AD657}"/>
              </a:ext>
            </a:extLst>
            <ns6:hlinkClick xmlns:ns6="http://schemas.openxmlformats.org/drawingml/2006/main" xmlns:ns7="http://schemas.openxmlformats.org/officeDocument/2006/relationships" ns7:id="rIdNav6" action="ppaction://hlinksldjump" tooltip="Go to slide 14"/>
          </p:cNvPr>
          <p:cNvSpPr>
            <a:spLocks xmlns:a="http://schemas.openxmlformats.org/drawingml/2006/main" noGrp="1"/>
          </p:cNvSpPr>
          <p:nvPr/>
        </p:nvSpPr>
        <p:spPr>
          <a:xfrm xmlns:a="http://schemas.openxmlformats.org/drawingml/2006/main">
            <a:off x="647700" y="4248150"/>
            <a:ext cx="5381625" cy="6096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087F7B"/>
                </a:solidFill>
                <a:latin typeface="Arial"/>
                <a:ea typeface="Arial"/>
                <a:cs typeface="Arial"/>
              </a:defRPr>
            </a:pPr>
            <a:r>
              <a:rPr sz="2025" b="1">
                <a:solidFill>
                  <a:srgbClr val="087F7B"/>
                </a:solidFill>
                <a:latin typeface="Arial"/>
                <a:ea typeface="Arial"/>
                <a:cs typeface="Arial"/>
              </a:rPr>
              <a:t>Evidence and performance</a:t>
            </a:r>
          </a:p>
        </p:txBody>
      </p:sp>
      <p:sp>
        <p:nvSpPr>
          <p:cNvPr id="7" name="jump-6">
            <a:extLst xmlns:a="http://schemas.openxmlformats.org/drawingml/2006/main">
              <a:ext uri="{FF2B5EF4-FFF2-40B4-BE49-F238E27FC236}">
                <a16:creationId xmlns:a16="http://schemas.microsoft.com/office/drawing/2014/main" id="{9BEC349D-0999-4C3C-AF6F-E90636C80287}"/>
              </a:ext>
            </a:extLst>
            <ns8:hlinkClick xmlns:ns8="http://schemas.openxmlformats.org/drawingml/2006/main" xmlns:ns9="http://schemas.openxmlformats.org/officeDocument/2006/relationships" ns9:id="rIdNav7" action="ppaction://hlinksldjump" tooltip="Go to slide 16"/>
          </p:cNvPr>
          <p:cNvSpPr>
            <a:spLocks xmlns:a="http://schemas.openxmlformats.org/drawingml/2006/main" noGrp="1"/>
          </p:cNvSpPr>
          <p:nvPr/>
        </p:nvSpPr>
        <p:spPr>
          <a:xfrm xmlns:a="http://schemas.openxmlformats.org/drawingml/2006/main">
            <a:off x="647700" y="5029200"/>
            <a:ext cx="5381625" cy="60960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087F7B"/>
                </a:solidFill>
                <a:latin typeface="Arial"/>
                <a:ea typeface="Arial"/>
                <a:cs typeface="Arial"/>
              </a:defRPr>
            </a:pPr>
            <a:r>
              <a:rPr sz="2025" b="1">
                <a:solidFill>
                  <a:srgbClr val="087F7B"/>
                </a:solidFill>
                <a:latin typeface="Arial"/>
                <a:ea typeface="Arial"/>
                <a:cs typeface="Arial"/>
              </a:rPr>
              <a:t>Live demonstrations</a:t>
            </a:r>
          </a:p>
        </p:txBody>
      </p:sp>
      <p:sp>
        <p:nvSpPr>
          <p:cNvPr id="8" name="">
            <a:extLst xmlns:a="http://schemas.openxmlformats.org/drawingml/2006/main">
              <a:ext uri="{FF2B5EF4-FFF2-40B4-BE49-F238E27FC236}">
                <a16:creationId xmlns:a16="http://schemas.microsoft.com/office/drawing/2014/main" id="{DC46D2A2-CAF0-4996-A006-27B011A56172}"/>
              </a:ext>
            </a:extLst>
          </p:cNvPr>
          <p:cNvSpPr>
            <a:spLocks xmlns:a="http://schemas.openxmlformats.org/drawingml/2006/main" noGrp="1"/>
          </p:cNvSpPr>
          <p:nvPr/>
        </p:nvSpPr>
        <p:spPr>
          <a:xfrm xmlns:a="http://schemas.openxmlformats.org/drawingml/2006/main">
            <a:off x="6838950" y="2171700"/>
            <a:ext cx="4619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87F7B"/>
                </a:solidFill>
                <a:latin typeface="Arial"/>
                <a:ea typeface="Arial"/>
                <a:cs typeface="Arial"/>
              </a:defRPr>
            </a:pPr>
            <a:r>
              <a:rPr sz="2625" b="1">
                <a:solidFill>
                  <a:srgbClr val="087F7B"/>
                </a:solidFill>
                <a:latin typeface="Arial"/>
                <a:ea typeface="Arial"/>
                <a:cs typeface="Arial"/>
              </a:rPr>
              <a:t>17 main slides</a:t>
            </a:r>
          </a:p>
        </p:txBody>
      </p:sp>
      <p:sp>
        <p:nvSpPr>
          <p:cNvPr id="9" name="">
            <a:extLst xmlns:a="http://schemas.openxmlformats.org/drawingml/2006/main">
              <a:ext uri="{FF2B5EF4-FFF2-40B4-BE49-F238E27FC236}">
                <a16:creationId xmlns:a16="http://schemas.microsoft.com/office/drawing/2014/main" id="{8A6A93FF-2237-4763-8F8B-F2D3E73712FD}"/>
              </a:ext>
            </a:extLst>
          </p:cNvPr>
          <p:cNvSpPr>
            <a:spLocks xmlns:a="http://schemas.openxmlformats.org/drawingml/2006/main" noGrp="1"/>
          </p:cNvSpPr>
          <p:nvPr/>
        </p:nvSpPr>
        <p:spPr>
          <a:xfrm xmlns:a="http://schemas.openxmlformats.org/drawingml/2006/main">
            <a:off x="6838950" y="3009900"/>
            <a:ext cx="4476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40"/>
                </a:solidFill>
                <a:latin typeface="Arial"/>
                <a:ea typeface="Arial"/>
                <a:cs typeface="Arial"/>
              </a:defRPr>
            </a:pPr>
            <a:r>
              <a:rPr sz="2175" b="0">
                <a:solidFill>
                  <a:srgbClr val="142C40"/>
                </a:solidFill>
                <a:latin typeface="Arial"/>
                <a:ea typeface="Arial"/>
                <a:cs typeface="Arial"/>
              </a:rPr>
              <a:t>Two prediction questions</a:t>
            </a:r>
          </a:p>
          <a:p xmlns:a="http://schemas.openxmlformats.org/drawingml/2006/main">
            <a:pPr>
              <a:defRPr sz="2175" b="0">
                <a:solidFill>
                  <a:srgbClr val="142C40"/>
                </a:solidFill>
                <a:latin typeface="Arial"/>
                <a:ea typeface="Arial"/>
                <a:cs typeface="Arial"/>
              </a:defRPr>
            </a:pPr>
            <a:r>
              <a:rPr sz="2175" b="0">
                <a:solidFill>
                  <a:srgbClr val="142C40"/>
                </a:solidFill>
                <a:latin typeface="Arial"/>
                <a:ea typeface="Arial"/>
                <a:cs typeface="Arial"/>
              </a:rPr>
              <a:t>Three optional demo pages</a:t>
            </a:r>
          </a:p>
        </p:txBody>
      </p:sp>
      <p:sp>
        <p:nvSpPr>
          <p:cNvPr id="10" name="">
            <a:extLst xmlns:a="http://schemas.openxmlformats.org/drawingml/2006/main">
              <a:ext uri="{FF2B5EF4-FFF2-40B4-BE49-F238E27FC236}">
                <a16:creationId xmlns:a16="http://schemas.microsoft.com/office/drawing/2014/main" id="{CB7CF37C-1EE4-40FE-9C1A-41ABF148D9BA}"/>
              </a:ext>
            </a:extLst>
          </p:cNvPr>
          <p:cNvSpPr>
            <a:spLocks xmlns:a="http://schemas.openxmlformats.org/drawingml/2006/main" noGrp="1"/>
          </p:cNvSpPr>
          <p:nvPr/>
        </p:nvSpPr>
        <p:spPr>
          <a:xfrm xmlns:a="http://schemas.openxmlformats.org/drawingml/2006/main">
            <a:off x="6838950" y="4533900"/>
            <a:ext cx="4572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979"/>
                </a:solidFill>
                <a:latin typeface="Arial"/>
                <a:ea typeface="Arial"/>
                <a:cs typeface="Arial"/>
              </a:defRPr>
            </a:pPr>
            <a:r>
              <a:rPr sz="1875" b="0">
                <a:solidFill>
                  <a:srgbClr val="566979"/>
                </a:solidFill>
                <a:latin typeface="Arial"/>
                <a:ea typeface="Arial"/>
                <a:cs typeface="Arial"/>
              </a:rPr>
              <a:t>Use the buttons in Slide Show.</a:t>
            </a:r>
          </a:p>
          <a:p xmlns:a="http://schemas.openxmlformats.org/drawingml/2006/main">
            <a:pPr>
              <a:defRPr sz="1875" b="0">
                <a:solidFill>
                  <a:srgbClr val="566979"/>
                </a:solidFill>
                <a:latin typeface="Arial"/>
                <a:ea typeface="Arial"/>
                <a:cs typeface="Arial"/>
              </a:defRPr>
            </a:pPr>
            <a:r>
              <a:rPr sz="1875" b="0">
                <a:solidFill>
                  <a:srgbClr val="566979"/>
                </a:solidFill>
                <a:latin typeface="Arial"/>
                <a:ea typeface="Arial"/>
                <a:cs typeface="Arial"/>
              </a:rPr>
              <a:t>Menu, Back and Next stay available.</a:t>
            </a:r>
          </a:p>
        </p:txBody>
      </p:sp>
      <p:sp>
        <p:nvSpPr>
          <p:cNvPr id="11" name="jump-7">
            <a:extLst xmlns:a="http://schemas.openxmlformats.org/drawingml/2006/main">
              <a:ext uri="{FF2B5EF4-FFF2-40B4-BE49-F238E27FC236}">
                <a16:creationId xmlns:a16="http://schemas.microsoft.com/office/drawing/2014/main" id="{3941E3B8-271F-407B-9DDC-5C2BF5F97152}"/>
              </a:ext>
            </a:extLst>
            <ns10:hlinkClick xmlns:ns10="http://schemas.openxmlformats.org/drawingml/2006/main" xmlns:ns11="http://schemas.openxmlformats.org/officeDocument/2006/relationships" ns11:id="rIdNav8" action="ppaction://hlinksldjump" tooltip="Go to slide 3"/>
          </p:cNvPr>
          <p:cNvSpPr>
            <a:spLocks xmlns:a="http://schemas.openxmlformats.org/drawingml/2006/main" noGrp="1"/>
          </p:cNvSpPr>
          <p:nvPr/>
        </p:nvSpPr>
        <p:spPr>
          <a:xfrm xmlns:a="http://schemas.openxmlformats.org/drawingml/2006/main">
            <a:off x="6838950" y="5638800"/>
            <a:ext cx="4572000" cy="552450"/>
          </a:xfrm>
          <a:prstGeom xmlns:a="http://schemas.openxmlformats.org/drawingml/2006/main" prst="rect">
            <a:avLst/>
          </a:prstGeom>
          <a:solidFill xmlns:a="http://schemas.openxmlformats.org/drawingml/2006/main">
            <a:srgbClr val="087F7B"/>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Begin with the problem</a:t>
            </a:r>
          </a:p>
        </p:txBody>
      </p:sp>
      <p:sp>
        <p:nvSpPr>
          <p:cNvPr id="12" name="jump-20">
            <a:extLst xmlns:a="http://schemas.openxmlformats.org/drawingml/2006/main">
              <a:ext uri="{FF2B5EF4-FFF2-40B4-BE49-F238E27FC236}">
                <a16:creationId xmlns:a16="http://schemas.microsoft.com/office/drawing/2014/main" id="{3086E48E-AECF-4168-A25C-58269273AC59}"/>
              </a:ext>
            </a:extLst>
            <ns12:hlinkClick xmlns:ns12="http://schemas.openxmlformats.org/drawingml/2006/main" xmlns:ns13="http://schemas.openxmlformats.org/officeDocument/2006/relationships" ns13:id="rIdNav9"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3" name="jump-21">
            <a:extLst xmlns:a="http://schemas.openxmlformats.org/drawingml/2006/main">
              <a:ext uri="{FF2B5EF4-FFF2-40B4-BE49-F238E27FC236}">
                <a16:creationId xmlns:a16="http://schemas.microsoft.com/office/drawing/2014/main" id="{9F0B40EF-6999-44E4-B7DB-7DA28A9018CF}"/>
              </a:ext>
            </a:extLst>
            <ns14:hlinkClick xmlns:ns14="http://schemas.openxmlformats.org/drawingml/2006/main" xmlns:ns15="http://schemas.openxmlformats.org/officeDocument/2006/relationships" ns15:id="rIdNav10" action="ppaction://hlinksldjump" tooltip="Go to slide 1"/>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4" name="jump-22">
            <a:extLst xmlns:a="http://schemas.openxmlformats.org/drawingml/2006/main">
              <a:ext uri="{FF2B5EF4-FFF2-40B4-BE49-F238E27FC236}">
                <a16:creationId xmlns:a16="http://schemas.microsoft.com/office/drawing/2014/main" id="{F51DA004-7E36-44D2-ABB8-10D77DF774C4}"/>
              </a:ext>
            </a:extLst>
            <ns16:hlinkClick xmlns:ns16="http://schemas.openxmlformats.org/drawingml/2006/main" xmlns:ns17="http://schemas.openxmlformats.org/officeDocument/2006/relationships" ns17:id="rIdNav11" action="ppaction://hlinksldjump" tooltip="Go to slide 3"/>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5" name="">
            <a:extLst xmlns:a="http://schemas.openxmlformats.org/drawingml/2006/main">
              <a:ext uri="{FF2B5EF4-FFF2-40B4-BE49-F238E27FC236}">
                <a16:creationId xmlns:a16="http://schemas.microsoft.com/office/drawing/2014/main" id="{8E14BA8D-6BBD-4E93-B9F7-632F2B70BD1F}"/>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02</a:t>
            </a:r>
          </a:p>
        </p:txBody>
      </p:sp>
    </p:spTree>
    <p:extLst>
      <p:ext uri="{BB962C8B-B14F-4D97-AF65-F5344CB8AC3E}">
        <p14:creationId xmlns:p14="http://schemas.microsoft.com/office/powerpoint/2010/main" val="13481029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92B326-FF59-4DEE-B8A6-0793D99D59EB}"/>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2C40"/>
                </a:solidFill>
                <a:latin typeface="Arial"/>
                <a:ea typeface="Arial"/>
                <a:cs typeface="Arial"/>
              </a:defRPr>
            </a:pPr>
            <a:r>
              <a:rPr sz="3300" b="1">
                <a:solidFill>
                  <a:srgbClr val="142C40"/>
                </a:solidFill>
                <a:latin typeface="Arial"/>
                <a:ea typeface="Arial"/>
                <a:cs typeface="Arial"/>
              </a:rPr>
              <a:t>Three search problems</a:t>
            </a:r>
          </a:p>
        </p:txBody>
      </p:sp>
      <p:sp>
        <p:nvSpPr>
          <p:cNvPr id="2" name="">
            <a:extLst xmlns:a="http://schemas.openxmlformats.org/drawingml/2006/main">
              <a:ext uri="{FF2B5EF4-FFF2-40B4-BE49-F238E27FC236}">
                <a16:creationId xmlns:a16="http://schemas.microsoft.com/office/drawing/2014/main" id="{C365C353-575F-4669-A7E3-303745068318}"/>
              </a:ext>
            </a:extLst>
          </p:cNvPr>
          <p:cNvSpPr>
            <a:spLocks xmlns:a="http://schemas.openxmlformats.org/drawingml/2006/main" noGrp="1"/>
          </p:cNvSpPr>
          <p:nvPr/>
        </p:nvSpPr>
        <p:spPr>
          <a:xfrm xmlns:a="http://schemas.openxmlformats.org/drawingml/2006/main">
            <a:off x="628650" y="1190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66979"/>
                </a:solidFill>
                <a:latin typeface="Arial"/>
                <a:ea typeface="Arial"/>
                <a:cs typeface="Arial"/>
              </a:defRPr>
            </a:pPr>
            <a:r>
              <a:rPr sz="1800" b="0">
                <a:solidFill>
                  <a:srgbClr val="566979"/>
                </a:solidFill>
                <a:latin typeface="Arial"/>
                <a:ea typeface="Arial"/>
                <a:cs typeface="Arial"/>
              </a:rPr>
              <a:t>Each algorithm returns a legal sequence of actions</a:t>
            </a:r>
          </a:p>
        </p:txBody>
      </p:sp>
      <p:graphicFrame>
        <p:nvGraphicFramePr>
          <p:cNvPr id="14" name=""/>
          <p:cNvGraphicFramePr/>
          <p:nvPr/>
        </p:nvGraphicFramePr>
        <p:xfrm>
          <a:off xmlns:a="http://schemas.openxmlformats.org/drawingml/2006/main" x="628650" y="2028825"/>
          <a:ext xmlns:a="http://schemas.openxmlformats.org/drawingml/2006/main" cx="10934700" cy="2571750"/>
        </p:xfrm>
        <a:graphic xmlns:a="http://schemas.openxmlformats.org/drawingml/2006/main">
          <a:graphicData uri="http://schemas.openxmlformats.org/drawingml/2006/table">
            <a:tbl>
              <a:tblPr firstRow="1" bandRow="0"/>
              <a:tblGrid>
                <a:gridCol w="2667000"/>
                <a:gridCol w="4333875"/>
                <a:gridCol w="3933825"/>
              </a:tblGrid>
              <a:tr h="642938">
                <a:tc>
                  <a:txBody>
                    <a:bodyPr/>
                    <a:lstStyle/>
                    <a:p>
                      <a:r>
                        <a:rPr sz="1950" b="1">
                          <a:solidFill>
                            <a:srgbClr val="FFFFFF"/>
                          </a:solidFill>
                          <a:latin typeface="Arial"/>
                          <a:ea typeface="Arial"/>
                          <a:cs typeface="Arial"/>
                        </a:rPr>
                        <a:t>Problem</a:t>
                      </a:r>
                    </a:p>
                  </a:txBody>
                  <a:tcPr marL="123825" marR="123825" marT="114300" marB="114300" anchor="ctr">
                    <a:solidFill>
                      <a:srgbClr val="142C40"/>
                    </a:solidFill>
                  </a:tcPr>
                </a:tc>
                <a:tc>
                  <a:txBody>
                    <a:bodyPr/>
                    <a:lstStyle/>
                    <a:p>
                      <a:r>
                        <a:rPr sz="1950" b="1">
                          <a:solidFill>
                            <a:srgbClr val="FFFFFF"/>
                          </a:solidFill>
                          <a:latin typeface="Arial"/>
                          <a:ea typeface="Arial"/>
                          <a:cs typeface="Arial"/>
                        </a:rPr>
                        <a:t>Search state</a:t>
                      </a:r>
                    </a:p>
                  </a:txBody>
                  <a:tcPr marL="123825" marR="123825" marT="114300" marB="114300" anchor="ctr">
                    <a:solidFill>
                      <a:srgbClr val="142C40"/>
                    </a:solidFill>
                  </a:tcPr>
                </a:tc>
                <a:tc>
                  <a:txBody>
                    <a:bodyPr/>
                    <a:lstStyle/>
                    <a:p>
                      <a:r>
                        <a:rPr sz="1950" b="1">
                          <a:solidFill>
                            <a:srgbClr val="FFFFFF"/>
                          </a:solidFill>
                          <a:latin typeface="Arial"/>
                          <a:ea typeface="Arial"/>
                          <a:cs typeface="Arial"/>
                        </a:rPr>
                        <a:t>Goal</a:t>
                      </a:r>
                    </a:p>
                  </a:txBody>
                  <a:tcPr marL="123825" marR="123825" marT="114300" marB="114300" anchor="ctr">
                    <a:solidFill>
                      <a:srgbClr val="142C40"/>
                    </a:solidFill>
                  </a:tcPr>
                </a:tc>
              </a:tr>
              <a:tr h="642938">
                <a:tc>
                  <a:txBody>
                    <a:bodyPr/>
                    <a:lstStyle/>
                    <a:p>
                      <a:r>
                        <a:rPr sz="2025" b="0">
                          <a:solidFill>
                            <a:srgbClr val="142C40"/>
                          </a:solidFill>
                          <a:latin typeface="Arial"/>
                          <a:ea typeface="Arial"/>
                          <a:cs typeface="Arial"/>
                        </a:rPr>
                        <a:t>One location</a:t>
                      </a:r>
                    </a:p>
                  </a:txBody>
                  <a:tcPr marL="123825" marR="123825" marT="114300" marB="114300" anchor="ctr">
                    <a:solidFill>
                      <a:srgbClr val="FFFFFF"/>
                    </a:solidFill>
                  </a:tcPr>
                </a:tc>
                <a:tc>
                  <a:txBody>
                    <a:bodyPr/>
                    <a:lstStyle/>
                    <a:p>
                      <a:r>
                        <a:rPr sz="2025" b="0">
                          <a:solidFill>
                            <a:srgbClr val="142C40"/>
                          </a:solidFill>
                          <a:latin typeface="Arial"/>
                          <a:ea typeface="Arial"/>
                          <a:cs typeface="Arial"/>
                        </a:rPr>
                        <a:t>Pac-Man position</a:t>
                      </a:r>
                    </a:p>
                  </a:txBody>
                  <a:tcPr marL="123825" marR="123825" marT="114300" marB="114300" anchor="ctr">
                    <a:solidFill>
                      <a:srgbClr val="FFFFFF"/>
                    </a:solidFill>
                  </a:tcPr>
                </a:tc>
                <a:tc>
                  <a:txBody>
                    <a:bodyPr/>
                    <a:lstStyle/>
                    <a:p>
                      <a:r>
                        <a:rPr sz="2025" b="0">
                          <a:solidFill>
                            <a:srgbClr val="142C40"/>
                          </a:solidFill>
                          <a:latin typeface="Arial"/>
                          <a:ea typeface="Arial"/>
                          <a:cs typeface="Arial"/>
                        </a:rPr>
                        <a:t>Reach a fixed target</a:t>
                      </a:r>
                    </a:p>
                  </a:txBody>
                  <a:tcPr marL="123825" marR="123825" marT="114300" marB="114300" anchor="ctr">
                    <a:solidFill>
                      <a:srgbClr val="FFFFFF"/>
                    </a:solidFill>
                  </a:tcPr>
                </a:tc>
              </a:tr>
              <a:tr h="642938">
                <a:tc>
                  <a:txBody>
                    <a:bodyPr/>
                    <a:lstStyle/>
                    <a:p>
                      <a:r>
                        <a:rPr sz="2025" b="0">
                          <a:solidFill>
                            <a:srgbClr val="142C40"/>
                          </a:solidFill>
                          <a:latin typeface="Arial"/>
                          <a:ea typeface="Arial"/>
                          <a:cs typeface="Arial"/>
                        </a:rPr>
                        <a:t>Four corners</a:t>
                      </a:r>
                    </a:p>
                  </a:txBody>
                  <a:tcPr marL="123825" marR="123825" marT="114300" marB="114300" anchor="ctr">
                    <a:solidFill>
                      <a:srgbClr val="EDF3F5"/>
                    </a:solidFill>
                  </a:tcPr>
                </a:tc>
                <a:tc>
                  <a:txBody>
                    <a:bodyPr/>
                    <a:lstStyle/>
                    <a:p>
                      <a:r>
                        <a:rPr sz="2025" b="0">
                          <a:solidFill>
                            <a:srgbClr val="142C40"/>
                          </a:solidFill>
                          <a:latin typeface="Arial"/>
                          <a:ea typeface="Arial"/>
                          <a:cs typeface="Arial"/>
                        </a:rPr>
                        <a:t>Position + visited corners</a:t>
                      </a:r>
                    </a:p>
                  </a:txBody>
                  <a:tcPr marL="123825" marR="123825" marT="114300" marB="114300" anchor="ctr">
                    <a:solidFill>
                      <a:srgbClr val="EDF3F5"/>
                    </a:solidFill>
                  </a:tcPr>
                </a:tc>
                <a:tc>
                  <a:txBody>
                    <a:bodyPr/>
                    <a:lstStyle/>
                    <a:p>
                      <a:r>
                        <a:rPr sz="2025" b="0">
                          <a:solidFill>
                            <a:srgbClr val="142C40"/>
                          </a:solidFill>
                          <a:latin typeface="Arial"/>
                          <a:ea typeface="Arial"/>
                          <a:cs typeface="Arial"/>
                        </a:rPr>
                        <a:t>Touch all four corners</a:t>
                      </a:r>
                    </a:p>
                  </a:txBody>
                  <a:tcPr marL="123825" marR="123825" marT="114300" marB="114300" anchor="ctr">
                    <a:solidFill>
                      <a:srgbClr val="EDF3F5"/>
                    </a:solidFill>
                  </a:tcPr>
                </a:tc>
              </a:tr>
              <a:tr h="642938">
                <a:tc>
                  <a:txBody>
                    <a:bodyPr/>
                    <a:lstStyle/>
                    <a:p>
                      <a:r>
                        <a:rPr sz="2025" b="0">
                          <a:solidFill>
                            <a:srgbClr val="142C40"/>
                          </a:solidFill>
                          <a:latin typeface="Arial"/>
                          <a:ea typeface="Arial"/>
                          <a:cs typeface="Arial"/>
                        </a:rPr>
                        <a:t>All food</a:t>
                      </a:r>
                    </a:p>
                  </a:txBody>
                  <a:tcPr marL="123825" marR="123825" marT="114300" marB="114300" anchor="ctr">
                    <a:solidFill>
                      <a:srgbClr val="FFFFFF"/>
                    </a:solidFill>
                  </a:tcPr>
                </a:tc>
                <a:tc>
                  <a:txBody>
                    <a:bodyPr/>
                    <a:lstStyle/>
                    <a:p>
                      <a:r>
                        <a:rPr sz="2025" b="0">
                          <a:solidFill>
                            <a:srgbClr val="142C40"/>
                          </a:solidFill>
                          <a:latin typeface="Arial"/>
                          <a:ea typeface="Arial"/>
                          <a:cs typeface="Arial"/>
                        </a:rPr>
                        <a:t>Position + remaining food</a:t>
                      </a:r>
                    </a:p>
                  </a:txBody>
                  <a:tcPr marL="123825" marR="123825" marT="114300" marB="114300" anchor="ctr">
                    <a:solidFill>
                      <a:srgbClr val="FFFFFF"/>
                    </a:solidFill>
                  </a:tcPr>
                </a:tc>
                <a:tc>
                  <a:txBody>
                    <a:bodyPr/>
                    <a:lstStyle/>
                    <a:p>
                      <a:r>
                        <a:rPr sz="2025" b="0">
                          <a:solidFill>
                            <a:srgbClr val="142C40"/>
                          </a:solidFill>
                          <a:latin typeface="Arial"/>
                          <a:ea typeface="Arial"/>
                          <a:cs typeface="Arial"/>
                        </a:rPr>
                        <a:t>Collect every food dot</a:t>
                      </a:r>
                    </a:p>
                  </a:txBody>
                  <a:tcPr marL="123825" marR="123825" marT="114300" marB="11430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C84E7CB-23D1-4EF2-8269-7355EE7B0F9B}"/>
              </a:ext>
            </a:extLst>
          </p:cNvPr>
          <p:cNvSpPr>
            <a:spLocks xmlns:a="http://schemas.openxmlformats.org/drawingml/2006/main" noGrp="1"/>
          </p:cNvSpPr>
          <p:nvPr/>
        </p:nvSpPr>
        <p:spPr>
          <a:xfrm xmlns:a="http://schemas.openxmlformats.org/drawingml/2006/main">
            <a:off x="647700" y="5143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7F7B"/>
                </a:solidFill>
                <a:latin typeface="Arial"/>
                <a:ea typeface="Arial"/>
                <a:cs typeface="Arial"/>
              </a:defRPr>
            </a:pPr>
            <a:r>
              <a:rPr sz="2175" b="1">
                <a:solidFill>
                  <a:srgbClr val="087F7B"/>
                </a:solidFill>
                <a:latin typeface="Arial"/>
                <a:ea typeface="Arial"/>
                <a:cs typeface="Arial"/>
              </a:rPr>
              <a:t>Q1–Q4 implement the algorithms. Q5–Q7 add richer states and heuristics.</a:t>
            </a:r>
          </a:p>
        </p:txBody>
      </p:sp>
      <p:sp>
        <p:nvSpPr>
          <p:cNvPr id="8" name="jump-23">
            <a:extLst xmlns:a="http://schemas.openxmlformats.org/drawingml/2006/main">
              <a:ext uri="{FF2B5EF4-FFF2-40B4-BE49-F238E27FC236}">
                <a16:creationId xmlns:a16="http://schemas.microsoft.com/office/drawing/2014/main" id="{A8897303-6412-4BB7-B401-94B097931714}"/>
              </a:ext>
            </a:extLst>
            <ns0:hlinkClick xmlns:ns0="http://schemas.openxmlformats.org/drawingml/2006/main" xmlns:ns1="http://schemas.openxmlformats.org/officeDocument/2006/relationships" ns1:id="rIdNav3"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9" name="jump-24">
            <a:extLst xmlns:a="http://schemas.openxmlformats.org/drawingml/2006/main">
              <a:ext uri="{FF2B5EF4-FFF2-40B4-BE49-F238E27FC236}">
                <a16:creationId xmlns:a16="http://schemas.microsoft.com/office/drawing/2014/main" id="{69DA9721-3E95-49E0-AF79-53CEB5622A2B}"/>
              </a:ext>
            </a:extLst>
            <ns2:hlinkClick xmlns:ns2="http://schemas.openxmlformats.org/drawingml/2006/main" xmlns:ns3="http://schemas.openxmlformats.org/officeDocument/2006/relationships" ns3:id="rIdNav4" action="ppaction://hlinksldjump" tooltip="Go to slide 2"/>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0" name="jump-25">
            <a:extLst xmlns:a="http://schemas.openxmlformats.org/drawingml/2006/main">
              <a:ext uri="{FF2B5EF4-FFF2-40B4-BE49-F238E27FC236}">
                <a16:creationId xmlns:a16="http://schemas.microsoft.com/office/drawing/2014/main" id="{40974C49-058C-4927-926A-236DE6495E49}"/>
              </a:ext>
            </a:extLst>
            <ns4:hlinkClick xmlns:ns4="http://schemas.openxmlformats.org/drawingml/2006/main" xmlns:ns5="http://schemas.openxmlformats.org/officeDocument/2006/relationships" ns5:id="rIdNav5" action="ppaction://hlinksldjump" tooltip="Go to slide 4"/>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1" name="">
            <a:extLst xmlns:a="http://schemas.openxmlformats.org/drawingml/2006/main">
              <a:ext uri="{FF2B5EF4-FFF2-40B4-BE49-F238E27FC236}">
                <a16:creationId xmlns:a16="http://schemas.microsoft.com/office/drawing/2014/main" id="{77CBAE2F-4215-4AAE-83BB-67D3859950FD}"/>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03</a:t>
            </a:r>
          </a:p>
        </p:txBody>
      </p:sp>
    </p:spTree>
    <p:extLst>
      <p:ext uri="{BB962C8B-B14F-4D97-AF65-F5344CB8AC3E}">
        <p14:creationId xmlns:p14="http://schemas.microsoft.com/office/powerpoint/2010/main" val="18011734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0398B1-A5C8-4B3B-88C5-F6F463835698}"/>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2C40"/>
                </a:solidFill>
                <a:latin typeface="Arial"/>
                <a:ea typeface="Arial"/>
                <a:cs typeface="Arial"/>
              </a:defRPr>
            </a:pPr>
            <a:r>
              <a:rPr sz="3300" b="1">
                <a:solidFill>
                  <a:srgbClr val="142C40"/>
                </a:solidFill>
                <a:latin typeface="Arial"/>
                <a:ea typeface="Arial"/>
                <a:cs typeface="Arial"/>
              </a:rPr>
              <a:t>Four ways to choose the next node</a:t>
            </a:r>
          </a:p>
        </p:txBody>
      </p:sp>
      <p:sp>
        <p:nvSpPr>
          <p:cNvPr id="2" name="">
            <a:extLst xmlns:a="http://schemas.openxmlformats.org/drawingml/2006/main">
              <a:ext uri="{FF2B5EF4-FFF2-40B4-BE49-F238E27FC236}">
                <a16:creationId xmlns:a16="http://schemas.microsoft.com/office/drawing/2014/main" id="{B47A094F-C79C-4115-A2DA-A7F4764D9380}"/>
              </a:ext>
            </a:extLst>
          </p:cNvPr>
          <p:cNvSpPr>
            <a:spLocks xmlns:a="http://schemas.openxmlformats.org/drawingml/2006/main" noGrp="1"/>
          </p:cNvSpPr>
          <p:nvPr/>
        </p:nvSpPr>
        <p:spPr>
          <a:xfrm xmlns:a="http://schemas.openxmlformats.org/drawingml/2006/main">
            <a:off x="628650" y="1190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66979"/>
                </a:solidFill>
                <a:latin typeface="Arial"/>
                <a:ea typeface="Arial"/>
                <a:cs typeface="Arial"/>
              </a:defRPr>
            </a:pPr>
            <a:r>
              <a:rPr sz="1800" b="0">
                <a:solidFill>
                  <a:srgbClr val="566979"/>
                </a:solidFill>
                <a:latin typeface="Arial"/>
                <a:ea typeface="Arial"/>
                <a:cs typeface="Arial"/>
              </a:rPr>
              <a:t>Frontier policy determines exploration order</a:t>
            </a:r>
          </a:p>
        </p:txBody>
      </p:sp>
      <p:graphicFrame>
        <p:nvGraphicFramePr>
          <p:cNvPr id="14" name=""/>
          <p:cNvGraphicFramePr/>
          <p:nvPr/>
        </p:nvGraphicFramePr>
        <p:xfrm>
          <a:off xmlns:a="http://schemas.openxmlformats.org/drawingml/2006/main" x="628650" y="1952625"/>
          <a:ext xmlns:a="http://schemas.openxmlformats.org/drawingml/2006/main" cx="10934700" cy="3219450"/>
        </p:xfrm>
        <a:graphic xmlns:a="http://schemas.openxmlformats.org/drawingml/2006/main">
          <a:graphicData uri="http://schemas.openxmlformats.org/drawingml/2006/table">
            <a:tbl>
              <a:tblPr firstRow="1" bandRow="0"/>
              <a:tblGrid>
                <a:gridCol w="1143000"/>
                <a:gridCol w="2667000"/>
                <a:gridCol w="3505200"/>
                <a:gridCol w="3619500"/>
              </a:tblGrid>
              <a:tr h="643890">
                <a:tc>
                  <a:txBody>
                    <a:bodyPr/>
                    <a:lstStyle/>
                    <a:p>
                      <a:r>
                        <a:rPr sz="1650" b="1">
                          <a:solidFill>
                            <a:srgbClr val="FFFFFF"/>
                          </a:solidFill>
                          <a:latin typeface="Arial"/>
                          <a:ea typeface="Arial"/>
                          <a:cs typeface="Arial"/>
                        </a:rPr>
                        <a:t>Search</a:t>
                      </a:r>
                    </a:p>
                  </a:txBody>
                  <a:tcPr marL="123825" marR="123825" marT="114300" marB="114300" anchor="ctr">
                    <a:solidFill>
                      <a:srgbClr val="142C40"/>
                    </a:solidFill>
                  </a:tcPr>
                </a:tc>
                <a:tc>
                  <a:txBody>
                    <a:bodyPr/>
                    <a:lstStyle/>
                    <a:p>
                      <a:r>
                        <a:rPr sz="1650" b="1">
                          <a:solidFill>
                            <a:srgbClr val="FFFFFF"/>
                          </a:solidFill>
                          <a:latin typeface="Arial"/>
                          <a:ea typeface="Arial"/>
                          <a:cs typeface="Arial"/>
                        </a:rPr>
                        <a:t>Frontier priority</a:t>
                      </a:r>
                    </a:p>
                  </a:txBody>
                  <a:tcPr marL="123825" marR="123825" marT="114300" marB="114300" anchor="ctr">
                    <a:solidFill>
                      <a:srgbClr val="142C40"/>
                    </a:solidFill>
                  </a:tcPr>
                </a:tc>
                <a:tc>
                  <a:txBody>
                    <a:bodyPr/>
                    <a:lstStyle/>
                    <a:p>
                      <a:r>
                        <a:rPr sz="1650" b="1">
                          <a:solidFill>
                            <a:srgbClr val="FFFFFF"/>
                          </a:solidFill>
                          <a:latin typeface="Arial"/>
                          <a:ea typeface="Arial"/>
                          <a:cs typeface="Arial"/>
                        </a:rPr>
                        <a:t>Duplicate handling</a:t>
                      </a:r>
                    </a:p>
                  </a:txBody>
                  <a:tcPr marL="123825" marR="123825" marT="114300" marB="114300" anchor="ctr">
                    <a:solidFill>
                      <a:srgbClr val="142C40"/>
                    </a:solidFill>
                  </a:tcPr>
                </a:tc>
                <a:tc>
                  <a:txBody>
                    <a:bodyPr/>
                    <a:lstStyle/>
                    <a:p>
                      <a:r>
                        <a:rPr sz="1650" b="1">
                          <a:solidFill>
                            <a:srgbClr val="FFFFFF"/>
                          </a:solidFill>
                          <a:latin typeface="Arial"/>
                          <a:ea typeface="Arial"/>
                          <a:cs typeface="Arial"/>
                        </a:rPr>
                        <a:t>Optimality</a:t>
                      </a:r>
                    </a:p>
                  </a:txBody>
                  <a:tcPr marL="123825" marR="123825" marT="114300" marB="114300" anchor="ctr">
                    <a:solidFill>
                      <a:srgbClr val="142C40"/>
                    </a:solidFill>
                  </a:tcPr>
                </a:tc>
              </a:tr>
              <a:tr h="643890">
                <a:tc>
                  <a:txBody>
                    <a:bodyPr/>
                    <a:lstStyle/>
                    <a:p>
                      <a:r>
                        <a:rPr sz="1725" b="0">
                          <a:solidFill>
                            <a:srgbClr val="142C40"/>
                          </a:solidFill>
                          <a:latin typeface="Arial"/>
                          <a:ea typeface="Arial"/>
                          <a:cs typeface="Arial"/>
                        </a:rPr>
                        <a:t>DFS</a:t>
                      </a:r>
                    </a:p>
                  </a:txBody>
                  <a:tcPr marL="123825" marR="123825" marT="114300" marB="114300" anchor="ctr">
                    <a:solidFill>
                      <a:srgbClr val="FFFFFF"/>
                    </a:solidFill>
                  </a:tcPr>
                </a:tc>
                <a:tc>
                  <a:txBody>
                    <a:bodyPr/>
                    <a:lstStyle/>
                    <a:p>
                      <a:r>
                        <a:rPr sz="1725" b="0">
                          <a:solidFill>
                            <a:srgbClr val="142C40"/>
                          </a:solidFill>
                          <a:latin typeface="Arial"/>
                          <a:ea typeface="Arial"/>
                          <a:cs typeface="Arial"/>
                        </a:rPr>
                        <a:t>Most recently added</a:t>
                      </a:r>
                    </a:p>
                  </a:txBody>
                  <a:tcPr marL="123825" marR="123825" marT="114300" marB="114300" anchor="ctr">
                    <a:solidFill>
                      <a:srgbClr val="FFFFFF"/>
                    </a:solidFill>
                  </a:tcPr>
                </a:tc>
                <a:tc>
                  <a:txBody>
                    <a:bodyPr/>
                    <a:lstStyle/>
                    <a:p>
                      <a:r>
                        <a:rPr sz="1725" b="0">
                          <a:solidFill>
                            <a:srgbClr val="142C40"/>
                          </a:solidFill>
                          <a:latin typeface="Arial"/>
                          <a:ea typeface="Arial"/>
                          <a:cs typeface="Arial"/>
                        </a:rPr>
                        <a:t>Mark on removal</a:t>
                      </a:r>
                    </a:p>
                  </a:txBody>
                  <a:tcPr marL="123825" marR="123825" marT="114300" marB="114300" anchor="ctr">
                    <a:solidFill>
                      <a:srgbClr val="FFFFFF"/>
                    </a:solidFill>
                  </a:tcPr>
                </a:tc>
                <a:tc>
                  <a:txBody>
                    <a:bodyPr/>
                    <a:lstStyle/>
                    <a:p>
                      <a:r>
                        <a:rPr sz="1725" b="0">
                          <a:solidFill>
                            <a:srgbClr val="142C40"/>
                          </a:solidFill>
                          <a:latin typeface="Arial"/>
                          <a:ea typeface="Arial"/>
                          <a:cs typeface="Arial"/>
                        </a:rPr>
                        <a:t>No general guarantee</a:t>
                      </a:r>
                    </a:p>
                  </a:txBody>
                  <a:tcPr marL="123825" marR="123825" marT="114300" marB="114300" anchor="ctr">
                    <a:solidFill>
                      <a:srgbClr val="FFFFFF"/>
                    </a:solidFill>
                  </a:tcPr>
                </a:tc>
              </a:tr>
              <a:tr h="643890">
                <a:tc>
                  <a:txBody>
                    <a:bodyPr/>
                    <a:lstStyle/>
                    <a:p>
                      <a:r>
                        <a:rPr sz="1725" b="0">
                          <a:solidFill>
                            <a:srgbClr val="142C40"/>
                          </a:solidFill>
                          <a:latin typeface="Arial"/>
                          <a:ea typeface="Arial"/>
                          <a:cs typeface="Arial"/>
                        </a:rPr>
                        <a:t>BFS</a:t>
                      </a:r>
                    </a:p>
                  </a:txBody>
                  <a:tcPr marL="123825" marR="123825" marT="114300" marB="114300" anchor="ctr">
                    <a:solidFill>
                      <a:srgbClr val="EDF3F5"/>
                    </a:solidFill>
                  </a:tcPr>
                </a:tc>
                <a:tc>
                  <a:txBody>
                    <a:bodyPr/>
                    <a:lstStyle/>
                    <a:p>
                      <a:r>
                        <a:rPr sz="1725" b="0">
                          <a:solidFill>
                            <a:srgbClr val="142C40"/>
                          </a:solidFill>
                          <a:latin typeface="Arial"/>
                          <a:ea typeface="Arial"/>
                          <a:cs typeface="Arial"/>
                        </a:rPr>
                        <a:t>Earliest added</a:t>
                      </a:r>
                    </a:p>
                  </a:txBody>
                  <a:tcPr marL="123825" marR="123825" marT="114300" marB="114300" anchor="ctr">
                    <a:solidFill>
                      <a:srgbClr val="EDF3F5"/>
                    </a:solidFill>
                  </a:tcPr>
                </a:tc>
                <a:tc>
                  <a:txBody>
                    <a:bodyPr/>
                    <a:lstStyle/>
                    <a:p>
                      <a:r>
                        <a:rPr sz="1725" b="0">
                          <a:solidFill>
                            <a:srgbClr val="142C40"/>
                          </a:solidFill>
                          <a:latin typeface="Arial"/>
                          <a:ea typeface="Arial"/>
                          <a:cs typeface="Arial"/>
                        </a:rPr>
                        <a:t>Mark on insertion</a:t>
                      </a:r>
                    </a:p>
                  </a:txBody>
                  <a:tcPr marL="123825" marR="123825" marT="114300" marB="114300" anchor="ctr">
                    <a:solidFill>
                      <a:srgbClr val="EDF3F5"/>
                    </a:solidFill>
                  </a:tcPr>
                </a:tc>
                <a:tc>
                  <a:txBody>
                    <a:bodyPr/>
                    <a:lstStyle/>
                    <a:p>
                      <a:r>
                        <a:rPr sz="1725" b="0">
                          <a:solidFill>
                            <a:srgbClr val="142C40"/>
                          </a:solidFill>
                          <a:latin typeface="Arial"/>
                          <a:ea typeface="Arial"/>
                          <a:cs typeface="Arial"/>
                        </a:rPr>
                        <a:t>Fewest actions</a:t>
                      </a:r>
                    </a:p>
                  </a:txBody>
                  <a:tcPr marL="123825" marR="123825" marT="114300" marB="114300" anchor="ctr">
                    <a:solidFill>
                      <a:srgbClr val="EDF3F5"/>
                    </a:solidFill>
                  </a:tcPr>
                </a:tc>
              </a:tr>
              <a:tr h="643890">
                <a:tc>
                  <a:txBody>
                    <a:bodyPr/>
                    <a:lstStyle/>
                    <a:p>
                      <a:r>
                        <a:rPr sz="1725" b="0">
                          <a:solidFill>
                            <a:srgbClr val="142C40"/>
                          </a:solidFill>
                          <a:latin typeface="Arial"/>
                          <a:ea typeface="Arial"/>
                          <a:cs typeface="Arial"/>
                        </a:rPr>
                        <a:t>UCS</a:t>
                      </a:r>
                    </a:p>
                  </a:txBody>
                  <a:tcPr marL="123825" marR="123825" marT="114300" marB="114300" anchor="ctr">
                    <a:solidFill>
                      <a:srgbClr val="FFFFFF"/>
                    </a:solidFill>
                  </a:tcPr>
                </a:tc>
                <a:tc>
                  <a:txBody>
                    <a:bodyPr/>
                    <a:lstStyle/>
                    <a:p>
                      <a:r>
                        <a:rPr sz="1725" b="0">
                          <a:solidFill>
                            <a:srgbClr val="142C40"/>
                          </a:solidFill>
                          <a:latin typeface="Arial"/>
                          <a:ea typeface="Arial"/>
                          <a:cs typeface="Arial"/>
                        </a:rPr>
                        <a:t>Lowest path cost g</a:t>
                      </a:r>
                    </a:p>
                  </a:txBody>
                  <a:tcPr marL="123825" marR="123825" marT="114300" marB="114300" anchor="ctr">
                    <a:solidFill>
                      <a:srgbClr val="FFFFFF"/>
                    </a:solidFill>
                  </a:tcPr>
                </a:tc>
                <a:tc>
                  <a:txBody>
                    <a:bodyPr/>
                    <a:lstStyle/>
                    <a:p>
                      <a:r>
                        <a:rPr sz="1725" b="0">
                          <a:solidFill>
                            <a:srgbClr val="142C40"/>
                          </a:solidFill>
                          <a:latin typeface="Arial"/>
                          <a:ea typeface="Arial"/>
                          <a:cs typeface="Arial"/>
                        </a:rPr>
                        <a:t>Keep best g</a:t>
                      </a:r>
                    </a:p>
                  </a:txBody>
                  <a:tcPr marL="123825" marR="123825" marT="114300" marB="114300" anchor="ctr">
                    <a:solidFill>
                      <a:srgbClr val="FFFFFF"/>
                    </a:solidFill>
                  </a:tcPr>
                </a:tc>
                <a:tc>
                  <a:txBody>
                    <a:bodyPr/>
                    <a:lstStyle/>
                    <a:p>
                      <a:r>
                        <a:rPr sz="1725" b="0">
                          <a:solidFill>
                            <a:srgbClr val="142C40"/>
                          </a:solidFill>
                          <a:latin typeface="Arial"/>
                          <a:ea typeface="Arial"/>
                          <a:cs typeface="Arial"/>
                        </a:rPr>
                        <a:t>Least cost</a:t>
                      </a:r>
                    </a:p>
                  </a:txBody>
                  <a:tcPr marL="123825" marR="123825" marT="114300" marB="114300" anchor="ctr">
                    <a:solidFill>
                      <a:srgbClr val="FFFFFF"/>
                    </a:solidFill>
                  </a:tcPr>
                </a:tc>
              </a:tr>
              <a:tr h="643890">
                <a:tc>
                  <a:txBody>
                    <a:bodyPr/>
                    <a:lstStyle/>
                    <a:p>
                      <a:r>
                        <a:rPr sz="1725" b="0">
                          <a:solidFill>
                            <a:srgbClr val="142C40"/>
                          </a:solidFill>
                          <a:latin typeface="Arial"/>
                          <a:ea typeface="Arial"/>
                          <a:cs typeface="Arial"/>
                        </a:rPr>
                        <a:t>A*</a:t>
                      </a:r>
                    </a:p>
                  </a:txBody>
                  <a:tcPr marL="123825" marR="123825" marT="114300" marB="114300" anchor="ctr">
                    <a:solidFill>
                      <a:srgbClr val="EDF3F5"/>
                    </a:solidFill>
                  </a:tcPr>
                </a:tc>
                <a:tc>
                  <a:txBody>
                    <a:bodyPr/>
                    <a:lstStyle/>
                    <a:p>
                      <a:r>
                        <a:rPr sz="1725" b="0">
                          <a:solidFill>
                            <a:srgbClr val="142C40"/>
                          </a:solidFill>
                          <a:latin typeface="Arial"/>
                          <a:ea typeface="Arial"/>
                          <a:cs typeface="Arial"/>
                        </a:rPr>
                        <a:t>Lowest g + h</a:t>
                      </a:r>
                    </a:p>
                  </a:txBody>
                  <a:tcPr marL="123825" marR="123825" marT="114300" marB="114300" anchor="ctr">
                    <a:solidFill>
                      <a:srgbClr val="EDF3F5"/>
                    </a:solidFill>
                  </a:tcPr>
                </a:tc>
                <a:tc>
                  <a:txBody>
                    <a:bodyPr/>
                    <a:lstStyle/>
                    <a:p>
                      <a:r>
                        <a:rPr sz="1725" b="0">
                          <a:solidFill>
                            <a:srgbClr val="142C40"/>
                          </a:solidFill>
                          <a:latin typeface="Arial"/>
                          <a:ea typeface="Arial"/>
                          <a:cs typeface="Arial"/>
                        </a:rPr>
                        <a:t>Keep best g, reopen</a:t>
                      </a:r>
                    </a:p>
                  </a:txBody>
                  <a:tcPr marL="123825" marR="123825" marT="114300" marB="114300" anchor="ctr">
                    <a:solidFill>
                      <a:srgbClr val="EDF3F5"/>
                    </a:solidFill>
                  </a:tcPr>
                </a:tc>
                <a:tc>
                  <a:txBody>
                    <a:bodyPr/>
                    <a:lstStyle/>
                    <a:p>
                      <a:r>
                        <a:rPr sz="1725" b="0">
                          <a:solidFill>
                            <a:srgbClr val="142C40"/>
                          </a:solidFill>
                          <a:latin typeface="Arial"/>
                          <a:ea typeface="Arial"/>
                          <a:cs typeface="Arial"/>
                        </a:rPr>
                        <a:t>Least cost with valid h</a:t>
                      </a:r>
                    </a:p>
                  </a:txBody>
                  <a:tcPr marL="123825" marR="123825" marT="114300" marB="114300" anchor="ctr">
                    <a:solidFill>
                      <a:srgbClr val="EDF3F5"/>
                    </a:solidFill>
                  </a:tcPr>
                </a:tc>
              </a:tr>
            </a:tbl>
          </a:graphicData>
        </a:graphic>
      </p:graphicFrame>
      <p:sp>
        <p:nvSpPr>
          <p:cNvPr id="5" name="">
            <a:extLst xmlns:a="http://schemas.openxmlformats.org/drawingml/2006/main">
              <a:ext uri="{FF2B5EF4-FFF2-40B4-BE49-F238E27FC236}">
                <a16:creationId xmlns:a16="http://schemas.microsoft.com/office/drawing/2014/main" id="{9F23632F-4129-430E-BDFB-327A4597C3A7}"/>
              </a:ext>
            </a:extLst>
          </p:cNvPr>
          <p:cNvSpPr>
            <a:spLocks xmlns:a="http://schemas.openxmlformats.org/drawingml/2006/main" noGrp="1"/>
          </p:cNvSpPr>
          <p:nvPr/>
        </p:nvSpPr>
        <p:spPr>
          <a:xfrm xmlns:a="http://schemas.openxmlformats.org/drawingml/2006/main">
            <a:off x="647700" y="55626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87F7B"/>
                </a:solidFill>
                <a:latin typeface="Arial"/>
                <a:ea typeface="Arial"/>
                <a:cs typeface="Arial"/>
              </a:defRPr>
            </a:pPr>
            <a:r>
              <a:rPr sz="2025" b="1">
                <a:solidFill>
                  <a:srgbClr val="087F7B"/>
                </a:solidFill>
                <a:latin typeface="Arial"/>
                <a:ea typeface="Arial"/>
                <a:cs typeface="Arial"/>
              </a:rPr>
              <a:t>UCS and A* test the goal when removing a node from the frontier.</a:t>
            </a:r>
          </a:p>
        </p:txBody>
      </p:sp>
      <p:sp>
        <p:nvSpPr>
          <p:cNvPr id="8" name="jump-26">
            <a:extLst xmlns:a="http://schemas.openxmlformats.org/drawingml/2006/main">
              <a:ext uri="{FF2B5EF4-FFF2-40B4-BE49-F238E27FC236}">
                <a16:creationId xmlns:a16="http://schemas.microsoft.com/office/drawing/2014/main" id="{7845CAD2-2C3A-4188-A984-E81A2E0B7B85}"/>
              </a:ext>
            </a:extLst>
            <ns0:hlinkClick xmlns:ns0="http://schemas.openxmlformats.org/drawingml/2006/main" xmlns:ns1="http://schemas.openxmlformats.org/officeDocument/2006/relationships" ns1:id="rIdNav3"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9" name="jump-27">
            <a:extLst xmlns:a="http://schemas.openxmlformats.org/drawingml/2006/main">
              <a:ext uri="{FF2B5EF4-FFF2-40B4-BE49-F238E27FC236}">
                <a16:creationId xmlns:a16="http://schemas.microsoft.com/office/drawing/2014/main" id="{6B248E3B-9CB8-4B9D-8C55-AE09EFEB0DBF}"/>
              </a:ext>
            </a:extLst>
            <ns2:hlinkClick xmlns:ns2="http://schemas.openxmlformats.org/drawingml/2006/main" xmlns:ns3="http://schemas.openxmlformats.org/officeDocument/2006/relationships" ns3:id="rIdNav4" action="ppaction://hlinksldjump" tooltip="Go to slide 3"/>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0" name="jump-28">
            <a:extLst xmlns:a="http://schemas.openxmlformats.org/drawingml/2006/main">
              <a:ext uri="{FF2B5EF4-FFF2-40B4-BE49-F238E27FC236}">
                <a16:creationId xmlns:a16="http://schemas.microsoft.com/office/drawing/2014/main" id="{461D25F3-6E05-47E1-9559-87EEDFA798FE}"/>
              </a:ext>
            </a:extLst>
            <ns4:hlinkClick xmlns:ns4="http://schemas.openxmlformats.org/drawingml/2006/main" xmlns:ns5="http://schemas.openxmlformats.org/officeDocument/2006/relationships" ns5:id="rIdNav5" action="ppaction://hlinksldjump" tooltip="Go to slide 5"/>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1" name="">
            <a:extLst xmlns:a="http://schemas.openxmlformats.org/drawingml/2006/main">
              <a:ext uri="{FF2B5EF4-FFF2-40B4-BE49-F238E27FC236}">
                <a16:creationId xmlns:a16="http://schemas.microsoft.com/office/drawing/2014/main" id="{9B5A814C-F248-429F-A444-06EC1C0AA438}"/>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04</a:t>
            </a:r>
          </a:p>
        </p:txBody>
      </p:sp>
    </p:spTree>
    <p:extLst>
      <p:ext uri="{BB962C8B-B14F-4D97-AF65-F5344CB8AC3E}">
        <p14:creationId xmlns:p14="http://schemas.microsoft.com/office/powerpoint/2010/main" val="5257264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9C8662-98C6-4295-A0B3-2417B2D768B5}"/>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Arial"/>
                <a:ea typeface="Arial"/>
                <a:cs typeface="Arial"/>
              </a:defRPr>
            </a:pPr>
            <a:r>
              <a:rPr sz="3300" b="1">
                <a:solidFill>
                  <a:srgbClr val="142C40"/>
                </a:solidFill>
                <a:latin typeface="Arial"/>
                <a:ea typeface="Arial"/>
                <a:cs typeface="Arial"/>
              </a:rPr>
              <a:t>Prediction: the shortest route</a:t>
            </a:r>
          </a:p>
        </p:txBody>
      </p:sp>
      <p:sp>
        <p:nvSpPr>
          <p:cNvPr id="2" name="">
            <a:extLst xmlns:a="http://schemas.openxmlformats.org/drawingml/2006/main">
              <a:ext uri="{FF2B5EF4-FFF2-40B4-BE49-F238E27FC236}">
                <a16:creationId xmlns:a16="http://schemas.microsoft.com/office/drawing/2014/main" id="{7F21FF53-FFBC-45C3-83A2-9AB829FB544F}"/>
              </a:ext>
            </a:extLst>
          </p:cNvPr>
          <p:cNvSpPr>
            <a:spLocks xmlns:a="http://schemas.openxmlformats.org/drawingml/2006/main" noGrp="1"/>
          </p:cNvSpPr>
          <p:nvPr/>
        </p:nvSpPr>
        <p:spPr>
          <a:xfrm xmlns:a="http://schemas.openxmlformats.org/drawingml/2006/main">
            <a:off x="628650" y="1190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979"/>
                </a:solidFill>
                <a:latin typeface="Arial"/>
                <a:ea typeface="Arial"/>
                <a:cs typeface="Arial"/>
              </a:defRPr>
            </a:pPr>
            <a:r>
              <a:rPr sz="1875" b="0">
                <a:solidFill>
                  <a:srgbClr val="566979"/>
                </a:solidFill>
                <a:latin typeface="Arial"/>
                <a:ea typeface="Arial"/>
                <a:cs typeface="Arial"/>
              </a:rPr>
              <a:t>Every move has the same cost</a:t>
            </a:r>
          </a:p>
        </p:txBody>
      </p:sp>
      <p:sp>
        <p:nvSpPr>
          <p:cNvPr id="3" name="">
            <a:extLst xmlns:a="http://schemas.openxmlformats.org/drawingml/2006/main">
              <a:ext uri="{FF2B5EF4-FFF2-40B4-BE49-F238E27FC236}">
                <a16:creationId xmlns:a16="http://schemas.microsoft.com/office/drawing/2014/main" id="{DFAF6003-62D0-4B7B-8416-A3B5D1E23A72}"/>
              </a:ext>
            </a:extLst>
          </p:cNvPr>
          <p:cNvSpPr>
            <a:spLocks xmlns:a="http://schemas.openxmlformats.org/drawingml/2006/main" noGrp="1"/>
          </p:cNvSpPr>
          <p:nvPr/>
        </p:nvSpPr>
        <p:spPr>
          <a:xfrm xmlns:a="http://schemas.openxmlformats.org/drawingml/2006/main">
            <a:off x="704850" y="20764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42C40"/>
                </a:solidFill>
                <a:latin typeface="Arial"/>
                <a:ea typeface="Arial"/>
                <a:cs typeface="Arial"/>
              </a:defRPr>
            </a:pPr>
            <a:r>
              <a:rPr sz="3600" b="1">
                <a:solidFill>
                  <a:srgbClr val="142C40"/>
                </a:solidFill>
                <a:latin typeface="Arial"/>
                <a:ea typeface="Arial"/>
                <a:cs typeface="Arial"/>
              </a:rPr>
              <a:t>Which search guarantees the</a:t>
            </a:r>
          </a:p>
          <a:p xmlns:a="http://schemas.openxmlformats.org/drawingml/2006/main">
            <a:pPr>
              <a:defRPr sz="3600" b="1">
                <a:solidFill>
                  <a:srgbClr val="142C40"/>
                </a:solidFill>
                <a:latin typeface="Arial"/>
                <a:ea typeface="Arial"/>
                <a:cs typeface="Arial"/>
              </a:defRPr>
            </a:pPr>
            <a:r>
              <a:rPr sz="3600" b="1">
                <a:solidFill>
                  <a:srgbClr val="142C40"/>
                </a:solidFill>
                <a:latin typeface="Arial"/>
                <a:ea typeface="Arial"/>
                <a:cs typeface="Arial"/>
              </a:rPr>
              <a:t>shortest route?</a:t>
            </a:r>
          </a:p>
        </p:txBody>
      </p:sp>
      <p:sp>
        <p:nvSpPr>
          <p:cNvPr id="4" name="">
            <a:extLst xmlns:a="http://schemas.openxmlformats.org/drawingml/2006/main">
              <a:ext uri="{FF2B5EF4-FFF2-40B4-BE49-F238E27FC236}">
                <a16:creationId xmlns:a16="http://schemas.microsoft.com/office/drawing/2014/main" id="{178F5AA2-8438-49B9-B0DB-01EFCF5B9568}"/>
              </a:ext>
            </a:extLst>
          </p:cNvPr>
          <p:cNvSpPr>
            <a:spLocks xmlns:a="http://schemas.openxmlformats.org/drawingml/2006/main" noGrp="1"/>
          </p:cNvSpPr>
          <p:nvPr/>
        </p:nvSpPr>
        <p:spPr>
          <a:xfrm xmlns:a="http://schemas.openxmlformats.org/drawingml/2006/main">
            <a:off x="723900" y="3848100"/>
            <a:ext cx="4857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566979"/>
                </a:solidFill>
                <a:latin typeface="Arial"/>
                <a:ea typeface="Arial"/>
                <a:cs typeface="Arial"/>
              </a:defRPr>
            </a:pPr>
            <a:r>
              <a:rPr sz="2625" b="0">
                <a:solidFill>
                  <a:srgbClr val="566979"/>
                </a:solidFill>
                <a:latin typeface="Arial"/>
                <a:ea typeface="Arial"/>
                <a:cs typeface="Arial"/>
              </a:rPr>
              <a:t>Depth-first search</a:t>
            </a:r>
          </a:p>
        </p:txBody>
      </p:sp>
      <p:sp>
        <p:nvSpPr>
          <p:cNvPr id="5" name="">
            <a:extLst xmlns:a="http://schemas.openxmlformats.org/drawingml/2006/main">
              <a:ext uri="{FF2B5EF4-FFF2-40B4-BE49-F238E27FC236}">
                <a16:creationId xmlns:a16="http://schemas.microsoft.com/office/drawing/2014/main" id="{65F8317D-3869-4E69-9353-FD12915C075E}"/>
              </a:ext>
            </a:extLst>
          </p:cNvPr>
          <p:cNvSpPr>
            <a:spLocks xmlns:a="http://schemas.openxmlformats.org/drawingml/2006/main" noGrp="1"/>
          </p:cNvSpPr>
          <p:nvPr/>
        </p:nvSpPr>
        <p:spPr>
          <a:xfrm xmlns:a="http://schemas.openxmlformats.org/drawingml/2006/main">
            <a:off x="6477000" y="3848100"/>
            <a:ext cx="5048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087F7B"/>
                </a:solidFill>
                <a:latin typeface="Arial"/>
                <a:ea typeface="Arial"/>
                <a:cs typeface="Arial"/>
              </a:defRPr>
            </a:pPr>
            <a:r>
              <a:rPr sz="2625" b="0">
                <a:solidFill>
                  <a:srgbClr val="087F7B"/>
                </a:solidFill>
                <a:latin typeface="Arial"/>
                <a:ea typeface="Arial"/>
                <a:cs typeface="Arial"/>
              </a:rPr>
              <a:t>Breadth-first search</a:t>
            </a:r>
          </a:p>
        </p:txBody>
      </p:sp>
      <p:sp>
        <p:nvSpPr>
          <p:cNvPr id="6" name="jump-8">
            <a:extLst xmlns:a="http://schemas.openxmlformats.org/drawingml/2006/main">
              <a:ext uri="{FF2B5EF4-FFF2-40B4-BE49-F238E27FC236}">
                <a16:creationId xmlns:a16="http://schemas.microsoft.com/office/drawing/2014/main" id="{AAFD2D18-B438-41ED-948E-91C08C64528C}"/>
              </a:ext>
            </a:extLst>
            <ns0:hlinkClick xmlns:ns0="http://schemas.openxmlformats.org/drawingml/2006/main" xmlns:ns1="http://schemas.openxmlformats.org/officeDocument/2006/relationships" ns1:id="rIdNav3" action="ppaction://hlinksldjump" tooltip="Go to slide 6"/>
          </p:cNvPr>
          <p:cNvSpPr>
            <a:spLocks xmlns:a="http://schemas.openxmlformats.org/drawingml/2006/main" noGrp="1"/>
          </p:cNvSpPr>
          <p:nvPr/>
        </p:nvSpPr>
        <p:spPr>
          <a:xfrm xmlns:a="http://schemas.openxmlformats.org/drawingml/2006/main">
            <a:off x="723900" y="5191125"/>
            <a:ext cx="5095875" cy="704850"/>
          </a:xfrm>
          <a:prstGeom xmlns:a="http://schemas.openxmlformats.org/drawingml/2006/main" prst="rect">
            <a:avLst/>
          </a:prstGeom>
          <a:solidFill xmlns:a="http://schemas.openxmlformats.org/drawingml/2006/main">
            <a:srgbClr val="087F7B"/>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Reveal the comparison</a:t>
            </a:r>
          </a:p>
        </p:txBody>
      </p:sp>
      <p:sp>
        <p:nvSpPr>
          <p:cNvPr id="7" name="jump-29">
            <a:extLst xmlns:a="http://schemas.openxmlformats.org/drawingml/2006/main">
              <a:ext uri="{FF2B5EF4-FFF2-40B4-BE49-F238E27FC236}">
                <a16:creationId xmlns:a16="http://schemas.microsoft.com/office/drawing/2014/main" id="{8D320135-22A4-4F8B-BC8A-F545EFCEC83D}"/>
              </a:ext>
            </a:extLst>
            <ns2:hlinkClick xmlns:ns2="http://schemas.openxmlformats.org/drawingml/2006/main" xmlns:ns3="http://schemas.openxmlformats.org/officeDocument/2006/relationships" ns3:id="rIdNav4"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8" name="jump-30">
            <a:extLst xmlns:a="http://schemas.openxmlformats.org/drawingml/2006/main">
              <a:ext uri="{FF2B5EF4-FFF2-40B4-BE49-F238E27FC236}">
                <a16:creationId xmlns:a16="http://schemas.microsoft.com/office/drawing/2014/main" id="{ECFEADEF-7E6B-4AF0-8F06-755A27DA7150}"/>
              </a:ext>
            </a:extLst>
            <ns4:hlinkClick xmlns:ns4="http://schemas.openxmlformats.org/drawingml/2006/main" xmlns:ns5="http://schemas.openxmlformats.org/officeDocument/2006/relationships" ns5:id="rIdNav5" action="ppaction://hlinksldjump" tooltip="Go to slide 4"/>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9" name="jump-31">
            <a:extLst xmlns:a="http://schemas.openxmlformats.org/drawingml/2006/main">
              <a:ext uri="{FF2B5EF4-FFF2-40B4-BE49-F238E27FC236}">
                <a16:creationId xmlns:a16="http://schemas.microsoft.com/office/drawing/2014/main" id="{42F2DF09-095A-4BFD-A260-5E4CA6C21B77}"/>
              </a:ext>
            </a:extLst>
            <ns6:hlinkClick xmlns:ns6="http://schemas.openxmlformats.org/drawingml/2006/main" xmlns:ns7="http://schemas.openxmlformats.org/officeDocument/2006/relationships" ns7:id="rIdNav6" action="ppaction://hlinksldjump" tooltip="Go to slide 6"/>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0" name="">
            <a:extLst xmlns:a="http://schemas.openxmlformats.org/drawingml/2006/main">
              <a:ext uri="{FF2B5EF4-FFF2-40B4-BE49-F238E27FC236}">
                <a16:creationId xmlns:a16="http://schemas.microsoft.com/office/drawing/2014/main" id="{091E9516-31EE-47F0-84F9-7A4EB1F5DDB4}"/>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05</a:t>
            </a:r>
          </a:p>
        </p:txBody>
      </p:sp>
    </p:spTree>
    <p:extLst>
      <p:ext uri="{BB962C8B-B14F-4D97-AF65-F5344CB8AC3E}">
        <p14:creationId xmlns:p14="http://schemas.microsoft.com/office/powerpoint/2010/main" val="12813227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6E54C9C-F42C-4B55-A0EF-381C5337EE2B}"/>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2C40"/>
                </a:solidFill>
                <a:latin typeface="Arial"/>
                <a:ea typeface="Arial"/>
                <a:cs typeface="Arial"/>
              </a:defRPr>
            </a:pPr>
            <a:r>
              <a:rPr sz="3300" b="1">
                <a:solidFill>
                  <a:srgbClr val="142C40"/>
                </a:solidFill>
                <a:latin typeface="Arial"/>
                <a:ea typeface="Arial"/>
                <a:cs typeface="Arial"/>
              </a:rPr>
              <a:t>BFS finds much shorter routes than DFS</a:t>
            </a:r>
          </a:p>
        </p:txBody>
      </p:sp>
      <p:sp>
        <p:nvSpPr>
          <p:cNvPr id="2" name="">
            <a:extLst xmlns:a="http://schemas.openxmlformats.org/drawingml/2006/main">
              <a:ext uri="{FF2B5EF4-FFF2-40B4-BE49-F238E27FC236}">
                <a16:creationId xmlns:a16="http://schemas.microsoft.com/office/drawing/2014/main" id="{5FE3C904-AD0D-4745-8960-5846FAE358E8}"/>
              </a:ext>
            </a:extLst>
          </p:cNvPr>
          <p:cNvSpPr>
            <a:spLocks xmlns:a="http://schemas.openxmlformats.org/drawingml/2006/main" noGrp="1"/>
          </p:cNvSpPr>
          <p:nvPr/>
        </p:nvSpPr>
        <p:spPr>
          <a:xfrm xmlns:a="http://schemas.openxmlformats.org/drawingml/2006/main">
            <a:off x="628650" y="1190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66979"/>
                </a:solidFill>
                <a:latin typeface="Arial"/>
                <a:ea typeface="Arial"/>
                <a:cs typeface="Arial"/>
              </a:defRPr>
            </a:pPr>
            <a:r>
              <a:rPr sz="1800" b="0">
                <a:solidFill>
                  <a:srgbClr val="566979"/>
                </a:solidFill>
                <a:latin typeface="Arial"/>
                <a:ea typeface="Arial"/>
                <a:cs typeface="Arial"/>
              </a:rPr>
              <a:t>Q1–Q2: unit-cost position search</a:t>
            </a:r>
          </a:p>
        </p:txBody>
      </p:sp>
      <p:graphicFrame>
        <p:nvGraphicFramePr>
          <p:cNvPr id="17" name="Chart"/>
          <p:cNvGraphicFramePr/>
          <p:nvPr/>
        </p:nvGraphicFramePr>
        <p:xfrm>
          <a:off xmlns:a="http://schemas.openxmlformats.org/drawingml/2006/main" x="647700" y="1838325"/>
          <a:ext xmlns:a="http://schemas.openxmlformats.org/drawingml/2006/main" cx="7334250" cy="3829050"/>
        </p:xfrm>
        <a:graphic xmlns:a="http://schemas.openxmlformats.org/drawingml/2006/main">
          <a:graphicData uri="http://schemas.openxmlformats.org/drawingml/2006/chart">
            <c:chart xmlns:r="http://schemas.openxmlformats.org/officeDocument/2006/relationships" xmlns:c="http://schemas.openxmlformats.org/drawingml/2006/chart" r:id="R8214002dbd0947dd"/>
          </a:graphicData>
        </a:graphic>
      </p:graphicFrame>
      <p:sp>
        <p:nvSpPr>
          <p:cNvPr id="5" name="">
            <a:extLst xmlns:a="http://schemas.openxmlformats.org/drawingml/2006/main">
              <a:ext uri="{FF2B5EF4-FFF2-40B4-BE49-F238E27FC236}">
                <a16:creationId xmlns:a16="http://schemas.microsoft.com/office/drawing/2014/main" id="{35546A45-E673-452C-AD19-FD3A6C28B292}"/>
              </a:ext>
            </a:extLst>
          </p:cNvPr>
          <p:cNvSpPr>
            <a:spLocks xmlns:a="http://schemas.openxmlformats.org/drawingml/2006/main" noGrp="1"/>
          </p:cNvSpPr>
          <p:nvPr/>
        </p:nvSpPr>
        <p:spPr>
          <a:xfrm xmlns:a="http://schemas.openxmlformats.org/drawingml/2006/main">
            <a:off x="8601075" y="2238375"/>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525" b="1">
                <a:solidFill>
                  <a:srgbClr val="087F7B"/>
                </a:solidFill>
                <a:latin typeface="Arial"/>
                <a:ea typeface="Arial"/>
                <a:cs typeface="Arial"/>
              </a:defRPr>
            </a:pPr>
            <a:r>
              <a:rPr sz="3525" b="1">
                <a:solidFill>
                  <a:srgbClr val="087F7B"/>
                </a:solidFill>
                <a:latin typeface="Arial"/>
                <a:ea typeface="Arial"/>
                <a:cs typeface="Arial"/>
              </a:rPr>
              <a:t>130 vs 68</a:t>
            </a:r>
          </a:p>
        </p:txBody>
      </p:sp>
      <p:sp>
        <p:nvSpPr>
          <p:cNvPr id="6" name="">
            <a:extLst xmlns:a="http://schemas.openxmlformats.org/drawingml/2006/main">
              <a:ext uri="{FF2B5EF4-FFF2-40B4-BE49-F238E27FC236}">
                <a16:creationId xmlns:a16="http://schemas.microsoft.com/office/drawing/2014/main" id="{9EB37CF6-037F-48C5-94C8-82E1B5090E2D}"/>
              </a:ext>
            </a:extLst>
          </p:cNvPr>
          <p:cNvSpPr>
            <a:spLocks xmlns:a="http://schemas.openxmlformats.org/drawingml/2006/main" noGrp="1"/>
          </p:cNvSpPr>
          <p:nvPr/>
        </p:nvSpPr>
        <p:spPr>
          <a:xfrm xmlns:a="http://schemas.openxmlformats.org/drawingml/2006/main">
            <a:off x="8601075" y="2924175"/>
            <a:ext cx="276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C40"/>
                </a:solidFill>
                <a:latin typeface="Arial"/>
                <a:ea typeface="Arial"/>
                <a:cs typeface="Arial"/>
              </a:defRPr>
            </a:pPr>
            <a:r>
              <a:rPr sz="1950" b="0">
                <a:solidFill>
                  <a:srgbClr val="142C40"/>
                </a:solidFill>
                <a:latin typeface="Arial"/>
                <a:ea typeface="Arial"/>
                <a:cs typeface="Arial"/>
              </a:rPr>
              <a:t>moves on mediumMaze</a:t>
            </a:r>
          </a:p>
        </p:txBody>
      </p:sp>
      <p:sp>
        <p:nvSpPr>
          <p:cNvPr id="7" name="">
            <a:extLst xmlns:a="http://schemas.openxmlformats.org/drawingml/2006/main">
              <a:ext uri="{FF2B5EF4-FFF2-40B4-BE49-F238E27FC236}">
                <a16:creationId xmlns:a16="http://schemas.microsoft.com/office/drawing/2014/main" id="{5728DD08-5C26-485A-9072-4D617E7CC39D}"/>
              </a:ext>
            </a:extLst>
          </p:cNvPr>
          <p:cNvSpPr>
            <a:spLocks xmlns:a="http://schemas.openxmlformats.org/drawingml/2006/main" noGrp="1"/>
          </p:cNvSpPr>
          <p:nvPr/>
        </p:nvSpPr>
        <p:spPr>
          <a:xfrm xmlns:a="http://schemas.openxmlformats.org/drawingml/2006/main">
            <a:off x="8601075" y="3952875"/>
            <a:ext cx="2762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C40"/>
                </a:solidFill>
                <a:latin typeface="Arial"/>
                <a:ea typeface="Arial"/>
                <a:cs typeface="Arial"/>
              </a:defRPr>
            </a:pPr>
            <a:r>
              <a:rPr sz="2025" b="0">
                <a:solidFill>
                  <a:srgbClr val="142C40"/>
                </a:solidFill>
                <a:latin typeface="Arial"/>
                <a:ea typeface="Arial"/>
                <a:cs typeface="Arial"/>
              </a:rPr>
              <a:t>DFS expands fewer states here, but returns a longer path.</a:t>
            </a:r>
          </a:p>
        </p:txBody>
      </p:sp>
      <p:sp>
        <p:nvSpPr>
          <p:cNvPr id="8" name="">
            <a:extLst xmlns:a="http://schemas.openxmlformats.org/drawingml/2006/main">
              <a:ext uri="{FF2B5EF4-FFF2-40B4-BE49-F238E27FC236}">
                <a16:creationId xmlns:a16="http://schemas.microsoft.com/office/drawing/2014/main" id="{5B77DB20-AC5D-41B2-9B14-79D619DAD99E}"/>
              </a:ext>
            </a:extLst>
          </p:cNvPr>
          <p:cNvSpPr>
            <a:spLocks xmlns:a="http://schemas.openxmlformats.org/drawingml/2006/main" noGrp="1"/>
          </p:cNvSpPr>
          <p:nvPr/>
        </p:nvSpPr>
        <p:spPr>
          <a:xfrm xmlns:a="http://schemas.openxmlformats.org/drawingml/2006/main">
            <a:off x="647700" y="5876925"/>
            <a:ext cx="10610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66979"/>
                </a:solidFill>
                <a:latin typeface="Arial"/>
                <a:ea typeface="Arial"/>
                <a:cs typeface="Arial"/>
              </a:defRPr>
            </a:pPr>
            <a:r>
              <a:rPr sz="1725" b="0">
                <a:solidFill>
                  <a:srgbClr val="566979"/>
                </a:solidFill>
                <a:latin typeface="Arial"/>
                <a:ea typeface="Arial"/>
                <a:cs typeface="Arial"/>
              </a:rPr>
              <a:t>The exploration overlay shows planning. Pac-Man follows only the final route.</a:t>
            </a:r>
          </a:p>
        </p:txBody>
      </p:sp>
      <p:sp>
        <p:nvSpPr>
          <p:cNvPr id="11" name="jump-32">
            <a:extLst xmlns:a="http://schemas.openxmlformats.org/drawingml/2006/main">
              <a:ext uri="{FF2B5EF4-FFF2-40B4-BE49-F238E27FC236}">
                <a16:creationId xmlns:a16="http://schemas.microsoft.com/office/drawing/2014/main" id="{BA2ACE9B-ED47-4F45-B365-5991C7719D19}"/>
              </a:ext>
            </a:extLst>
            <ns0:hlinkClick xmlns:ns0="http://schemas.openxmlformats.org/drawingml/2006/main" xmlns:ns1="http://schemas.openxmlformats.org/officeDocument/2006/relationships" ns1:id="rIdNav4"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2" name="jump-33">
            <a:extLst xmlns:a="http://schemas.openxmlformats.org/drawingml/2006/main">
              <a:ext uri="{FF2B5EF4-FFF2-40B4-BE49-F238E27FC236}">
                <a16:creationId xmlns:a16="http://schemas.microsoft.com/office/drawing/2014/main" id="{1BEF0663-11DD-4990-93B5-102EA6BA6129}"/>
              </a:ext>
            </a:extLst>
            <ns2:hlinkClick xmlns:ns2="http://schemas.openxmlformats.org/drawingml/2006/main" xmlns:ns3="http://schemas.openxmlformats.org/officeDocument/2006/relationships" ns3:id="rIdNav5" action="ppaction://hlinksldjump" tooltip="Go to slide 5"/>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3" name="jump-34">
            <a:extLst xmlns:a="http://schemas.openxmlformats.org/drawingml/2006/main">
              <a:ext uri="{FF2B5EF4-FFF2-40B4-BE49-F238E27FC236}">
                <a16:creationId xmlns:a16="http://schemas.microsoft.com/office/drawing/2014/main" id="{B0551C42-BDEC-4B39-A4EF-E187FD424974}"/>
              </a:ext>
            </a:extLst>
            <ns4:hlinkClick xmlns:ns4="http://schemas.openxmlformats.org/drawingml/2006/main" xmlns:ns5="http://schemas.openxmlformats.org/officeDocument/2006/relationships" ns5:id="rIdNav6" action="ppaction://hlinksldjump" tooltip="Go to slide 7"/>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4" name="">
            <a:extLst xmlns:a="http://schemas.openxmlformats.org/drawingml/2006/main">
              <a:ext uri="{FF2B5EF4-FFF2-40B4-BE49-F238E27FC236}">
                <a16:creationId xmlns:a16="http://schemas.microsoft.com/office/drawing/2014/main" id="{6D124528-DA8D-4ED5-8A00-05C132823FD9}"/>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06</a:t>
            </a:r>
          </a:p>
        </p:txBody>
      </p:sp>
    </p:spTree>
    <p:extLst>
      <p:ext uri="{BB962C8B-B14F-4D97-AF65-F5344CB8AC3E}">
        <p14:creationId xmlns:p14="http://schemas.microsoft.com/office/powerpoint/2010/main" val="48666574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649F53F-2EE6-4A1D-AF90-1894E35DE05B}"/>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2C40"/>
                </a:solidFill>
                <a:latin typeface="Arial"/>
                <a:ea typeface="Arial"/>
                <a:cs typeface="Arial"/>
              </a:defRPr>
            </a:pPr>
            <a:r>
              <a:rPr sz="3300" b="1">
                <a:solidFill>
                  <a:srgbClr val="142C40"/>
                </a:solidFill>
                <a:latin typeface="Arial"/>
                <a:ea typeface="Arial"/>
                <a:cs typeface="Arial"/>
              </a:rPr>
              <a:t>UCS chooses longer routes when they cost less</a:t>
            </a:r>
          </a:p>
        </p:txBody>
      </p:sp>
      <p:sp>
        <p:nvSpPr>
          <p:cNvPr id="2" name="">
            <a:extLst xmlns:a="http://schemas.openxmlformats.org/drawingml/2006/main">
              <a:ext uri="{FF2B5EF4-FFF2-40B4-BE49-F238E27FC236}">
                <a16:creationId xmlns:a16="http://schemas.microsoft.com/office/drawing/2014/main" id="{4F6F91FB-9C0F-4350-95C8-D48B16719A92}"/>
              </a:ext>
            </a:extLst>
          </p:cNvPr>
          <p:cNvSpPr>
            <a:spLocks xmlns:a="http://schemas.openxmlformats.org/drawingml/2006/main" noGrp="1"/>
          </p:cNvSpPr>
          <p:nvPr/>
        </p:nvSpPr>
        <p:spPr>
          <a:xfrm xmlns:a="http://schemas.openxmlformats.org/drawingml/2006/main">
            <a:off x="628650" y="1190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66979"/>
                </a:solidFill>
                <a:latin typeface="Arial"/>
                <a:ea typeface="Arial"/>
                <a:cs typeface="Arial"/>
              </a:defRPr>
            </a:pPr>
            <a:r>
              <a:rPr sz="1800" b="0">
                <a:solidFill>
                  <a:srgbClr val="566979"/>
                </a:solidFill>
                <a:latin typeface="Arial"/>
                <a:ea typeface="Arial"/>
                <a:cs typeface="Arial"/>
              </a:rPr>
              <a:t>Q3: the objective changes when step costs vary</a:t>
            </a:r>
          </a:p>
        </p:txBody>
      </p:sp>
      <p:graphicFrame>
        <p:nvGraphicFramePr>
          <p:cNvPr id="14" name=""/>
          <p:cNvGraphicFramePr/>
          <p:nvPr/>
        </p:nvGraphicFramePr>
        <p:xfrm>
          <a:off xmlns:a="http://schemas.openxmlformats.org/drawingml/2006/main" x="628650" y="1990725"/>
          <a:ext xmlns:a="http://schemas.openxmlformats.org/drawingml/2006/main" cx="10934700" cy="3086100"/>
        </p:xfrm>
        <a:graphic xmlns:a="http://schemas.openxmlformats.org/drawingml/2006/main">
          <a:graphicData uri="http://schemas.openxmlformats.org/drawingml/2006/table">
            <a:tbl>
              <a:tblPr firstRow="1" bandRow="0"/>
              <a:tblGrid>
                <a:gridCol w="3810000"/>
                <a:gridCol w="1476375"/>
                <a:gridCol w="1381125"/>
                <a:gridCol w="4267200"/>
              </a:tblGrid>
              <a:tr h="617220">
                <a:tc>
                  <a:txBody>
                    <a:bodyPr/>
                    <a:lstStyle/>
                    <a:p>
                      <a:r>
                        <a:rPr sz="1800" b="1">
                          <a:solidFill>
                            <a:srgbClr val="FFFFFF"/>
                          </a:solidFill>
                          <a:latin typeface="Arial"/>
                          <a:ea typeface="Arial"/>
                          <a:cs typeface="Arial"/>
                        </a:rPr>
                        <a:t>Layout</a:t>
                      </a:r>
                    </a:p>
                  </a:txBody>
                  <a:tcPr marL="123825" marR="123825" marT="114300" marB="114300" anchor="ctr">
                    <a:solidFill>
                      <a:srgbClr val="142C40"/>
                    </a:solidFill>
                  </a:tcPr>
                </a:tc>
                <a:tc>
                  <a:txBody>
                    <a:bodyPr/>
                    <a:lstStyle/>
                    <a:p>
                      <a:r>
                        <a:rPr sz="1800" b="1">
                          <a:solidFill>
                            <a:srgbClr val="FFFFFF"/>
                          </a:solidFill>
                          <a:latin typeface="Arial"/>
                          <a:ea typeface="Arial"/>
                          <a:cs typeface="Arial"/>
                        </a:rPr>
                        <a:t>Search</a:t>
                      </a:r>
                    </a:p>
                  </a:txBody>
                  <a:tcPr marL="123825" marR="123825" marT="114300" marB="114300" anchor="ctr">
                    <a:solidFill>
                      <a:srgbClr val="142C40"/>
                    </a:solidFill>
                  </a:tcPr>
                </a:tc>
                <a:tc>
                  <a:txBody>
                    <a:bodyPr/>
                    <a:lstStyle/>
                    <a:p>
                      <a:r>
                        <a:rPr sz="1800" b="1">
                          <a:solidFill>
                            <a:srgbClr val="FFFFFF"/>
                          </a:solidFill>
                          <a:latin typeface="Arial"/>
                          <a:ea typeface="Arial"/>
                          <a:cs typeface="Arial"/>
                        </a:rPr>
                        <a:t>Moves</a:t>
                      </a:r>
                    </a:p>
                  </a:txBody>
                  <a:tcPr marL="123825" marR="123825" marT="114300" marB="114300" anchor="ctr">
                    <a:solidFill>
                      <a:srgbClr val="142C40"/>
                    </a:solidFill>
                  </a:tcPr>
                </a:tc>
                <a:tc>
                  <a:txBody>
                    <a:bodyPr/>
                    <a:lstStyle/>
                    <a:p>
                      <a:r>
                        <a:rPr sz="1800" b="1">
                          <a:solidFill>
                            <a:srgbClr val="FFFFFF"/>
                          </a:solidFill>
                          <a:latin typeface="Arial"/>
                          <a:ea typeface="Arial"/>
                          <a:cs typeface="Arial"/>
                        </a:rPr>
                        <a:t>Total path cost</a:t>
                      </a:r>
                    </a:p>
                  </a:txBody>
                  <a:tcPr marL="123825" marR="123825" marT="114300" marB="114300" anchor="ctr">
                    <a:solidFill>
                      <a:srgbClr val="142C40"/>
                    </a:solidFill>
                  </a:tcPr>
                </a:tc>
              </a:tr>
              <a:tr h="617220">
                <a:tc>
                  <a:txBody>
                    <a:bodyPr/>
                    <a:lstStyle/>
                    <a:p>
                      <a:r>
                        <a:rPr sz="1875" b="0">
                          <a:solidFill>
                            <a:srgbClr val="142C40"/>
                          </a:solidFill>
                          <a:latin typeface="Arial"/>
                          <a:ea typeface="Arial"/>
                          <a:cs typeface="Arial"/>
                        </a:rPr>
                        <a:t>mediumDottedMaze</a:t>
                      </a:r>
                    </a:p>
                  </a:txBody>
                  <a:tcPr marL="123825" marR="123825" marT="114300" marB="114300" anchor="ctr">
                    <a:solidFill>
                      <a:srgbClr val="FFFFFF"/>
                    </a:solidFill>
                  </a:tcPr>
                </a:tc>
                <a:tc>
                  <a:txBody>
                    <a:bodyPr/>
                    <a:lstStyle/>
                    <a:p>
                      <a:r>
                        <a:rPr sz="1875" b="0">
                          <a:solidFill>
                            <a:srgbClr val="142C40"/>
                          </a:solidFill>
                          <a:latin typeface="Arial"/>
                          <a:ea typeface="Arial"/>
                          <a:cs typeface="Arial"/>
                        </a:rPr>
                        <a:t>BFS</a:t>
                      </a:r>
                    </a:p>
                  </a:txBody>
                  <a:tcPr marL="123825" marR="123825" marT="114300" marB="114300" anchor="ctr">
                    <a:solidFill>
                      <a:srgbClr val="FFFFFF"/>
                    </a:solidFill>
                  </a:tcPr>
                </a:tc>
                <a:tc>
                  <a:txBody>
                    <a:bodyPr/>
                    <a:lstStyle/>
                    <a:p>
                      <a:r>
                        <a:rPr sz="1875" b="0">
                          <a:solidFill>
                            <a:srgbClr val="142C40"/>
                          </a:solidFill>
                          <a:latin typeface="Arial"/>
                          <a:ea typeface="Arial"/>
                          <a:cs typeface="Arial"/>
                        </a:rPr>
                        <a:t>68</a:t>
                      </a:r>
                    </a:p>
                  </a:txBody>
                  <a:tcPr marL="123825" marR="123825" marT="114300" marB="114300" anchor="ctr">
                    <a:solidFill>
                      <a:srgbClr val="FFFFFF"/>
                    </a:solidFill>
                  </a:tcPr>
                </a:tc>
                <a:tc>
                  <a:txBody>
                    <a:bodyPr/>
                    <a:lstStyle/>
                    <a:p>
                      <a:r>
                        <a:rPr sz="1875" b="0">
                          <a:solidFill>
                            <a:srgbClr val="142C40"/>
                          </a:solidFill>
                          <a:latin typeface="Arial"/>
                          <a:ea typeface="Arial"/>
                          <a:cs typeface="Arial"/>
                        </a:rPr>
                        <a:t>1.000982522848</a:t>
                      </a:r>
                    </a:p>
                  </a:txBody>
                  <a:tcPr marL="123825" marR="123825" marT="114300" marB="114300" anchor="ctr">
                    <a:solidFill>
                      <a:srgbClr val="FFFFFF"/>
                    </a:solidFill>
                  </a:tcPr>
                </a:tc>
              </a:tr>
              <a:tr h="617220">
                <a:tc>
                  <a:txBody>
                    <a:bodyPr/>
                    <a:lstStyle/>
                    <a:p>
                      <a:r>
                        <a:rPr sz="1875" b="0">
                          <a:solidFill>
                            <a:srgbClr val="142C40"/>
                          </a:solidFill>
                          <a:latin typeface="Arial"/>
                          <a:ea typeface="Arial"/>
                          <a:cs typeface="Arial"/>
                        </a:rPr>
                        <a:t>mediumDottedMaze</a:t>
                      </a:r>
                    </a:p>
                  </a:txBody>
                  <a:tcPr marL="123825" marR="123825" marT="114300" marB="114300" anchor="ctr">
                    <a:solidFill>
                      <a:srgbClr val="EDF3F5"/>
                    </a:solidFill>
                  </a:tcPr>
                </a:tc>
                <a:tc>
                  <a:txBody>
                    <a:bodyPr/>
                    <a:lstStyle/>
                    <a:p>
                      <a:r>
                        <a:rPr sz="1875" b="0">
                          <a:solidFill>
                            <a:srgbClr val="142C40"/>
                          </a:solidFill>
                          <a:latin typeface="Arial"/>
                          <a:ea typeface="Arial"/>
                          <a:cs typeface="Arial"/>
                        </a:rPr>
                        <a:t>UCS</a:t>
                      </a:r>
                    </a:p>
                  </a:txBody>
                  <a:tcPr marL="123825" marR="123825" marT="114300" marB="114300" anchor="ctr">
                    <a:solidFill>
                      <a:srgbClr val="EDF3F5"/>
                    </a:solidFill>
                  </a:tcPr>
                </a:tc>
                <a:tc>
                  <a:txBody>
                    <a:bodyPr/>
                    <a:lstStyle/>
                    <a:p>
                      <a:r>
                        <a:rPr sz="1875" b="0">
                          <a:solidFill>
                            <a:srgbClr val="142C40"/>
                          </a:solidFill>
                          <a:latin typeface="Arial"/>
                          <a:ea typeface="Arial"/>
                          <a:cs typeface="Arial"/>
                        </a:rPr>
                        <a:t>74</a:t>
                      </a:r>
                    </a:p>
                  </a:txBody>
                  <a:tcPr marL="123825" marR="123825" marT="114300" marB="114300" anchor="ctr">
                    <a:solidFill>
                      <a:srgbClr val="EDF3F5"/>
                    </a:solidFill>
                  </a:tcPr>
                </a:tc>
                <a:tc>
                  <a:txBody>
                    <a:bodyPr/>
                    <a:lstStyle/>
                    <a:p>
                      <a:r>
                        <a:rPr sz="1875" b="0">
                          <a:solidFill>
                            <a:srgbClr val="142C40"/>
                          </a:solidFill>
                          <a:latin typeface="Arial"/>
                          <a:ea typeface="Arial"/>
                          <a:cs typeface="Arial"/>
                        </a:rPr>
                        <a:t>1.000976583804</a:t>
                      </a:r>
                    </a:p>
                  </a:txBody>
                  <a:tcPr marL="123825" marR="123825" marT="114300" marB="114300" anchor="ctr">
                    <a:solidFill>
                      <a:srgbClr val="EDF3F5"/>
                    </a:solidFill>
                  </a:tcPr>
                </a:tc>
              </a:tr>
              <a:tr h="617220">
                <a:tc>
                  <a:txBody>
                    <a:bodyPr/>
                    <a:lstStyle/>
                    <a:p>
                      <a:r>
                        <a:rPr sz="1875" b="0">
                          <a:solidFill>
                            <a:srgbClr val="142C40"/>
                          </a:solidFill>
                          <a:latin typeface="Arial"/>
                          <a:ea typeface="Arial"/>
                          <a:cs typeface="Arial"/>
                        </a:rPr>
                        <a:t>mediumScaryMaze</a:t>
                      </a:r>
                    </a:p>
                  </a:txBody>
                  <a:tcPr marL="123825" marR="123825" marT="114300" marB="114300" anchor="ctr">
                    <a:solidFill>
                      <a:srgbClr val="FFFFFF"/>
                    </a:solidFill>
                  </a:tcPr>
                </a:tc>
                <a:tc>
                  <a:txBody>
                    <a:bodyPr/>
                    <a:lstStyle/>
                    <a:p>
                      <a:r>
                        <a:rPr sz="1875" b="0">
                          <a:solidFill>
                            <a:srgbClr val="142C40"/>
                          </a:solidFill>
                          <a:latin typeface="Arial"/>
                          <a:ea typeface="Arial"/>
                          <a:cs typeface="Arial"/>
                        </a:rPr>
                        <a:t>BFS</a:t>
                      </a:r>
                    </a:p>
                  </a:txBody>
                  <a:tcPr marL="123825" marR="123825" marT="114300" marB="114300" anchor="ctr">
                    <a:solidFill>
                      <a:srgbClr val="FFFFFF"/>
                    </a:solidFill>
                  </a:tcPr>
                </a:tc>
                <a:tc>
                  <a:txBody>
                    <a:bodyPr/>
                    <a:lstStyle/>
                    <a:p>
                      <a:r>
                        <a:rPr sz="1875" b="0">
                          <a:solidFill>
                            <a:srgbClr val="142C40"/>
                          </a:solidFill>
                          <a:latin typeface="Arial"/>
                          <a:ea typeface="Arial"/>
                          <a:cs typeface="Arial"/>
                        </a:rPr>
                        <a:t>72</a:t>
                      </a:r>
                    </a:p>
                  </a:txBody>
                  <a:tcPr marL="123825" marR="123825" marT="114300" marB="114300" anchor="ctr">
                    <a:solidFill>
                      <a:srgbClr val="FFFFFF"/>
                    </a:solidFill>
                  </a:tcPr>
                </a:tc>
                <a:tc>
                  <a:txBody>
                    <a:bodyPr/>
                    <a:lstStyle/>
                    <a:p>
                      <a:r>
                        <a:rPr sz="1875" b="0">
                          <a:solidFill>
                            <a:srgbClr val="142C40"/>
                          </a:solidFill>
                          <a:latin typeface="Arial"/>
                          <a:ea typeface="Arial"/>
                          <a:cs typeface="Arial"/>
                        </a:rPr>
                        <a:t>70,670,371,838</a:t>
                      </a:r>
                    </a:p>
                  </a:txBody>
                  <a:tcPr marL="123825" marR="123825" marT="114300" marB="114300" anchor="ctr">
                    <a:solidFill>
                      <a:srgbClr val="FFFFFF"/>
                    </a:solidFill>
                  </a:tcPr>
                </a:tc>
              </a:tr>
              <a:tr h="617220">
                <a:tc>
                  <a:txBody>
                    <a:bodyPr/>
                    <a:lstStyle/>
                    <a:p>
                      <a:r>
                        <a:rPr sz="1875" b="0">
                          <a:solidFill>
                            <a:srgbClr val="142C40"/>
                          </a:solidFill>
                          <a:latin typeface="Arial"/>
                          <a:ea typeface="Arial"/>
                          <a:cs typeface="Arial"/>
                        </a:rPr>
                        <a:t>mediumScaryMaze</a:t>
                      </a:r>
                    </a:p>
                  </a:txBody>
                  <a:tcPr marL="123825" marR="123825" marT="114300" marB="114300" anchor="ctr">
                    <a:solidFill>
                      <a:srgbClr val="EDF3F5"/>
                    </a:solidFill>
                  </a:tcPr>
                </a:tc>
                <a:tc>
                  <a:txBody>
                    <a:bodyPr/>
                    <a:lstStyle/>
                    <a:p>
                      <a:r>
                        <a:rPr sz="1875" b="0">
                          <a:solidFill>
                            <a:srgbClr val="142C40"/>
                          </a:solidFill>
                          <a:latin typeface="Arial"/>
                          <a:ea typeface="Arial"/>
                          <a:cs typeface="Arial"/>
                        </a:rPr>
                        <a:t>UCS</a:t>
                      </a:r>
                    </a:p>
                  </a:txBody>
                  <a:tcPr marL="123825" marR="123825" marT="114300" marB="114300" anchor="ctr">
                    <a:solidFill>
                      <a:srgbClr val="EDF3F5"/>
                    </a:solidFill>
                  </a:tcPr>
                </a:tc>
                <a:tc>
                  <a:txBody>
                    <a:bodyPr/>
                    <a:lstStyle/>
                    <a:p>
                      <a:r>
                        <a:rPr sz="1875" b="0">
                          <a:solidFill>
                            <a:srgbClr val="142C40"/>
                          </a:solidFill>
                          <a:latin typeface="Arial"/>
                          <a:ea typeface="Arial"/>
                          <a:cs typeface="Arial"/>
                        </a:rPr>
                        <a:t>92</a:t>
                      </a:r>
                    </a:p>
                  </a:txBody>
                  <a:tcPr marL="123825" marR="123825" marT="114300" marB="114300" anchor="ctr">
                    <a:solidFill>
                      <a:srgbClr val="EDF3F5"/>
                    </a:solidFill>
                  </a:tcPr>
                </a:tc>
                <a:tc>
                  <a:txBody>
                    <a:bodyPr/>
                    <a:lstStyle/>
                    <a:p>
                      <a:r>
                        <a:rPr sz="1875" b="0">
                          <a:solidFill>
                            <a:srgbClr val="142C40"/>
                          </a:solidFill>
                          <a:latin typeface="Arial"/>
                          <a:ea typeface="Arial"/>
                          <a:cs typeface="Arial"/>
                        </a:rPr>
                        <a:t>68,719,479,864</a:t>
                      </a:r>
                    </a:p>
                  </a:txBody>
                  <a:tcPr marL="123825" marR="123825" marT="114300" marB="114300" anchor="ctr">
                    <a:solidFill>
                      <a:srgbClr val="EDF3F5"/>
                    </a:solidFill>
                  </a:tcPr>
                </a:tc>
              </a:tr>
            </a:tbl>
          </a:graphicData>
        </a:graphic>
      </p:graphicFrame>
      <p:sp>
        <p:nvSpPr>
          <p:cNvPr id="5" name="">
            <a:extLst xmlns:a="http://schemas.openxmlformats.org/drawingml/2006/main">
              <a:ext uri="{FF2B5EF4-FFF2-40B4-BE49-F238E27FC236}">
                <a16:creationId xmlns:a16="http://schemas.microsoft.com/office/drawing/2014/main" id="{58A7305C-F273-4FAF-9BCF-06E514A1A562}"/>
              </a:ext>
            </a:extLst>
          </p:cNvPr>
          <p:cNvSpPr>
            <a:spLocks xmlns:a="http://schemas.openxmlformats.org/drawingml/2006/main" noGrp="1"/>
          </p:cNvSpPr>
          <p:nvPr/>
        </p:nvSpPr>
        <p:spPr>
          <a:xfrm xmlns:a="http://schemas.openxmlformats.org/drawingml/2006/main">
            <a:off x="647700" y="54768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7F7B"/>
                </a:solidFill>
                <a:latin typeface="Arial"/>
                <a:ea typeface="Arial"/>
                <a:cs typeface="Arial"/>
              </a:defRPr>
            </a:pPr>
            <a:r>
              <a:rPr sz="2175" b="1">
                <a:solidFill>
                  <a:srgbClr val="087F7B"/>
                </a:solidFill>
                <a:latin typeface="Arial"/>
                <a:ea typeface="Arial"/>
                <a:cs typeface="Arial"/>
              </a:rPr>
              <a:t>StayEast charges 0.5ˣ per move. StayWest charges 2ˣ.</a:t>
            </a:r>
          </a:p>
        </p:txBody>
      </p:sp>
      <p:sp>
        <p:nvSpPr>
          <p:cNvPr id="8" name="jump-35">
            <a:extLst xmlns:a="http://schemas.openxmlformats.org/drawingml/2006/main">
              <a:ext uri="{FF2B5EF4-FFF2-40B4-BE49-F238E27FC236}">
                <a16:creationId xmlns:a16="http://schemas.microsoft.com/office/drawing/2014/main" id="{3100BCAF-0D4F-420F-ADAF-3BBBC53141F9}"/>
              </a:ext>
            </a:extLst>
            <ns0:hlinkClick xmlns:ns0="http://schemas.openxmlformats.org/drawingml/2006/main" xmlns:ns1="http://schemas.openxmlformats.org/officeDocument/2006/relationships" ns1:id="rIdNav3"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9" name="jump-36">
            <a:extLst xmlns:a="http://schemas.openxmlformats.org/drawingml/2006/main">
              <a:ext uri="{FF2B5EF4-FFF2-40B4-BE49-F238E27FC236}">
                <a16:creationId xmlns:a16="http://schemas.microsoft.com/office/drawing/2014/main" id="{E2F7294E-6F6D-4E65-ACFC-39660625D243}"/>
              </a:ext>
            </a:extLst>
            <ns2:hlinkClick xmlns:ns2="http://schemas.openxmlformats.org/drawingml/2006/main" xmlns:ns3="http://schemas.openxmlformats.org/officeDocument/2006/relationships" ns3:id="rIdNav4" action="ppaction://hlinksldjump" tooltip="Go to slide 6"/>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0" name="jump-37">
            <a:extLst xmlns:a="http://schemas.openxmlformats.org/drawingml/2006/main">
              <a:ext uri="{FF2B5EF4-FFF2-40B4-BE49-F238E27FC236}">
                <a16:creationId xmlns:a16="http://schemas.microsoft.com/office/drawing/2014/main" id="{B68E14B2-F986-4AC7-B221-FB5BB62FD6EB}"/>
              </a:ext>
            </a:extLst>
            <ns4:hlinkClick xmlns:ns4="http://schemas.openxmlformats.org/drawingml/2006/main" xmlns:ns5="http://schemas.openxmlformats.org/officeDocument/2006/relationships" ns5:id="rIdNav5" action="ppaction://hlinksldjump" tooltip="Go to slide 8"/>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1" name="">
            <a:extLst xmlns:a="http://schemas.openxmlformats.org/drawingml/2006/main">
              <a:ext uri="{FF2B5EF4-FFF2-40B4-BE49-F238E27FC236}">
                <a16:creationId xmlns:a16="http://schemas.microsoft.com/office/drawing/2014/main" id="{BF8CFFA8-DA3B-4D4A-91B8-591AF17663C1}"/>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07</a:t>
            </a:r>
          </a:p>
        </p:txBody>
      </p:sp>
    </p:spTree>
    <p:extLst>
      <p:ext uri="{BB962C8B-B14F-4D97-AF65-F5344CB8AC3E}">
        <p14:creationId xmlns:p14="http://schemas.microsoft.com/office/powerpoint/2010/main" val="11319499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7B4B18-68E4-4BC7-91ED-62C44E8BA39A}"/>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2C40"/>
                </a:solidFill>
                <a:latin typeface="Arial"/>
                <a:ea typeface="Arial"/>
                <a:cs typeface="Arial"/>
              </a:defRPr>
            </a:pPr>
            <a:r>
              <a:rPr sz="3300" b="1">
                <a:solidFill>
                  <a:srgbClr val="142C40"/>
                </a:solidFill>
                <a:latin typeface="Arial"/>
                <a:ea typeface="Arial"/>
                <a:cs typeface="Arial"/>
              </a:rPr>
              <a:t>A* combines cost so far with a lower bound</a:t>
            </a:r>
          </a:p>
        </p:txBody>
      </p:sp>
      <p:sp>
        <p:nvSpPr>
          <p:cNvPr id="2" name="">
            <a:extLst xmlns:a="http://schemas.openxmlformats.org/drawingml/2006/main">
              <a:ext uri="{FF2B5EF4-FFF2-40B4-BE49-F238E27FC236}">
                <a16:creationId xmlns:a16="http://schemas.microsoft.com/office/drawing/2014/main" id="{664804CB-21E2-46D5-9EF9-457ADB53C635}"/>
              </a:ext>
            </a:extLst>
          </p:cNvPr>
          <p:cNvSpPr>
            <a:spLocks xmlns:a="http://schemas.openxmlformats.org/drawingml/2006/main" noGrp="1"/>
          </p:cNvSpPr>
          <p:nvPr/>
        </p:nvSpPr>
        <p:spPr>
          <a:xfrm xmlns:a="http://schemas.openxmlformats.org/drawingml/2006/main">
            <a:off x="628650" y="1190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66979"/>
                </a:solidFill>
                <a:latin typeface="Arial"/>
                <a:ea typeface="Arial"/>
                <a:cs typeface="Arial"/>
              </a:defRPr>
            </a:pPr>
            <a:r>
              <a:rPr sz="1800" b="0">
                <a:solidFill>
                  <a:srgbClr val="566979"/>
                </a:solidFill>
                <a:latin typeface="Arial"/>
                <a:ea typeface="Arial"/>
                <a:cs typeface="Arial"/>
              </a:rPr>
              <a:t>Q4: Manhattan distance for a single destination</a:t>
            </a:r>
          </a:p>
        </p:txBody>
      </p:sp>
      <p:sp>
        <p:nvSpPr>
          <p:cNvPr id="4" name="">
            <a:extLst xmlns:a="http://schemas.openxmlformats.org/drawingml/2006/main">
              <a:ext uri="{FF2B5EF4-FFF2-40B4-BE49-F238E27FC236}">
                <a16:creationId xmlns:a16="http://schemas.microsoft.com/office/drawing/2014/main" id="{687AFACF-A3F0-4AD4-B20A-E48780533EB7}"/>
              </a:ext>
            </a:extLst>
          </p:cNvPr>
          <p:cNvSpPr>
            <a:spLocks xmlns:a="http://schemas.openxmlformats.org/drawingml/2006/main" noGrp="1"/>
          </p:cNvSpPr>
          <p:nvPr/>
        </p:nvSpPr>
        <p:spPr>
          <a:xfrm xmlns:a="http://schemas.openxmlformats.org/drawingml/2006/main">
            <a:off x="666750" y="1952625"/>
            <a:ext cx="4810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087F7B"/>
                </a:solidFill>
                <a:latin typeface="Arial"/>
                <a:ea typeface="Arial"/>
                <a:cs typeface="Arial"/>
              </a:defRPr>
            </a:pPr>
            <a:r>
              <a:rPr sz="4350" b="1">
                <a:solidFill>
                  <a:srgbClr val="087F7B"/>
                </a:solidFill>
                <a:latin typeface="Arial"/>
                <a:ea typeface="Arial"/>
                <a:cs typeface="Arial"/>
              </a:rPr>
              <a:t>f = g + h</a:t>
            </a:r>
          </a:p>
        </p:txBody>
      </p:sp>
      <p:sp>
        <p:nvSpPr>
          <p:cNvPr id="5" name="">
            <a:extLst xmlns:a="http://schemas.openxmlformats.org/drawingml/2006/main">
              <a:ext uri="{FF2B5EF4-FFF2-40B4-BE49-F238E27FC236}">
                <a16:creationId xmlns:a16="http://schemas.microsoft.com/office/drawing/2014/main" id="{E79FDCC5-34C2-4E11-8289-585FE8E83ECC}"/>
              </a:ext>
            </a:extLst>
          </p:cNvPr>
          <p:cNvSpPr>
            <a:spLocks xmlns:a="http://schemas.openxmlformats.org/drawingml/2006/main" noGrp="1"/>
          </p:cNvSpPr>
          <p:nvPr/>
        </p:nvSpPr>
        <p:spPr>
          <a:xfrm xmlns:a="http://schemas.openxmlformats.org/drawingml/2006/main">
            <a:off x="704850" y="3009900"/>
            <a:ext cx="47625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2C40"/>
                </a:solidFill>
                <a:latin typeface="Arial"/>
                <a:ea typeface="Arial"/>
                <a:cs typeface="Arial"/>
              </a:defRPr>
            </a:pPr>
            <a:r>
              <a:rPr sz="2250" b="0">
                <a:solidFill>
                  <a:srgbClr val="142C40"/>
                </a:solidFill>
                <a:latin typeface="Arial"/>
                <a:ea typeface="Arial"/>
                <a:cs typeface="Arial"/>
              </a:rPr>
              <a:t>g: cost already paid</a:t>
            </a:r>
          </a:p>
          <a:p xmlns:a="http://schemas.openxmlformats.org/drawingml/2006/main">
            <a:pPr>
              <a:buNone/>
              <a:defRPr sz="2250" b="0">
                <a:solidFill>
                  <a:srgbClr val="142C40"/>
                </a:solidFill>
                <a:latin typeface="Arial"/>
                <a:ea typeface="Arial"/>
                <a:cs typeface="Arial"/>
              </a:defRPr>
            </a:pPr>
            <a:r>
              <a:rPr sz="2250" b="0">
                <a:solidFill>
                  <a:srgbClr val="142C40"/>
                </a:solidFill>
                <a:latin typeface="Arial"/>
                <a:ea typeface="Arial"/>
                <a:cs typeface="Arial"/>
              </a:rPr>
              <a:t>h: estimated remaining cost</a:t>
            </a:r>
          </a:p>
        </p:txBody>
      </p:sp>
      <p:sp>
        <p:nvSpPr>
          <p:cNvPr id="6" name="">
            <a:extLst xmlns:a="http://schemas.openxmlformats.org/drawingml/2006/main">
              <a:ext uri="{FF2B5EF4-FFF2-40B4-BE49-F238E27FC236}">
                <a16:creationId xmlns:a16="http://schemas.microsoft.com/office/drawing/2014/main" id="{750381C2-CE38-48B6-B3FD-20BCA7001668}"/>
              </a:ext>
            </a:extLst>
          </p:cNvPr>
          <p:cNvSpPr>
            <a:spLocks xmlns:a="http://schemas.openxmlformats.org/drawingml/2006/main" noGrp="1"/>
          </p:cNvSpPr>
          <p:nvPr/>
        </p:nvSpPr>
        <p:spPr>
          <a:xfrm xmlns:a="http://schemas.openxmlformats.org/drawingml/2006/main">
            <a:off x="704850" y="4419600"/>
            <a:ext cx="4619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C40"/>
                </a:solidFill>
                <a:latin typeface="Arial"/>
                <a:ea typeface="Arial"/>
                <a:cs typeface="Arial"/>
              </a:defRPr>
            </a:pPr>
            <a:r>
              <a:rPr sz="2175" b="0">
                <a:solidFill>
                  <a:srgbClr val="142C40"/>
                </a:solidFill>
                <a:latin typeface="Arial"/>
                <a:ea typeface="Arial"/>
                <a:cs typeface="Arial"/>
              </a:rPr>
              <a:t>Manhattan distance ignores walls. Every legal move changes it by at most one.</a:t>
            </a:r>
          </a:p>
        </p:txBody>
      </p:sp>
      <p:graphicFrame>
        <p:nvGraphicFramePr>
          <p:cNvPr id="20" name="Chart"/>
          <p:cNvGraphicFramePr/>
          <p:nvPr/>
        </p:nvGraphicFramePr>
        <p:xfrm>
          <a:off xmlns:a="http://schemas.openxmlformats.org/drawingml/2006/main" x="6105525" y="1866900"/>
          <a:ext xmlns:a="http://schemas.openxmlformats.org/drawingml/2006/main" cx="5343525" cy="3505200"/>
        </p:xfrm>
        <a:graphic xmlns:a="http://schemas.openxmlformats.org/drawingml/2006/main">
          <a:graphicData uri="http://schemas.openxmlformats.org/drawingml/2006/chart">
            <c:chart xmlns:r="http://schemas.openxmlformats.org/officeDocument/2006/relationships" xmlns:c="http://schemas.openxmlformats.org/drawingml/2006/chart" r:id="Rc9031b96bfa34398"/>
          </a:graphicData>
        </a:graphic>
      </p:graphicFrame>
      <p:sp>
        <p:nvSpPr>
          <p:cNvPr id="8" name="">
            <a:extLst xmlns:a="http://schemas.openxmlformats.org/drawingml/2006/main">
              <a:ext uri="{FF2B5EF4-FFF2-40B4-BE49-F238E27FC236}">
                <a16:creationId xmlns:a16="http://schemas.microsoft.com/office/drawing/2014/main" id="{FDB7F9CA-26F4-4C79-A04A-231D40593C57}"/>
              </a:ext>
            </a:extLst>
          </p:cNvPr>
          <p:cNvSpPr>
            <a:spLocks xmlns:a="http://schemas.openxmlformats.org/drawingml/2006/main" noGrp="1"/>
          </p:cNvSpPr>
          <p:nvPr/>
        </p:nvSpPr>
        <p:spPr>
          <a:xfrm xmlns:a="http://schemas.openxmlformats.org/drawingml/2006/main">
            <a:off x="6419850" y="5638800"/>
            <a:ext cx="4876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7F7B"/>
                </a:solidFill>
                <a:latin typeface="Arial"/>
                <a:ea typeface="Arial"/>
                <a:cs typeface="Arial"/>
              </a:defRPr>
            </a:pPr>
            <a:r>
              <a:rPr sz="2175" b="1">
                <a:solidFill>
                  <a:srgbClr val="087F7B"/>
                </a:solidFill>
                <a:latin typeface="Arial"/>
                <a:ea typeface="Arial"/>
                <a:cs typeface="Arial"/>
              </a:rPr>
              <a:t>Both paths cost 210 moves</a:t>
            </a:r>
          </a:p>
        </p:txBody>
      </p:sp>
      <p:sp>
        <p:nvSpPr>
          <p:cNvPr id="11" name="jump-38">
            <a:extLst xmlns:a="http://schemas.openxmlformats.org/drawingml/2006/main">
              <a:ext uri="{FF2B5EF4-FFF2-40B4-BE49-F238E27FC236}">
                <a16:creationId xmlns:a16="http://schemas.microsoft.com/office/drawing/2014/main" id="{3AFDDA2E-C8FB-4F62-85D4-9EB1A32B02AB}"/>
              </a:ext>
            </a:extLst>
            <ns0:hlinkClick xmlns:ns0="http://schemas.openxmlformats.org/drawingml/2006/main" xmlns:ns1="http://schemas.openxmlformats.org/officeDocument/2006/relationships" ns1:id="rIdNav4"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2" name="jump-39">
            <a:extLst xmlns:a="http://schemas.openxmlformats.org/drawingml/2006/main">
              <a:ext uri="{FF2B5EF4-FFF2-40B4-BE49-F238E27FC236}">
                <a16:creationId xmlns:a16="http://schemas.microsoft.com/office/drawing/2014/main" id="{5A410FD0-4EE7-4038-9905-54F8EAB14477}"/>
              </a:ext>
            </a:extLst>
            <ns2:hlinkClick xmlns:ns2="http://schemas.openxmlformats.org/drawingml/2006/main" xmlns:ns3="http://schemas.openxmlformats.org/officeDocument/2006/relationships" ns3:id="rIdNav5" action="ppaction://hlinksldjump" tooltip="Go to slide 7"/>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3" name="jump-40">
            <a:extLst xmlns:a="http://schemas.openxmlformats.org/drawingml/2006/main">
              <a:ext uri="{FF2B5EF4-FFF2-40B4-BE49-F238E27FC236}">
                <a16:creationId xmlns:a16="http://schemas.microsoft.com/office/drawing/2014/main" id="{5E0D875B-0841-4D17-A857-A0861D2DDC4D}"/>
              </a:ext>
            </a:extLst>
            <ns4:hlinkClick xmlns:ns4="http://schemas.openxmlformats.org/drawingml/2006/main" xmlns:ns5="http://schemas.openxmlformats.org/officeDocument/2006/relationships" ns5:id="rIdNav6" action="ppaction://hlinksldjump" tooltip="Go to slide 9"/>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4" name="">
            <a:extLst xmlns:a="http://schemas.openxmlformats.org/drawingml/2006/main">
              <a:ext uri="{FF2B5EF4-FFF2-40B4-BE49-F238E27FC236}">
                <a16:creationId xmlns:a16="http://schemas.microsoft.com/office/drawing/2014/main" id="{2D6707A7-09C0-4B6C-9EBF-47892FD82696}"/>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08</a:t>
            </a:r>
          </a:p>
        </p:txBody>
      </p:sp>
    </p:spTree>
    <p:extLst>
      <p:ext uri="{BB962C8B-B14F-4D97-AF65-F5344CB8AC3E}">
        <p14:creationId xmlns:p14="http://schemas.microsoft.com/office/powerpoint/2010/main" val="32704911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8CE32B-52FB-47E4-9D34-F34C47DDE06C}"/>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2C40"/>
                </a:solidFill>
                <a:latin typeface="Arial"/>
                <a:ea typeface="Arial"/>
                <a:cs typeface="Arial"/>
              </a:defRPr>
            </a:pPr>
            <a:r>
              <a:rPr sz="3300" b="1">
                <a:solidFill>
                  <a:srgbClr val="142C40"/>
                </a:solidFill>
                <a:latin typeface="Arial"/>
                <a:ea typeface="Arial"/>
                <a:cs typeface="Arial"/>
              </a:rPr>
              <a:t>The corner state preserves visit history</a:t>
            </a:r>
          </a:p>
        </p:txBody>
      </p:sp>
      <p:sp>
        <p:nvSpPr>
          <p:cNvPr id="2" name="">
            <a:extLst xmlns:a="http://schemas.openxmlformats.org/drawingml/2006/main">
              <a:ext uri="{FF2B5EF4-FFF2-40B4-BE49-F238E27FC236}">
                <a16:creationId xmlns:a16="http://schemas.microsoft.com/office/drawing/2014/main" id="{1BFE50E7-EDC8-425E-8854-FB3424813BED}"/>
              </a:ext>
            </a:extLst>
          </p:cNvPr>
          <p:cNvSpPr>
            <a:spLocks xmlns:a="http://schemas.openxmlformats.org/drawingml/2006/main" noGrp="1"/>
          </p:cNvSpPr>
          <p:nvPr/>
        </p:nvSpPr>
        <p:spPr>
          <a:xfrm xmlns:a="http://schemas.openxmlformats.org/drawingml/2006/main">
            <a:off x="628650" y="1190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66979"/>
                </a:solidFill>
                <a:latin typeface="Arial"/>
                <a:ea typeface="Arial"/>
                <a:cs typeface="Arial"/>
              </a:defRPr>
            </a:pPr>
            <a:r>
              <a:rPr sz="1800" b="0">
                <a:solidFill>
                  <a:srgbClr val="566979"/>
                </a:solidFill>
                <a:latin typeface="Arial"/>
                <a:ea typeface="Arial"/>
                <a:cs typeface="Arial"/>
              </a:rPr>
              <a:t>Q5: position and a four-bit mask</a:t>
            </a:r>
          </a:p>
        </p:txBody>
      </p:sp>
      <p:sp>
        <p:nvSpPr>
          <p:cNvPr id="4" name="">
            <a:extLst xmlns:a="http://schemas.openxmlformats.org/drawingml/2006/main">
              <a:ext uri="{FF2B5EF4-FFF2-40B4-BE49-F238E27FC236}">
                <a16:creationId xmlns:a16="http://schemas.microsoft.com/office/drawing/2014/main" id="{0DF03AA7-616F-4CC9-AE7A-699C1866FFDE}"/>
              </a:ext>
            </a:extLst>
          </p:cNvPr>
          <p:cNvSpPr>
            <a:spLocks xmlns:a="http://schemas.openxmlformats.org/drawingml/2006/main" noGrp="1"/>
          </p:cNvSpPr>
          <p:nvPr/>
        </p:nvSpPr>
        <p:spPr>
          <a:xfrm xmlns:a="http://schemas.openxmlformats.org/drawingml/2006/main">
            <a:off x="666750" y="19621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087F7B"/>
                </a:solidFill>
                <a:latin typeface="Arial"/>
                <a:ea typeface="Arial"/>
                <a:cs typeface="Arial"/>
              </a:defRPr>
            </a:pPr>
            <a:r>
              <a:rPr sz="3225" b="1">
                <a:solidFill>
                  <a:srgbClr val="087F7B"/>
                </a:solidFill>
                <a:latin typeface="Arial"/>
                <a:ea typeface="Arial"/>
                <a:cs typeface="Arial"/>
              </a:rPr>
              <a:t>state = ((x, y), visited_mask)</a:t>
            </a:r>
          </a:p>
        </p:txBody>
      </p:sp>
      <p:graphicFrame>
        <p:nvGraphicFramePr>
          <p:cNvPr id="17" name=""/>
          <p:cNvGraphicFramePr/>
          <p:nvPr/>
        </p:nvGraphicFramePr>
        <p:xfrm>
          <a:off xmlns:a="http://schemas.openxmlformats.org/drawingml/2006/main" x="666750" y="3028950"/>
          <a:ext xmlns:a="http://schemas.openxmlformats.org/drawingml/2006/main" cx="6791325" cy="2562225"/>
        </p:xfrm>
        <a:graphic xmlns:a="http://schemas.openxmlformats.org/drawingml/2006/main">
          <a:graphicData uri="http://schemas.openxmlformats.org/drawingml/2006/table">
            <a:tbl>
              <a:tblPr firstRow="1" bandRow="0"/>
              <a:tblGrid>
                <a:gridCol w="952500"/>
                <a:gridCol w="3362325"/>
                <a:gridCol w="2476500"/>
              </a:tblGrid>
              <a:tr h="512445">
                <a:tc>
                  <a:txBody>
                    <a:bodyPr/>
                    <a:lstStyle/>
                    <a:p>
                      <a:r>
                        <a:rPr sz="1800" b="1">
                          <a:solidFill>
                            <a:srgbClr val="FFFFFF"/>
                          </a:solidFill>
                          <a:latin typeface="Arial"/>
                          <a:ea typeface="Arial"/>
                          <a:cs typeface="Arial"/>
                        </a:rPr>
                        <a:t>Bit</a:t>
                      </a:r>
                    </a:p>
                  </a:txBody>
                  <a:tcPr marL="123825" marR="123825" marT="114300" marB="114300" anchor="ctr">
                    <a:solidFill>
                      <a:srgbClr val="142C40"/>
                    </a:solidFill>
                  </a:tcPr>
                </a:tc>
                <a:tc>
                  <a:txBody>
                    <a:bodyPr/>
                    <a:lstStyle/>
                    <a:p>
                      <a:r>
                        <a:rPr sz="1800" b="1">
                          <a:solidFill>
                            <a:srgbClr val="FFFFFF"/>
                          </a:solidFill>
                          <a:latin typeface="Arial"/>
                          <a:ea typeface="Arial"/>
                          <a:cs typeface="Arial"/>
                        </a:rPr>
                        <a:t>Corner</a:t>
                      </a:r>
                    </a:p>
                  </a:txBody>
                  <a:tcPr marL="123825" marR="123825" marT="114300" marB="114300" anchor="ctr">
                    <a:solidFill>
                      <a:srgbClr val="142C40"/>
                    </a:solidFill>
                  </a:tcPr>
                </a:tc>
                <a:tc>
                  <a:txBody>
                    <a:bodyPr/>
                    <a:lstStyle/>
                    <a:p>
                      <a:r>
                        <a:rPr sz="1800" b="1">
                          <a:solidFill>
                            <a:srgbClr val="FFFFFF"/>
                          </a:solidFill>
                          <a:latin typeface="Arial"/>
                          <a:ea typeface="Arial"/>
                          <a:cs typeface="Arial"/>
                        </a:rPr>
                        <a:t>Example 0101</a:t>
                      </a:r>
                    </a:p>
                  </a:txBody>
                  <a:tcPr marL="123825" marR="123825" marT="114300" marB="114300" anchor="ctr">
                    <a:solidFill>
                      <a:srgbClr val="142C40"/>
                    </a:solidFill>
                  </a:tcPr>
                </a:tc>
              </a:tr>
              <a:tr h="512445">
                <a:tc>
                  <a:txBody>
                    <a:bodyPr/>
                    <a:lstStyle/>
                    <a:p>
                      <a:r>
                        <a:rPr sz="1875" b="0">
                          <a:solidFill>
                            <a:srgbClr val="142C40"/>
                          </a:solidFill>
                          <a:latin typeface="Arial"/>
                          <a:ea typeface="Arial"/>
                          <a:cs typeface="Arial"/>
                        </a:rPr>
                        <a:t>0</a:t>
                      </a:r>
                    </a:p>
                  </a:txBody>
                  <a:tcPr marL="123825" marR="123825" marT="114300" marB="114300" anchor="ctr">
                    <a:solidFill>
                      <a:srgbClr val="FFFFFF"/>
                    </a:solidFill>
                  </a:tcPr>
                </a:tc>
                <a:tc>
                  <a:txBody>
                    <a:bodyPr/>
                    <a:lstStyle/>
                    <a:p>
                      <a:r>
                        <a:rPr sz="1875" b="0">
                          <a:solidFill>
                            <a:srgbClr val="142C40"/>
                          </a:solidFill>
                          <a:latin typeface="Arial"/>
                          <a:ea typeface="Arial"/>
                          <a:cs typeface="Arial"/>
                        </a:rPr>
                        <a:t>Bottom-left</a:t>
                      </a:r>
                    </a:p>
                  </a:txBody>
                  <a:tcPr marL="123825" marR="123825" marT="114300" marB="114300" anchor="ctr">
                    <a:solidFill>
                      <a:srgbClr val="FFFFFF"/>
                    </a:solidFill>
                  </a:tcPr>
                </a:tc>
                <a:tc>
                  <a:txBody>
                    <a:bodyPr/>
                    <a:lstStyle/>
                    <a:p>
                      <a:r>
                        <a:rPr sz="1875" b="0">
                          <a:solidFill>
                            <a:srgbClr val="142C40"/>
                          </a:solidFill>
                          <a:latin typeface="Arial"/>
                          <a:ea typeface="Arial"/>
                          <a:cs typeface="Arial"/>
                        </a:rPr>
                        <a:t>Visited</a:t>
                      </a:r>
                    </a:p>
                  </a:txBody>
                  <a:tcPr marL="123825" marR="123825" marT="114300" marB="114300" anchor="ctr">
                    <a:solidFill>
                      <a:srgbClr val="FFFFFF"/>
                    </a:solidFill>
                  </a:tcPr>
                </a:tc>
              </a:tr>
              <a:tr h="512445">
                <a:tc>
                  <a:txBody>
                    <a:bodyPr/>
                    <a:lstStyle/>
                    <a:p>
                      <a:r>
                        <a:rPr sz="1875" b="0">
                          <a:solidFill>
                            <a:srgbClr val="142C40"/>
                          </a:solidFill>
                          <a:latin typeface="Arial"/>
                          <a:ea typeface="Arial"/>
                          <a:cs typeface="Arial"/>
                        </a:rPr>
                        <a:t>1</a:t>
                      </a:r>
                    </a:p>
                  </a:txBody>
                  <a:tcPr marL="123825" marR="123825" marT="114300" marB="114300" anchor="ctr">
                    <a:solidFill>
                      <a:srgbClr val="EDF3F5"/>
                    </a:solidFill>
                  </a:tcPr>
                </a:tc>
                <a:tc>
                  <a:txBody>
                    <a:bodyPr/>
                    <a:lstStyle/>
                    <a:p>
                      <a:r>
                        <a:rPr sz="1875" b="0">
                          <a:solidFill>
                            <a:srgbClr val="142C40"/>
                          </a:solidFill>
                          <a:latin typeface="Arial"/>
                          <a:ea typeface="Arial"/>
                          <a:cs typeface="Arial"/>
                        </a:rPr>
                        <a:t>Top-left</a:t>
                      </a:r>
                    </a:p>
                  </a:txBody>
                  <a:tcPr marL="123825" marR="123825" marT="114300" marB="114300" anchor="ctr">
                    <a:solidFill>
                      <a:srgbClr val="EDF3F5"/>
                    </a:solidFill>
                  </a:tcPr>
                </a:tc>
                <a:tc>
                  <a:txBody>
                    <a:bodyPr/>
                    <a:lstStyle/>
                    <a:p>
                      <a:r>
                        <a:rPr sz="1875" b="0">
                          <a:solidFill>
                            <a:srgbClr val="142C40"/>
                          </a:solidFill>
                          <a:latin typeface="Arial"/>
                          <a:ea typeface="Arial"/>
                          <a:cs typeface="Arial"/>
                        </a:rPr>
                        <a:t>Unvisited</a:t>
                      </a:r>
                    </a:p>
                  </a:txBody>
                  <a:tcPr marL="123825" marR="123825" marT="114300" marB="114300" anchor="ctr">
                    <a:solidFill>
                      <a:srgbClr val="EDF3F5"/>
                    </a:solidFill>
                  </a:tcPr>
                </a:tc>
              </a:tr>
              <a:tr h="512445">
                <a:tc>
                  <a:txBody>
                    <a:bodyPr/>
                    <a:lstStyle/>
                    <a:p>
                      <a:r>
                        <a:rPr sz="1875" b="0">
                          <a:solidFill>
                            <a:srgbClr val="142C40"/>
                          </a:solidFill>
                          <a:latin typeface="Arial"/>
                          <a:ea typeface="Arial"/>
                          <a:cs typeface="Arial"/>
                        </a:rPr>
                        <a:t>2</a:t>
                      </a:r>
                    </a:p>
                  </a:txBody>
                  <a:tcPr marL="123825" marR="123825" marT="114300" marB="114300" anchor="ctr">
                    <a:solidFill>
                      <a:srgbClr val="FFFFFF"/>
                    </a:solidFill>
                  </a:tcPr>
                </a:tc>
                <a:tc>
                  <a:txBody>
                    <a:bodyPr/>
                    <a:lstStyle/>
                    <a:p>
                      <a:r>
                        <a:rPr sz="1875" b="0">
                          <a:solidFill>
                            <a:srgbClr val="142C40"/>
                          </a:solidFill>
                          <a:latin typeface="Arial"/>
                          <a:ea typeface="Arial"/>
                          <a:cs typeface="Arial"/>
                        </a:rPr>
                        <a:t>Bottom-right</a:t>
                      </a:r>
                    </a:p>
                  </a:txBody>
                  <a:tcPr marL="123825" marR="123825" marT="114300" marB="114300" anchor="ctr">
                    <a:solidFill>
                      <a:srgbClr val="FFFFFF"/>
                    </a:solidFill>
                  </a:tcPr>
                </a:tc>
                <a:tc>
                  <a:txBody>
                    <a:bodyPr/>
                    <a:lstStyle/>
                    <a:p>
                      <a:r>
                        <a:rPr sz="1875" b="0">
                          <a:solidFill>
                            <a:srgbClr val="142C40"/>
                          </a:solidFill>
                          <a:latin typeface="Arial"/>
                          <a:ea typeface="Arial"/>
                          <a:cs typeface="Arial"/>
                        </a:rPr>
                        <a:t>Visited</a:t>
                      </a:r>
                    </a:p>
                  </a:txBody>
                  <a:tcPr marL="123825" marR="123825" marT="114300" marB="114300" anchor="ctr">
                    <a:solidFill>
                      <a:srgbClr val="FFFFFF"/>
                    </a:solidFill>
                  </a:tcPr>
                </a:tc>
              </a:tr>
              <a:tr h="512445">
                <a:tc>
                  <a:txBody>
                    <a:bodyPr/>
                    <a:lstStyle/>
                    <a:p>
                      <a:r>
                        <a:rPr sz="1875" b="0">
                          <a:solidFill>
                            <a:srgbClr val="142C40"/>
                          </a:solidFill>
                          <a:latin typeface="Arial"/>
                          <a:ea typeface="Arial"/>
                          <a:cs typeface="Arial"/>
                        </a:rPr>
                        <a:t>3</a:t>
                      </a:r>
                    </a:p>
                  </a:txBody>
                  <a:tcPr marL="123825" marR="123825" marT="114300" marB="114300" anchor="ctr">
                    <a:solidFill>
                      <a:srgbClr val="EDF3F5"/>
                    </a:solidFill>
                  </a:tcPr>
                </a:tc>
                <a:tc>
                  <a:txBody>
                    <a:bodyPr/>
                    <a:lstStyle/>
                    <a:p>
                      <a:r>
                        <a:rPr sz="1875" b="0">
                          <a:solidFill>
                            <a:srgbClr val="142C40"/>
                          </a:solidFill>
                          <a:latin typeface="Arial"/>
                          <a:ea typeface="Arial"/>
                          <a:cs typeface="Arial"/>
                        </a:rPr>
                        <a:t>Top-right</a:t>
                      </a:r>
                    </a:p>
                  </a:txBody>
                  <a:tcPr marL="123825" marR="123825" marT="114300" marB="114300" anchor="ctr">
                    <a:solidFill>
                      <a:srgbClr val="EDF3F5"/>
                    </a:solidFill>
                  </a:tcPr>
                </a:tc>
                <a:tc>
                  <a:txBody>
                    <a:bodyPr/>
                    <a:lstStyle/>
                    <a:p>
                      <a:r>
                        <a:rPr sz="1875" b="0">
                          <a:solidFill>
                            <a:srgbClr val="142C40"/>
                          </a:solidFill>
                          <a:latin typeface="Arial"/>
                          <a:ea typeface="Arial"/>
                          <a:cs typeface="Arial"/>
                        </a:rPr>
                        <a:t>Unvisited</a:t>
                      </a:r>
                    </a:p>
                  </a:txBody>
                  <a:tcPr marL="123825" marR="123825" marT="114300" marB="114300" anchor="ctr">
                    <a:solidFill>
                      <a:srgbClr val="EDF3F5"/>
                    </a:solidFill>
                  </a:tcPr>
                </a:tc>
              </a:tr>
            </a:tbl>
          </a:graphicData>
        </a:graphic>
      </p:graphicFrame>
      <p:sp>
        <p:nvSpPr>
          <p:cNvPr id="6" name="">
            <a:extLst xmlns:a="http://schemas.openxmlformats.org/drawingml/2006/main">
              <a:ext uri="{FF2B5EF4-FFF2-40B4-BE49-F238E27FC236}">
                <a16:creationId xmlns:a16="http://schemas.microsoft.com/office/drawing/2014/main" id="{83DFA6D1-01A0-4A7D-B2FB-D3A1DF7048F9}"/>
              </a:ext>
            </a:extLst>
          </p:cNvPr>
          <p:cNvSpPr>
            <a:spLocks xmlns:a="http://schemas.openxmlformats.org/drawingml/2006/main" noGrp="1"/>
          </p:cNvSpPr>
          <p:nvPr/>
        </p:nvSpPr>
        <p:spPr>
          <a:xfrm xmlns:a="http://schemas.openxmlformats.org/drawingml/2006/main">
            <a:off x="8153400" y="3114675"/>
            <a:ext cx="3286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C40"/>
                </a:solidFill>
                <a:latin typeface="Arial"/>
                <a:ea typeface="Arial"/>
                <a:cs typeface="Arial"/>
              </a:defRPr>
            </a:pPr>
            <a:r>
              <a:rPr sz="2100" b="0">
                <a:solidFill>
                  <a:srgbClr val="142C40"/>
                </a:solidFill>
                <a:latin typeface="Arial"/>
                <a:ea typeface="Arial"/>
                <a:cs typeface="Arial"/>
              </a:rPr>
              <a:t>A corner at the starting</a:t>
            </a:r>
          </a:p>
          <a:p xmlns:a="http://schemas.openxmlformats.org/drawingml/2006/main">
            <a:pPr>
              <a:buNone/>
              <a:defRPr sz="2100" b="0">
                <a:solidFill>
                  <a:srgbClr val="142C40"/>
                </a:solidFill>
                <a:latin typeface="Arial"/>
                <a:ea typeface="Arial"/>
                <a:cs typeface="Arial"/>
              </a:defRPr>
            </a:pPr>
            <a:r>
              <a:rPr sz="2100" b="0">
                <a:solidFill>
                  <a:srgbClr val="142C40"/>
                </a:solidFill>
                <a:latin typeface="Arial"/>
                <a:ea typeface="Arial"/>
                <a:cs typeface="Arial"/>
              </a:rPr>
              <a:t>position counts as visited.</a:t>
            </a:r>
          </a:p>
        </p:txBody>
      </p:sp>
      <p:sp>
        <p:nvSpPr>
          <p:cNvPr id="7" name="">
            <a:extLst xmlns:a="http://schemas.openxmlformats.org/drawingml/2006/main">
              <a:ext uri="{FF2B5EF4-FFF2-40B4-BE49-F238E27FC236}">
                <a16:creationId xmlns:a16="http://schemas.microsoft.com/office/drawing/2014/main" id="{A7CE5A3B-5935-433B-8BB6-640284DAB4B3}"/>
              </a:ext>
            </a:extLst>
          </p:cNvPr>
          <p:cNvSpPr>
            <a:spLocks xmlns:a="http://schemas.openxmlformats.org/drawingml/2006/main" noGrp="1"/>
          </p:cNvSpPr>
          <p:nvPr/>
        </p:nvSpPr>
        <p:spPr>
          <a:xfrm xmlns:a="http://schemas.openxmlformats.org/drawingml/2006/main">
            <a:off x="8153400" y="4591050"/>
            <a:ext cx="3190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087F7B"/>
                </a:solidFill>
                <a:latin typeface="Arial"/>
                <a:ea typeface="Arial"/>
                <a:cs typeface="Arial"/>
              </a:defRPr>
            </a:pPr>
            <a:r>
              <a:rPr sz="2475" b="1">
                <a:solidFill>
                  <a:srgbClr val="087F7B"/>
                </a:solidFill>
                <a:latin typeface="Arial"/>
                <a:ea typeface="Arial"/>
                <a:cs typeface="Arial"/>
              </a:rPr>
              <a:t>Goal mask</a:t>
            </a:r>
          </a:p>
          <a:p xmlns:a="http://schemas.openxmlformats.org/drawingml/2006/main">
            <a:pPr>
              <a:buNone/>
              <a:defRPr sz="2475" b="1">
                <a:solidFill>
                  <a:srgbClr val="087F7B"/>
                </a:solidFill>
                <a:latin typeface="Arial"/>
                <a:ea typeface="Arial"/>
                <a:cs typeface="Arial"/>
              </a:defRPr>
            </a:pPr>
            <a:r>
              <a:rPr sz="2475" b="1">
                <a:solidFill>
                  <a:srgbClr val="087F7B"/>
                </a:solidFill>
                <a:latin typeface="Arial"/>
                <a:ea typeface="Arial"/>
                <a:cs typeface="Arial"/>
              </a:rPr>
              <a:t>1111 = 15</a:t>
            </a:r>
          </a:p>
        </p:txBody>
      </p:sp>
      <p:sp>
        <p:nvSpPr>
          <p:cNvPr id="10" name="jump-41">
            <a:extLst xmlns:a="http://schemas.openxmlformats.org/drawingml/2006/main">
              <a:ext uri="{FF2B5EF4-FFF2-40B4-BE49-F238E27FC236}">
                <a16:creationId xmlns:a16="http://schemas.microsoft.com/office/drawing/2014/main" id="{A38B7BEA-A452-4FE5-981C-611329B70855}"/>
              </a:ext>
            </a:extLst>
            <ns0:hlinkClick xmlns:ns0="http://schemas.openxmlformats.org/drawingml/2006/main" xmlns:ns1="http://schemas.openxmlformats.org/officeDocument/2006/relationships" ns1:id="rIdNav3"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1" name="jump-42">
            <a:extLst xmlns:a="http://schemas.openxmlformats.org/drawingml/2006/main">
              <a:ext uri="{FF2B5EF4-FFF2-40B4-BE49-F238E27FC236}">
                <a16:creationId xmlns:a16="http://schemas.microsoft.com/office/drawing/2014/main" id="{EC417680-AC36-4246-910B-B74954260304}"/>
              </a:ext>
            </a:extLst>
            <ns2:hlinkClick xmlns:ns2="http://schemas.openxmlformats.org/drawingml/2006/main" xmlns:ns3="http://schemas.openxmlformats.org/officeDocument/2006/relationships" ns3:id="rIdNav4" action="ppaction://hlinksldjump" tooltip="Go to slide 8"/>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2" name="jump-43">
            <a:extLst xmlns:a="http://schemas.openxmlformats.org/drawingml/2006/main">
              <a:ext uri="{FF2B5EF4-FFF2-40B4-BE49-F238E27FC236}">
                <a16:creationId xmlns:a16="http://schemas.microsoft.com/office/drawing/2014/main" id="{EB757529-4E25-4674-9262-DB25DFA1B905}"/>
              </a:ext>
            </a:extLst>
            <ns4:hlinkClick xmlns:ns4="http://schemas.openxmlformats.org/drawingml/2006/main" xmlns:ns5="http://schemas.openxmlformats.org/officeDocument/2006/relationships" ns5:id="rIdNav5" action="ppaction://hlinksldjump" tooltip="Go to slide 10"/>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3" name="">
            <a:extLst xmlns:a="http://schemas.openxmlformats.org/drawingml/2006/main">
              <a:ext uri="{FF2B5EF4-FFF2-40B4-BE49-F238E27FC236}">
                <a16:creationId xmlns:a16="http://schemas.microsoft.com/office/drawing/2014/main" id="{98236D61-4051-4E6B-A3C3-76D702D841B0}"/>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09</a:t>
            </a:r>
          </a:p>
        </p:txBody>
      </p:sp>
    </p:spTree>
    <p:extLst>
      <p:ext uri="{BB962C8B-B14F-4D97-AF65-F5344CB8AC3E}">
        <p14:creationId xmlns:p14="http://schemas.microsoft.com/office/powerpoint/2010/main" val="19473836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24E689-15BF-4431-829C-FA621288EF6F}"/>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2C40"/>
                </a:solidFill>
                <a:latin typeface="Arial"/>
                <a:ea typeface="Arial"/>
                <a:cs typeface="Arial"/>
              </a:defRPr>
            </a:pPr>
            <a:r>
              <a:rPr sz="3300" b="1">
                <a:solidFill>
                  <a:srgbClr val="142C40"/>
                </a:solidFill>
                <a:latin typeface="Arial"/>
                <a:ea typeface="Arial"/>
                <a:cs typeface="Arial"/>
              </a:rPr>
              <a:t>A relaxed corner tour reduces search</a:t>
            </a:r>
          </a:p>
        </p:txBody>
      </p:sp>
      <p:sp>
        <p:nvSpPr>
          <p:cNvPr id="2" name="">
            <a:extLst xmlns:a="http://schemas.openxmlformats.org/drawingml/2006/main">
              <a:ext uri="{FF2B5EF4-FFF2-40B4-BE49-F238E27FC236}">
                <a16:creationId xmlns:a16="http://schemas.microsoft.com/office/drawing/2014/main" id="{70E4B9BC-DB72-44BE-B1CD-1ED9CA3FB6DD}"/>
              </a:ext>
            </a:extLst>
          </p:cNvPr>
          <p:cNvSpPr>
            <a:spLocks xmlns:a="http://schemas.openxmlformats.org/drawingml/2006/main" noGrp="1"/>
          </p:cNvSpPr>
          <p:nvPr/>
        </p:nvSpPr>
        <p:spPr>
          <a:xfrm xmlns:a="http://schemas.openxmlformats.org/drawingml/2006/main">
            <a:off x="628650" y="1190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66979"/>
                </a:solidFill>
                <a:latin typeface="Arial"/>
                <a:ea typeface="Arial"/>
                <a:cs typeface="Arial"/>
              </a:defRPr>
            </a:pPr>
            <a:r>
              <a:rPr sz="1800" b="0">
                <a:solidFill>
                  <a:srgbClr val="566979"/>
                </a:solidFill>
                <a:latin typeface="Arial"/>
                <a:ea typeface="Arial"/>
                <a:cs typeface="Arial"/>
              </a:rPr>
              <a:t>Q6: choose the cheapest Manhattan visit order</a:t>
            </a:r>
          </a:p>
        </p:txBody>
      </p:sp>
      <p:sp>
        <p:nvSpPr>
          <p:cNvPr id="4" name="">
            <a:extLst xmlns:a="http://schemas.openxmlformats.org/drawingml/2006/main">
              <a:ext uri="{FF2B5EF4-FFF2-40B4-BE49-F238E27FC236}">
                <a16:creationId xmlns:a16="http://schemas.microsoft.com/office/drawing/2014/main" id="{198D0A68-00E7-4659-98FB-DE11B444D9E6}"/>
              </a:ext>
            </a:extLst>
          </p:cNvPr>
          <p:cNvSpPr>
            <a:spLocks xmlns:a="http://schemas.openxmlformats.org/drawingml/2006/main" noGrp="1"/>
          </p:cNvSpPr>
          <p:nvPr/>
        </p:nvSpPr>
        <p:spPr>
          <a:xfrm xmlns:a="http://schemas.openxmlformats.org/drawingml/2006/main">
            <a:off x="666750" y="2009775"/>
            <a:ext cx="52197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C40"/>
                </a:solidFill>
                <a:latin typeface="Arial"/>
                <a:ea typeface="Arial"/>
                <a:cs typeface="Arial"/>
              </a:defRPr>
            </a:pPr>
            <a:r>
              <a:rPr sz="2325" b="1">
                <a:solidFill>
                  <a:srgbClr val="142C40"/>
                </a:solidFill>
                <a:latin typeface="Arial"/>
                <a:ea typeface="Arial"/>
                <a:cs typeface="Arial"/>
              </a:rPr>
              <a:t>Ignore walls.</a:t>
            </a:r>
          </a:p>
          <a:p xmlns:a="http://schemas.openxmlformats.org/drawingml/2006/main">
            <a:pPr>
              <a:buNone/>
              <a:defRPr sz="2325" b="1">
                <a:solidFill>
                  <a:srgbClr val="142C40"/>
                </a:solidFill>
                <a:latin typeface="Arial"/>
                <a:ea typeface="Arial"/>
                <a:cs typeface="Arial"/>
              </a:defRPr>
            </a:pPr>
            <a:r>
              <a:rPr sz="2325" b="1">
                <a:solidFill>
                  <a:srgbClr val="142C40"/>
                </a:solidFill>
                <a:latin typeface="Arial"/>
                <a:ea typeface="Arial"/>
                <a:cs typeface="Arial"/>
              </a:rPr>
              <a:t>Try every remaining corner order.</a:t>
            </a:r>
          </a:p>
          <a:p xmlns:a="http://schemas.openxmlformats.org/drawingml/2006/main">
            <a:pPr>
              <a:buNone/>
              <a:defRPr sz="2325" b="1">
                <a:solidFill>
                  <a:srgbClr val="142C40"/>
                </a:solidFill>
                <a:latin typeface="Arial"/>
                <a:ea typeface="Arial"/>
                <a:cs typeface="Arial"/>
              </a:defRPr>
            </a:pPr>
            <a:r>
              <a:rPr sz="2325" b="1">
                <a:solidFill>
                  <a:srgbClr val="142C40"/>
                </a:solidFill>
                <a:latin typeface="Arial"/>
                <a:ea typeface="Arial"/>
                <a:cs typeface="Arial"/>
              </a:rPr>
              <a:t>Return the smallest tour cost.</a:t>
            </a:r>
          </a:p>
        </p:txBody>
      </p:sp>
      <p:sp>
        <p:nvSpPr>
          <p:cNvPr id="5" name="">
            <a:extLst xmlns:a="http://schemas.openxmlformats.org/drawingml/2006/main">
              <a:ext uri="{FF2B5EF4-FFF2-40B4-BE49-F238E27FC236}">
                <a16:creationId xmlns:a16="http://schemas.microsoft.com/office/drawing/2014/main" id="{76C5F555-B256-471E-817E-8281B1AADE63}"/>
              </a:ext>
            </a:extLst>
          </p:cNvPr>
          <p:cNvSpPr>
            <a:spLocks xmlns:a="http://schemas.openxmlformats.org/drawingml/2006/main" noGrp="1"/>
          </p:cNvSpPr>
          <p:nvPr/>
        </p:nvSpPr>
        <p:spPr>
          <a:xfrm xmlns:a="http://schemas.openxmlformats.org/drawingml/2006/main">
            <a:off x="685800" y="3952875"/>
            <a:ext cx="5000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66979"/>
                </a:solidFill>
                <a:latin typeface="Arial"/>
                <a:ea typeface="Arial"/>
                <a:cs typeface="Arial"/>
              </a:defRPr>
            </a:pPr>
            <a:r>
              <a:rPr sz="2025" b="0">
                <a:solidFill>
                  <a:srgbClr val="566979"/>
                </a:solidFill>
                <a:latin typeface="Arial"/>
                <a:ea typeface="Arial"/>
                <a:cs typeface="Arial"/>
              </a:rPr>
              <a:t>At most 4! = 24 orders</a:t>
            </a:r>
          </a:p>
          <a:p xmlns:a="http://schemas.openxmlformats.org/drawingml/2006/main">
            <a:pPr>
              <a:buNone/>
              <a:defRPr sz="2025" b="0">
                <a:solidFill>
                  <a:srgbClr val="566979"/>
                </a:solidFill>
                <a:latin typeface="Arial"/>
                <a:ea typeface="Arial"/>
                <a:cs typeface="Arial"/>
              </a:defRPr>
            </a:pPr>
            <a:r>
              <a:rPr sz="2025" b="0">
                <a:solidFill>
                  <a:srgbClr val="566979"/>
                </a:solidFill>
                <a:latin typeface="Arial"/>
                <a:ea typeface="Arial"/>
                <a:cs typeface="Arial"/>
              </a:rPr>
              <a:t>Cache the corner-to-corner cost</a:t>
            </a:r>
          </a:p>
        </p:txBody>
      </p:sp>
      <p:graphicFrame>
        <p:nvGraphicFramePr>
          <p:cNvPr id="18" name="Chart"/>
          <p:cNvGraphicFramePr/>
          <p:nvPr/>
        </p:nvGraphicFramePr>
        <p:xfrm>
          <a:off xmlns:a="http://schemas.openxmlformats.org/drawingml/2006/main" x="6162675" y="1895475"/>
          <a:ext xmlns:a="http://schemas.openxmlformats.org/drawingml/2006/main" cx="5248275" cy="3419475"/>
        </p:xfrm>
        <a:graphic xmlns:a="http://schemas.openxmlformats.org/drawingml/2006/main">
          <a:graphicData uri="http://schemas.openxmlformats.org/drawingml/2006/chart">
            <c:chart xmlns:r="http://schemas.openxmlformats.org/officeDocument/2006/relationships" xmlns:c="http://schemas.openxmlformats.org/drawingml/2006/chart" r:id="Re448996d86c74d0b"/>
          </a:graphicData>
        </a:graphic>
      </p:graphicFrame>
      <p:sp>
        <p:nvSpPr>
          <p:cNvPr id="7" name="">
            <a:extLst xmlns:a="http://schemas.openxmlformats.org/drawingml/2006/main">
              <a:ext uri="{FF2B5EF4-FFF2-40B4-BE49-F238E27FC236}">
                <a16:creationId xmlns:a16="http://schemas.microsoft.com/office/drawing/2014/main" id="{1F2CE1EC-1C56-4619-8524-AB6BF294CBFD}"/>
              </a:ext>
            </a:extLst>
          </p:cNvPr>
          <p:cNvSpPr>
            <a:spLocks xmlns:a="http://schemas.openxmlformats.org/drawingml/2006/main" noGrp="1"/>
          </p:cNvSpPr>
          <p:nvPr/>
        </p:nvSpPr>
        <p:spPr>
          <a:xfrm xmlns:a="http://schemas.openxmlformats.org/drawingml/2006/main">
            <a:off x="6296025" y="5562600"/>
            <a:ext cx="51911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7F7B"/>
                </a:solidFill>
                <a:latin typeface="Arial"/>
                <a:ea typeface="Arial"/>
                <a:cs typeface="Arial"/>
              </a:defRPr>
            </a:pPr>
            <a:r>
              <a:rPr sz="2175" b="1">
                <a:solidFill>
                  <a:srgbClr val="087F7B"/>
                </a:solidFill>
                <a:latin typeface="Arial"/>
                <a:ea typeface="Arial"/>
                <a:cs typeface="Arial"/>
              </a:rPr>
              <a:t>106 moves with both methods</a:t>
            </a:r>
          </a:p>
        </p:txBody>
      </p:sp>
      <p:sp>
        <p:nvSpPr>
          <p:cNvPr id="10" name="jump-44">
            <a:extLst xmlns:a="http://schemas.openxmlformats.org/drawingml/2006/main">
              <a:ext uri="{FF2B5EF4-FFF2-40B4-BE49-F238E27FC236}">
                <a16:creationId xmlns:a16="http://schemas.microsoft.com/office/drawing/2014/main" id="{30C1AF5D-2410-4024-B224-8AE57E525D6D}"/>
              </a:ext>
            </a:extLst>
            <ns0:hlinkClick xmlns:ns0="http://schemas.openxmlformats.org/drawingml/2006/main" xmlns:ns1="http://schemas.openxmlformats.org/officeDocument/2006/relationships" ns1:id="rIdNav4"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1" name="jump-45">
            <a:extLst xmlns:a="http://schemas.openxmlformats.org/drawingml/2006/main">
              <a:ext uri="{FF2B5EF4-FFF2-40B4-BE49-F238E27FC236}">
                <a16:creationId xmlns:a16="http://schemas.microsoft.com/office/drawing/2014/main" id="{B559499A-2A08-4406-A5FC-4A9CA873F03A}"/>
              </a:ext>
            </a:extLst>
            <ns2:hlinkClick xmlns:ns2="http://schemas.openxmlformats.org/drawingml/2006/main" xmlns:ns3="http://schemas.openxmlformats.org/officeDocument/2006/relationships" ns3:id="rIdNav5" action="ppaction://hlinksldjump" tooltip="Go to slide 9"/>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2" name="jump-46">
            <a:extLst xmlns:a="http://schemas.openxmlformats.org/drawingml/2006/main">
              <a:ext uri="{FF2B5EF4-FFF2-40B4-BE49-F238E27FC236}">
                <a16:creationId xmlns:a16="http://schemas.microsoft.com/office/drawing/2014/main" id="{CB30A74D-D66D-4E06-B2E8-1B767510A0F9}"/>
              </a:ext>
            </a:extLst>
            <ns4:hlinkClick xmlns:ns4="http://schemas.openxmlformats.org/drawingml/2006/main" xmlns:ns5="http://schemas.openxmlformats.org/officeDocument/2006/relationships" ns5:id="rIdNav6" action="ppaction://hlinksldjump" tooltip="Go to slide 11"/>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3" name="">
            <a:extLst xmlns:a="http://schemas.openxmlformats.org/drawingml/2006/main">
              <a:ext uri="{FF2B5EF4-FFF2-40B4-BE49-F238E27FC236}">
                <a16:creationId xmlns:a16="http://schemas.microsoft.com/office/drawing/2014/main" id="{379BC8DE-8E06-49F7-8122-5B9114503D91}"/>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10</a:t>
            </a:r>
          </a:p>
        </p:txBody>
      </p:sp>
    </p:spTree>
    <p:extLst>
      <p:ext uri="{BB962C8B-B14F-4D97-AF65-F5344CB8AC3E}">
        <p14:creationId xmlns:p14="http://schemas.microsoft.com/office/powerpoint/2010/main" val="106836318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16C8014-864E-4CB6-B84F-CF45AF0BA508}"/>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2C40"/>
                </a:solidFill>
                <a:latin typeface="Arial"/>
                <a:ea typeface="Arial"/>
                <a:cs typeface="Arial"/>
              </a:defRPr>
            </a:pPr>
            <a:r>
              <a:rPr sz="3300" b="1">
                <a:solidFill>
                  <a:srgbClr val="142C40"/>
                </a:solidFill>
                <a:latin typeface="Arial"/>
                <a:ea typeface="Arial"/>
                <a:cs typeface="Arial"/>
              </a:rPr>
              <a:t>The food heuristic connects all remaining dots</a:t>
            </a:r>
          </a:p>
        </p:txBody>
      </p:sp>
      <p:sp>
        <p:nvSpPr>
          <p:cNvPr id="2" name="">
            <a:extLst xmlns:a="http://schemas.openxmlformats.org/drawingml/2006/main">
              <a:ext uri="{FF2B5EF4-FFF2-40B4-BE49-F238E27FC236}">
                <a16:creationId xmlns:a16="http://schemas.microsoft.com/office/drawing/2014/main" id="{CFDDBFFF-57CC-4EBD-9B93-1B1CC9010F8D}"/>
              </a:ext>
            </a:extLst>
          </p:cNvPr>
          <p:cNvSpPr>
            <a:spLocks xmlns:a="http://schemas.openxmlformats.org/drawingml/2006/main" noGrp="1"/>
          </p:cNvSpPr>
          <p:nvPr/>
        </p:nvSpPr>
        <p:spPr>
          <a:xfrm xmlns:a="http://schemas.openxmlformats.org/drawingml/2006/main">
            <a:off x="628650" y="1190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66979"/>
                </a:solidFill>
                <a:latin typeface="Arial"/>
                <a:ea typeface="Arial"/>
                <a:cs typeface="Arial"/>
              </a:defRPr>
            </a:pPr>
            <a:r>
              <a:rPr sz="1800" b="0">
                <a:solidFill>
                  <a:srgbClr val="566979"/>
                </a:solidFill>
                <a:latin typeface="Arial"/>
                <a:ea typeface="Arial"/>
                <a:cs typeface="Arial"/>
              </a:rPr>
              <a:t>Q7: nearest-food distance plus a minimum spanning tree</a:t>
            </a:r>
          </a:p>
        </p:txBody>
      </p:sp>
      <p:sp>
        <p:nvSpPr>
          <p:cNvPr id="4" name="">
            <a:extLst xmlns:a="http://schemas.openxmlformats.org/drawingml/2006/main">
              <a:ext uri="{FF2B5EF4-FFF2-40B4-BE49-F238E27FC236}">
                <a16:creationId xmlns:a16="http://schemas.microsoft.com/office/drawing/2014/main" id="{F913B910-CB4B-4570-938A-8F3648DCCA07}"/>
              </a:ext>
            </a:extLst>
          </p:cNvPr>
          <p:cNvSpPr>
            <a:spLocks xmlns:a="http://schemas.openxmlformats.org/drawingml/2006/main" noGrp="1"/>
          </p:cNvSpPr>
          <p:nvPr/>
        </p:nvSpPr>
        <p:spPr>
          <a:xfrm xmlns:a="http://schemas.openxmlformats.org/drawingml/2006/main">
            <a:off x="647700" y="2066925"/>
            <a:ext cx="108775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087F7B"/>
                </a:solidFill>
                <a:latin typeface="Arial"/>
                <a:ea typeface="Arial"/>
                <a:cs typeface="Arial"/>
              </a:defRPr>
            </a:pPr>
            <a:r>
              <a:rPr sz="3150" b="1">
                <a:solidFill>
                  <a:srgbClr val="087F7B"/>
                </a:solidFill>
                <a:latin typeface="Arial"/>
                <a:ea typeface="Arial"/>
                <a:cs typeface="Arial"/>
              </a:rPr>
              <a:t>h = nearest-food distance + MST cost</a:t>
            </a:r>
          </a:p>
        </p:txBody>
      </p:sp>
      <p:sp>
        <p:nvSpPr>
          <p:cNvPr id="5" name="">
            <a:extLst xmlns:a="http://schemas.openxmlformats.org/drawingml/2006/main">
              <a:ext uri="{FF2B5EF4-FFF2-40B4-BE49-F238E27FC236}">
                <a16:creationId xmlns:a16="http://schemas.microsoft.com/office/drawing/2014/main" id="{C8845553-E336-402F-8A63-5483D945744D}"/>
              </a:ext>
            </a:extLst>
          </p:cNvPr>
          <p:cNvSpPr>
            <a:spLocks xmlns:a="http://schemas.openxmlformats.org/drawingml/2006/main" noGrp="1"/>
          </p:cNvSpPr>
          <p:nvPr/>
        </p:nvSpPr>
        <p:spPr>
          <a:xfrm xmlns:a="http://schemas.openxmlformats.org/drawingml/2006/main">
            <a:off x="666750" y="3343275"/>
            <a:ext cx="4667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C40"/>
                </a:solidFill>
                <a:latin typeface="Arial"/>
                <a:ea typeface="Arial"/>
                <a:cs typeface="Arial"/>
              </a:defRPr>
            </a:pPr>
            <a:r>
              <a:rPr sz="2325" b="1">
                <a:solidFill>
                  <a:srgbClr val="142C40"/>
                </a:solidFill>
                <a:latin typeface="Arial"/>
                <a:ea typeface="Arial"/>
                <a:cs typeface="Arial"/>
              </a:rPr>
              <a:t>Nearest-food distance</a:t>
            </a:r>
          </a:p>
        </p:txBody>
      </p:sp>
      <p:sp>
        <p:nvSpPr>
          <p:cNvPr id="6" name="">
            <a:extLst xmlns:a="http://schemas.openxmlformats.org/drawingml/2006/main">
              <a:ext uri="{FF2B5EF4-FFF2-40B4-BE49-F238E27FC236}">
                <a16:creationId xmlns:a16="http://schemas.microsoft.com/office/drawing/2014/main" id="{6BC6B613-F045-4424-B8F2-00B3926DF7A0}"/>
              </a:ext>
            </a:extLst>
          </p:cNvPr>
          <p:cNvSpPr>
            <a:spLocks xmlns:a="http://schemas.openxmlformats.org/drawingml/2006/main" noGrp="1"/>
          </p:cNvSpPr>
          <p:nvPr/>
        </p:nvSpPr>
        <p:spPr>
          <a:xfrm xmlns:a="http://schemas.openxmlformats.org/drawingml/2006/main">
            <a:off x="666750" y="4000500"/>
            <a:ext cx="46958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C40"/>
                </a:solidFill>
                <a:latin typeface="Arial"/>
                <a:ea typeface="Arial"/>
                <a:cs typeface="Arial"/>
              </a:defRPr>
            </a:pPr>
            <a:r>
              <a:rPr sz="2175" b="0">
                <a:solidFill>
                  <a:srgbClr val="142C40"/>
                </a:solidFill>
                <a:latin typeface="Arial"/>
                <a:ea typeface="Arial"/>
                <a:cs typeface="Arial"/>
              </a:rPr>
              <a:t>Minimum maze distance from the current position to any remaining dot</a:t>
            </a:r>
          </a:p>
        </p:txBody>
      </p:sp>
      <p:sp>
        <p:nvSpPr>
          <p:cNvPr id="7" name="">
            <a:extLst xmlns:a="http://schemas.openxmlformats.org/drawingml/2006/main">
              <a:ext uri="{FF2B5EF4-FFF2-40B4-BE49-F238E27FC236}">
                <a16:creationId xmlns:a16="http://schemas.microsoft.com/office/drawing/2014/main" id="{98DF686F-3E66-4629-9DB6-1A7FE5C31EC2}"/>
              </a:ext>
            </a:extLst>
          </p:cNvPr>
          <p:cNvSpPr>
            <a:spLocks xmlns:a="http://schemas.openxmlformats.org/drawingml/2006/main" noGrp="1"/>
          </p:cNvSpPr>
          <p:nvPr/>
        </p:nvSpPr>
        <p:spPr>
          <a:xfrm xmlns:a="http://schemas.openxmlformats.org/drawingml/2006/main">
            <a:off x="6486525" y="3343275"/>
            <a:ext cx="49149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C40"/>
                </a:solidFill>
                <a:latin typeface="Arial"/>
                <a:ea typeface="Arial"/>
                <a:cs typeface="Arial"/>
              </a:defRPr>
            </a:pPr>
            <a:r>
              <a:rPr sz="2325" b="1">
                <a:solidFill>
                  <a:srgbClr val="142C40"/>
                </a:solidFill>
                <a:latin typeface="Arial"/>
                <a:ea typeface="Arial"/>
                <a:cs typeface="Arial"/>
              </a:rPr>
              <a:t>Minimum spanning tree</a:t>
            </a:r>
          </a:p>
        </p:txBody>
      </p:sp>
      <p:sp>
        <p:nvSpPr>
          <p:cNvPr id="8" name="">
            <a:extLst xmlns:a="http://schemas.openxmlformats.org/drawingml/2006/main">
              <a:ext uri="{FF2B5EF4-FFF2-40B4-BE49-F238E27FC236}">
                <a16:creationId xmlns:a16="http://schemas.microsoft.com/office/drawing/2014/main" id="{D744A0B9-A861-4962-A54D-FDACE3E74C62}"/>
              </a:ext>
            </a:extLst>
          </p:cNvPr>
          <p:cNvSpPr>
            <a:spLocks xmlns:a="http://schemas.openxmlformats.org/drawingml/2006/main" noGrp="1"/>
          </p:cNvSpPr>
          <p:nvPr/>
        </p:nvSpPr>
        <p:spPr>
          <a:xfrm xmlns:a="http://schemas.openxmlformats.org/drawingml/2006/main">
            <a:off x="6486525" y="4000500"/>
            <a:ext cx="48768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C40"/>
                </a:solidFill>
                <a:latin typeface="Arial"/>
                <a:ea typeface="Arial"/>
                <a:cs typeface="Arial"/>
              </a:defRPr>
            </a:pPr>
            <a:r>
              <a:rPr sz="2175" b="0">
                <a:solidFill>
                  <a:srgbClr val="142C40"/>
                </a:solidFill>
                <a:latin typeface="Arial"/>
                <a:ea typeface="Arial"/>
                <a:cs typeface="Arial"/>
              </a:rPr>
              <a:t>Cheapest tree connecting every remaining dot using maze distances</a:t>
            </a:r>
          </a:p>
        </p:txBody>
      </p:sp>
      <p:sp>
        <p:nvSpPr>
          <p:cNvPr id="9" name="">
            <a:extLst xmlns:a="http://schemas.openxmlformats.org/drawingml/2006/main">
              <a:ext uri="{FF2B5EF4-FFF2-40B4-BE49-F238E27FC236}">
                <a16:creationId xmlns:a16="http://schemas.microsoft.com/office/drawing/2014/main" id="{0264587E-1C43-47C0-A444-495B912EA1C9}"/>
              </a:ext>
            </a:extLst>
          </p:cNvPr>
          <p:cNvSpPr>
            <a:spLocks xmlns:a="http://schemas.openxmlformats.org/drawingml/2006/main" noGrp="1"/>
          </p:cNvSpPr>
          <p:nvPr/>
        </p:nvSpPr>
        <p:spPr>
          <a:xfrm xmlns:a="http://schemas.openxmlformats.org/drawingml/2006/main">
            <a:off x="666750" y="5772150"/>
            <a:ext cx="108489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66979"/>
                </a:solidFill>
                <a:latin typeface="Arial"/>
                <a:ea typeface="Arial"/>
                <a:cs typeface="Arial"/>
              </a:defRPr>
            </a:pPr>
            <a:r>
              <a:rPr sz="1800" b="0">
                <a:solidFill>
                  <a:srgbClr val="566979"/>
                </a:solidFill>
                <a:latin typeface="Arial"/>
                <a:ea typeface="Arial"/>
                <a:cs typeface="Arial"/>
              </a:rPr>
              <a:t>No food remains: h = 0. Distance maps and tree costs use per-problem caches.</a:t>
            </a:r>
          </a:p>
        </p:txBody>
      </p:sp>
      <p:sp>
        <p:nvSpPr>
          <p:cNvPr id="11" name="jump-47">
            <a:extLst xmlns:a="http://schemas.openxmlformats.org/drawingml/2006/main">
              <a:ext uri="{FF2B5EF4-FFF2-40B4-BE49-F238E27FC236}">
                <a16:creationId xmlns:a16="http://schemas.microsoft.com/office/drawing/2014/main" id="{8651FD16-A296-4D48-AB8A-8A4DF23170BF}"/>
              </a:ext>
            </a:extLst>
            <ns0:hlinkClick xmlns:ns0="http://schemas.openxmlformats.org/drawingml/2006/main" xmlns:ns1="http://schemas.openxmlformats.org/officeDocument/2006/relationships" ns1:id="rIdNav3"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2" name="jump-48">
            <a:extLst xmlns:a="http://schemas.openxmlformats.org/drawingml/2006/main">
              <a:ext uri="{FF2B5EF4-FFF2-40B4-BE49-F238E27FC236}">
                <a16:creationId xmlns:a16="http://schemas.microsoft.com/office/drawing/2014/main" id="{A8B99782-4480-4C93-BD4E-921067EB477B}"/>
              </a:ext>
            </a:extLst>
            <ns2:hlinkClick xmlns:ns2="http://schemas.openxmlformats.org/drawingml/2006/main" xmlns:ns3="http://schemas.openxmlformats.org/officeDocument/2006/relationships" ns3:id="rIdNav4" action="ppaction://hlinksldjump" tooltip="Go to slide 10"/>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3" name="jump-49">
            <a:extLst xmlns:a="http://schemas.openxmlformats.org/drawingml/2006/main">
              <a:ext uri="{FF2B5EF4-FFF2-40B4-BE49-F238E27FC236}">
                <a16:creationId xmlns:a16="http://schemas.microsoft.com/office/drawing/2014/main" id="{7EA3F8CD-5C0E-40E9-8C70-F17997C66D37}"/>
              </a:ext>
            </a:extLst>
            <ns4:hlinkClick xmlns:ns4="http://schemas.openxmlformats.org/drawingml/2006/main" xmlns:ns5="http://schemas.openxmlformats.org/officeDocument/2006/relationships" ns5:id="rIdNav5" action="ppaction://hlinksldjump" tooltip="Go to slide 12"/>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4" name="">
            <a:extLst xmlns:a="http://schemas.openxmlformats.org/drawingml/2006/main">
              <a:ext uri="{FF2B5EF4-FFF2-40B4-BE49-F238E27FC236}">
                <a16:creationId xmlns:a16="http://schemas.microsoft.com/office/drawing/2014/main" id="{E36E67C5-2C2B-4834-8F00-4122E0E8BDC4}"/>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11</a:t>
            </a:r>
          </a:p>
        </p:txBody>
      </p:sp>
    </p:spTree>
    <p:extLst>
      <p:ext uri="{BB962C8B-B14F-4D97-AF65-F5344CB8AC3E}">
        <p14:creationId xmlns:p14="http://schemas.microsoft.com/office/powerpoint/2010/main" val="194741491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6A1327B-F8A7-4605-9BB1-CE47371ACEA6}"/>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Arial"/>
                <a:ea typeface="Arial"/>
                <a:cs typeface="Arial"/>
              </a:defRPr>
            </a:pPr>
            <a:r>
              <a:rPr sz="3300" b="1">
                <a:solidFill>
                  <a:srgbClr val="142C40"/>
                </a:solidFill>
                <a:latin typeface="Arial"/>
                <a:ea typeface="Arial"/>
                <a:cs typeface="Arial"/>
              </a:rPr>
              <a:t>Prediction: food search</a:t>
            </a:r>
          </a:p>
        </p:txBody>
      </p:sp>
      <p:sp>
        <p:nvSpPr>
          <p:cNvPr id="2" name="">
            <a:extLst xmlns:a="http://schemas.openxmlformats.org/drawingml/2006/main">
              <a:ext uri="{FF2B5EF4-FFF2-40B4-BE49-F238E27FC236}">
                <a16:creationId xmlns:a16="http://schemas.microsoft.com/office/drawing/2014/main" id="{CEF00E72-BF23-4531-BEA3-C24EC7304185}"/>
              </a:ext>
            </a:extLst>
          </p:cNvPr>
          <p:cNvSpPr>
            <a:spLocks xmlns:a="http://schemas.openxmlformats.org/drawingml/2006/main" noGrp="1"/>
          </p:cNvSpPr>
          <p:nvPr/>
        </p:nvSpPr>
        <p:spPr>
          <a:xfrm xmlns:a="http://schemas.openxmlformats.org/drawingml/2006/main">
            <a:off x="628650" y="1190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979"/>
                </a:solidFill>
                <a:latin typeface="Arial"/>
                <a:ea typeface="Arial"/>
                <a:cs typeface="Arial"/>
              </a:defRPr>
            </a:pPr>
            <a:r>
              <a:rPr sz="1875" b="0">
                <a:solidFill>
                  <a:srgbClr val="566979"/>
                </a:solidFill>
                <a:latin typeface="Arial"/>
                <a:ea typeface="Arial"/>
                <a:cs typeface="Arial"/>
              </a:rPr>
              <a:t>Both methods must preserve the 60-step optimum</a:t>
            </a:r>
          </a:p>
        </p:txBody>
      </p:sp>
      <p:sp>
        <p:nvSpPr>
          <p:cNvPr id="3" name="">
            <a:extLst xmlns:a="http://schemas.openxmlformats.org/drawingml/2006/main">
              <a:ext uri="{FF2B5EF4-FFF2-40B4-BE49-F238E27FC236}">
                <a16:creationId xmlns:a16="http://schemas.microsoft.com/office/drawing/2014/main" id="{62B5D494-B060-4F4C-B4C8-F7E26D196B9D}"/>
              </a:ext>
            </a:extLst>
          </p:cNvPr>
          <p:cNvSpPr>
            <a:spLocks xmlns:a="http://schemas.openxmlformats.org/drawingml/2006/main" noGrp="1"/>
          </p:cNvSpPr>
          <p:nvPr/>
        </p:nvSpPr>
        <p:spPr>
          <a:xfrm xmlns:a="http://schemas.openxmlformats.org/drawingml/2006/main">
            <a:off x="704850" y="207645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C40"/>
                </a:solidFill>
                <a:latin typeface="Arial"/>
                <a:ea typeface="Arial"/>
                <a:cs typeface="Arial"/>
              </a:defRPr>
            </a:pPr>
            <a:r>
              <a:rPr sz="3450" b="1">
                <a:solidFill>
                  <a:srgbClr val="142C40"/>
                </a:solidFill>
                <a:latin typeface="Arial"/>
                <a:ea typeface="Arial"/>
                <a:cs typeface="Arial"/>
              </a:rPr>
              <a:t>UCS expands 16,688 states.</a:t>
            </a:r>
          </a:p>
        </p:txBody>
      </p:sp>
      <p:sp>
        <p:nvSpPr>
          <p:cNvPr id="4" name="">
            <a:extLst xmlns:a="http://schemas.openxmlformats.org/drawingml/2006/main">
              <a:ext uri="{FF2B5EF4-FFF2-40B4-BE49-F238E27FC236}">
                <a16:creationId xmlns:a16="http://schemas.microsoft.com/office/drawing/2014/main" id="{218C552F-BE84-45E5-B416-3A45AC5B37E2}"/>
              </a:ext>
            </a:extLst>
          </p:cNvPr>
          <p:cNvSpPr>
            <a:spLocks xmlns:a="http://schemas.openxmlformats.org/drawingml/2006/main" noGrp="1"/>
          </p:cNvSpPr>
          <p:nvPr/>
        </p:nvSpPr>
        <p:spPr>
          <a:xfrm xmlns:a="http://schemas.openxmlformats.org/drawingml/2006/main">
            <a:off x="704850" y="30670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142C40"/>
                </a:solidFill>
                <a:latin typeface="Arial"/>
                <a:ea typeface="Arial"/>
                <a:cs typeface="Arial"/>
              </a:defRPr>
            </a:pPr>
            <a:r>
              <a:rPr sz="3150" b="0">
                <a:solidFill>
                  <a:srgbClr val="142C40"/>
                </a:solidFill>
                <a:latin typeface="Arial"/>
                <a:ea typeface="Arial"/>
                <a:cs typeface="Arial"/>
              </a:rPr>
              <a:t>How many might A* need</a:t>
            </a:r>
          </a:p>
          <a:p xmlns:a="http://schemas.openxmlformats.org/drawingml/2006/main">
            <a:pPr>
              <a:defRPr sz="3150" b="0">
                <a:solidFill>
                  <a:srgbClr val="142C40"/>
                </a:solidFill>
                <a:latin typeface="Arial"/>
                <a:ea typeface="Arial"/>
                <a:cs typeface="Arial"/>
              </a:defRPr>
            </a:pPr>
            <a:r>
              <a:rPr sz="3150" b="0">
                <a:solidFill>
                  <a:srgbClr val="142C40"/>
                </a:solidFill>
                <a:latin typeface="Arial"/>
                <a:ea typeface="Arial"/>
                <a:cs typeface="Arial"/>
              </a:rPr>
              <a:t>with the food heuristic?</a:t>
            </a:r>
          </a:p>
        </p:txBody>
      </p:sp>
      <p:sp>
        <p:nvSpPr>
          <p:cNvPr id="5" name="">
            <a:extLst xmlns:a="http://schemas.openxmlformats.org/drawingml/2006/main">
              <a:ext uri="{FF2B5EF4-FFF2-40B4-BE49-F238E27FC236}">
                <a16:creationId xmlns:a16="http://schemas.microsoft.com/office/drawing/2014/main" id="{F305B146-AA42-404A-9CCB-3391204A0284}"/>
              </a:ext>
            </a:extLst>
          </p:cNvPr>
          <p:cNvSpPr>
            <a:spLocks xmlns:a="http://schemas.openxmlformats.org/drawingml/2006/main" noGrp="1"/>
          </p:cNvSpPr>
          <p:nvPr/>
        </p:nvSpPr>
        <p:spPr>
          <a:xfrm xmlns:a="http://schemas.openxmlformats.org/drawingml/2006/main">
            <a:off x="723900" y="4562475"/>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66979"/>
                </a:solidFill>
                <a:latin typeface="Arial"/>
                <a:ea typeface="Arial"/>
                <a:cs typeface="Arial"/>
              </a:defRPr>
            </a:pPr>
            <a:r>
              <a:rPr sz="2100" b="0">
                <a:solidFill>
                  <a:srgbClr val="566979"/>
                </a:solidFill>
                <a:latin typeface="Arial"/>
                <a:ea typeface="Arial"/>
                <a:cs typeface="Arial"/>
              </a:rPr>
              <a:t>More than 10,000?      About 5,000?      Fewer than 500?</a:t>
            </a:r>
          </a:p>
        </p:txBody>
      </p:sp>
      <p:sp>
        <p:nvSpPr>
          <p:cNvPr id="6" name="jump-9">
            <a:extLst xmlns:a="http://schemas.openxmlformats.org/drawingml/2006/main">
              <a:ext uri="{FF2B5EF4-FFF2-40B4-BE49-F238E27FC236}">
                <a16:creationId xmlns:a16="http://schemas.microsoft.com/office/drawing/2014/main" id="{5A63F019-A1B8-4638-81E4-547B763BA244}"/>
              </a:ext>
            </a:extLst>
            <ns0:hlinkClick xmlns:ns0="http://schemas.openxmlformats.org/drawingml/2006/main" xmlns:ns1="http://schemas.openxmlformats.org/officeDocument/2006/relationships" ns1:id="rIdNav3" action="ppaction://hlinksldjump" tooltip="Go to slide 13"/>
          </p:cNvPr>
          <p:cNvSpPr>
            <a:spLocks xmlns:a="http://schemas.openxmlformats.org/drawingml/2006/main" noGrp="1"/>
          </p:cNvSpPr>
          <p:nvPr/>
        </p:nvSpPr>
        <p:spPr>
          <a:xfrm xmlns:a="http://schemas.openxmlformats.org/drawingml/2006/main">
            <a:off x="723900" y="5334000"/>
            <a:ext cx="5238750" cy="647700"/>
          </a:xfrm>
          <a:prstGeom xmlns:a="http://schemas.openxmlformats.org/drawingml/2006/main" prst="rect">
            <a:avLst/>
          </a:prstGeom>
          <a:solidFill xmlns:a="http://schemas.openxmlformats.org/drawingml/2006/main">
            <a:srgbClr val="087F7B"/>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Reveal the measurements</a:t>
            </a:r>
          </a:p>
        </p:txBody>
      </p:sp>
      <p:sp>
        <p:nvSpPr>
          <p:cNvPr id="7" name="jump-50">
            <a:extLst xmlns:a="http://schemas.openxmlformats.org/drawingml/2006/main">
              <a:ext uri="{FF2B5EF4-FFF2-40B4-BE49-F238E27FC236}">
                <a16:creationId xmlns:a16="http://schemas.microsoft.com/office/drawing/2014/main" id="{A6F26F8E-3B33-4146-9899-B189FF8C9A9F}"/>
              </a:ext>
            </a:extLst>
            <ns2:hlinkClick xmlns:ns2="http://schemas.openxmlformats.org/drawingml/2006/main" xmlns:ns3="http://schemas.openxmlformats.org/officeDocument/2006/relationships" ns3:id="rIdNav4"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8" name="jump-51">
            <a:extLst xmlns:a="http://schemas.openxmlformats.org/drawingml/2006/main">
              <a:ext uri="{FF2B5EF4-FFF2-40B4-BE49-F238E27FC236}">
                <a16:creationId xmlns:a16="http://schemas.microsoft.com/office/drawing/2014/main" id="{C7426997-645F-456E-A75A-AA17FC85A914}"/>
              </a:ext>
            </a:extLst>
            <ns4:hlinkClick xmlns:ns4="http://schemas.openxmlformats.org/drawingml/2006/main" xmlns:ns5="http://schemas.openxmlformats.org/officeDocument/2006/relationships" ns5:id="rIdNav5" action="ppaction://hlinksldjump" tooltip="Go to slide 11"/>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9" name="jump-52">
            <a:extLst xmlns:a="http://schemas.openxmlformats.org/drawingml/2006/main">
              <a:ext uri="{FF2B5EF4-FFF2-40B4-BE49-F238E27FC236}">
                <a16:creationId xmlns:a16="http://schemas.microsoft.com/office/drawing/2014/main" id="{2541ADFA-0805-457E-86AD-F5077D854519}"/>
              </a:ext>
            </a:extLst>
            <ns6:hlinkClick xmlns:ns6="http://schemas.openxmlformats.org/drawingml/2006/main" xmlns:ns7="http://schemas.openxmlformats.org/officeDocument/2006/relationships" ns7:id="rIdNav6" action="ppaction://hlinksldjump" tooltip="Go to slide 13"/>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0" name="">
            <a:extLst xmlns:a="http://schemas.openxmlformats.org/drawingml/2006/main">
              <a:ext uri="{FF2B5EF4-FFF2-40B4-BE49-F238E27FC236}">
                <a16:creationId xmlns:a16="http://schemas.microsoft.com/office/drawing/2014/main" id="{90673176-C0F5-4CFA-9BFD-1757B9106D04}"/>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12</a:t>
            </a:r>
          </a:p>
        </p:txBody>
      </p:sp>
    </p:spTree>
    <p:extLst>
      <p:ext uri="{BB962C8B-B14F-4D97-AF65-F5344CB8AC3E}">
        <p14:creationId xmlns:p14="http://schemas.microsoft.com/office/powerpoint/2010/main" val="15090430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A985D29-D048-40BD-9394-4692982FDE51}"/>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2C40"/>
                </a:solidFill>
                <a:latin typeface="Arial"/>
                <a:ea typeface="Arial"/>
                <a:cs typeface="Arial"/>
              </a:defRPr>
            </a:pPr>
            <a:r>
              <a:rPr sz="3300" b="1">
                <a:solidFill>
                  <a:srgbClr val="142C40"/>
                </a:solidFill>
                <a:latin typeface="Arial"/>
                <a:ea typeface="Arial"/>
                <a:cs typeface="Arial"/>
              </a:rPr>
              <a:t>Food A* cuts expansions by 98.5%</a:t>
            </a:r>
          </a:p>
        </p:txBody>
      </p:sp>
      <p:sp>
        <p:nvSpPr>
          <p:cNvPr id="2" name="">
            <a:extLst xmlns:a="http://schemas.openxmlformats.org/drawingml/2006/main">
              <a:ext uri="{FF2B5EF4-FFF2-40B4-BE49-F238E27FC236}">
                <a16:creationId xmlns:a16="http://schemas.microsoft.com/office/drawing/2014/main" id="{A65B6AD7-E5D3-4C06-8205-0966AB1B941F}"/>
              </a:ext>
            </a:extLst>
          </p:cNvPr>
          <p:cNvSpPr>
            <a:spLocks xmlns:a="http://schemas.openxmlformats.org/drawingml/2006/main" noGrp="1"/>
          </p:cNvSpPr>
          <p:nvPr/>
        </p:nvSpPr>
        <p:spPr>
          <a:xfrm xmlns:a="http://schemas.openxmlformats.org/drawingml/2006/main">
            <a:off x="628650" y="1190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66979"/>
                </a:solidFill>
                <a:latin typeface="Arial"/>
                <a:ea typeface="Arial"/>
                <a:cs typeface="Arial"/>
              </a:defRPr>
            </a:pPr>
            <a:r>
              <a:rPr sz="1800" b="0">
                <a:solidFill>
                  <a:srgbClr val="566979"/>
                </a:solidFill>
                <a:latin typeface="Arial"/>
                <a:ea typeface="Arial"/>
                <a:cs typeface="Arial"/>
              </a:rPr>
              <a:t>trickySearch: both methods find the optimal 60-step route</a:t>
            </a:r>
          </a:p>
        </p:txBody>
      </p:sp>
      <p:graphicFrame>
        <p:nvGraphicFramePr>
          <p:cNvPr id="16" name="Chart"/>
          <p:cNvGraphicFramePr/>
          <p:nvPr/>
        </p:nvGraphicFramePr>
        <p:xfrm>
          <a:off xmlns:a="http://schemas.openxmlformats.org/drawingml/2006/main" x="628650" y="2000250"/>
          <a:ext xmlns:a="http://schemas.openxmlformats.org/drawingml/2006/main" cx="4962525" cy="3409950"/>
        </p:xfrm>
        <a:graphic xmlns:a="http://schemas.openxmlformats.org/drawingml/2006/main">
          <a:graphicData uri="http://schemas.openxmlformats.org/drawingml/2006/chart">
            <c:chart xmlns:r="http://schemas.openxmlformats.org/officeDocument/2006/relationships" xmlns:c="http://schemas.openxmlformats.org/drawingml/2006/chart" r:id="R76ed0101e9804045"/>
          </a:graphicData>
        </a:graphic>
      </p:graphicFrame>
      <p:graphicFrame>
        <p:nvGraphicFramePr>
          <p:cNvPr id="17" name=""/>
          <p:cNvGraphicFramePr/>
          <p:nvPr/>
        </p:nvGraphicFramePr>
        <p:xfrm>
          <a:off xmlns:a="http://schemas.openxmlformats.org/drawingml/2006/main" x="6229350" y="2219325"/>
          <a:ext xmlns:a="http://schemas.openxmlformats.org/drawingml/2006/main" cx="5238750" cy="2600325"/>
        </p:xfrm>
        <a:graphic xmlns:a="http://schemas.openxmlformats.org/drawingml/2006/main">
          <a:graphicData uri="http://schemas.openxmlformats.org/drawingml/2006/table">
            <a:tbl>
              <a:tblPr firstRow="1" bandRow="0"/>
              <a:tblGrid>
                <a:gridCol w="2076450"/>
                <a:gridCol w="1638300"/>
                <a:gridCol w="1524000"/>
              </a:tblGrid>
              <a:tr h="650081">
                <a:tc>
                  <a:txBody>
                    <a:bodyPr/>
                    <a:lstStyle/>
                    <a:p>
                      <a:r>
                        <a:rPr sz="1650" b="1">
                          <a:solidFill>
                            <a:srgbClr val="FFFFFF"/>
                          </a:solidFill>
                          <a:latin typeface="Arial"/>
                          <a:ea typeface="Arial"/>
                          <a:cs typeface="Arial"/>
                        </a:rPr>
                        <a:t>Metric</a:t>
                      </a:r>
                    </a:p>
                  </a:txBody>
                  <a:tcPr marL="123825" marR="123825" marT="114300" marB="114300" anchor="ctr">
                    <a:solidFill>
                      <a:srgbClr val="142C40"/>
                    </a:solidFill>
                  </a:tcPr>
                </a:tc>
                <a:tc>
                  <a:txBody>
                    <a:bodyPr/>
                    <a:lstStyle/>
                    <a:p>
                      <a:r>
                        <a:rPr sz="1650" b="1">
                          <a:solidFill>
                            <a:srgbClr val="FFFFFF"/>
                          </a:solidFill>
                          <a:latin typeface="Arial"/>
                          <a:ea typeface="Arial"/>
                          <a:cs typeface="Arial"/>
                        </a:rPr>
                        <a:t>UCS</a:t>
                      </a:r>
                    </a:p>
                  </a:txBody>
                  <a:tcPr marL="123825" marR="123825" marT="114300" marB="114300" anchor="ctr">
                    <a:solidFill>
                      <a:srgbClr val="142C40"/>
                    </a:solidFill>
                  </a:tcPr>
                </a:tc>
                <a:tc>
                  <a:txBody>
                    <a:bodyPr/>
                    <a:lstStyle/>
                    <a:p>
                      <a:r>
                        <a:rPr sz="1650" b="1">
                          <a:solidFill>
                            <a:srgbClr val="FFFFFF"/>
                          </a:solidFill>
                          <a:latin typeface="Arial"/>
                          <a:ea typeface="Arial"/>
                          <a:cs typeface="Arial"/>
                        </a:rPr>
                        <a:t>A*</a:t>
                      </a:r>
                    </a:p>
                  </a:txBody>
                  <a:tcPr marL="123825" marR="123825" marT="114300" marB="114300" anchor="ctr">
                    <a:solidFill>
                      <a:srgbClr val="142C40"/>
                    </a:solidFill>
                  </a:tcPr>
                </a:tc>
              </a:tr>
              <a:tr h="650081">
                <a:tc>
                  <a:txBody>
                    <a:bodyPr/>
                    <a:lstStyle/>
                    <a:p>
                      <a:r>
                        <a:rPr sz="1725" b="0">
                          <a:solidFill>
                            <a:srgbClr val="142C40"/>
                          </a:solidFill>
                          <a:latin typeface="Arial"/>
                          <a:ea typeface="Arial"/>
                          <a:cs typeface="Arial"/>
                        </a:rPr>
                        <a:t>Expanded</a:t>
                      </a:r>
                    </a:p>
                  </a:txBody>
                  <a:tcPr marL="123825" marR="123825" marT="114300" marB="114300" anchor="ctr">
                    <a:solidFill>
                      <a:srgbClr val="FFFFFF"/>
                    </a:solidFill>
                  </a:tcPr>
                </a:tc>
                <a:tc>
                  <a:txBody>
                    <a:bodyPr/>
                    <a:lstStyle/>
                    <a:p>
                      <a:r>
                        <a:rPr sz="1725" b="0">
                          <a:solidFill>
                            <a:srgbClr val="142C40"/>
                          </a:solidFill>
                          <a:latin typeface="Arial"/>
                          <a:ea typeface="Arial"/>
                          <a:cs typeface="Arial"/>
                        </a:rPr>
                        <a:t>16,688</a:t>
                      </a:r>
                    </a:p>
                  </a:txBody>
                  <a:tcPr marL="123825" marR="123825" marT="114300" marB="114300" anchor="ctr">
                    <a:solidFill>
                      <a:srgbClr val="FFFFFF"/>
                    </a:solidFill>
                  </a:tcPr>
                </a:tc>
                <a:tc>
                  <a:txBody>
                    <a:bodyPr/>
                    <a:lstStyle/>
                    <a:p>
                      <a:r>
                        <a:rPr sz="1725" b="0">
                          <a:solidFill>
                            <a:srgbClr val="142C40"/>
                          </a:solidFill>
                          <a:latin typeface="Arial"/>
                          <a:ea typeface="Arial"/>
                          <a:cs typeface="Arial"/>
                        </a:rPr>
                        <a:t>255</a:t>
                      </a:r>
                    </a:p>
                  </a:txBody>
                  <a:tcPr marL="123825" marR="123825" marT="114300" marB="114300" anchor="ctr">
                    <a:solidFill>
                      <a:srgbClr val="FFFFFF"/>
                    </a:solidFill>
                  </a:tcPr>
                </a:tc>
              </a:tr>
              <a:tr h="650081">
                <a:tc>
                  <a:txBody>
                    <a:bodyPr/>
                    <a:lstStyle/>
                    <a:p>
                      <a:r>
                        <a:rPr sz="1725" b="0">
                          <a:solidFill>
                            <a:srgbClr val="142C40"/>
                          </a:solidFill>
                          <a:latin typeface="Arial"/>
                          <a:ea typeface="Arial"/>
                          <a:cs typeface="Arial"/>
                        </a:rPr>
                        <a:t>Time (ms)</a:t>
                      </a:r>
                    </a:p>
                  </a:txBody>
                  <a:tcPr marL="123825" marR="123825" marT="114300" marB="114300" anchor="ctr">
                    <a:solidFill>
                      <a:srgbClr val="EDF3F5"/>
                    </a:solidFill>
                  </a:tcPr>
                </a:tc>
                <a:tc>
                  <a:txBody>
                    <a:bodyPr/>
                    <a:lstStyle/>
                    <a:p>
                      <a:r>
                        <a:rPr sz="1725" b="0">
                          <a:solidFill>
                            <a:srgbClr val="142C40"/>
                          </a:solidFill>
                          <a:latin typeface="Arial"/>
                          <a:ea typeface="Arial"/>
                          <a:cs typeface="Arial"/>
                        </a:rPr>
                        <a:t>456.943</a:t>
                      </a:r>
                    </a:p>
                  </a:txBody>
                  <a:tcPr marL="123825" marR="123825" marT="114300" marB="114300" anchor="ctr">
                    <a:solidFill>
                      <a:srgbClr val="EDF3F5"/>
                    </a:solidFill>
                  </a:tcPr>
                </a:tc>
                <a:tc>
                  <a:txBody>
                    <a:bodyPr/>
                    <a:lstStyle/>
                    <a:p>
                      <a:r>
                        <a:rPr sz="1725" b="0">
                          <a:solidFill>
                            <a:srgbClr val="142C40"/>
                          </a:solidFill>
                          <a:latin typeface="Arial"/>
                          <a:ea typeface="Arial"/>
                          <a:cs typeface="Arial"/>
                        </a:rPr>
                        <a:t>9.188</a:t>
                      </a:r>
                    </a:p>
                  </a:txBody>
                  <a:tcPr marL="123825" marR="123825" marT="114300" marB="114300" anchor="ctr">
                    <a:solidFill>
                      <a:srgbClr val="EDF3F5"/>
                    </a:solidFill>
                  </a:tcPr>
                </a:tc>
              </a:tr>
              <a:tr h="650081">
                <a:tc>
                  <a:txBody>
                    <a:bodyPr/>
                    <a:lstStyle/>
                    <a:p>
                      <a:r>
                        <a:rPr sz="1725" b="0">
                          <a:solidFill>
                            <a:srgbClr val="142C40"/>
                          </a:solidFill>
                          <a:latin typeface="Arial"/>
                          <a:ea typeface="Arial"/>
                          <a:cs typeface="Arial"/>
                        </a:rPr>
                        <a:t>Peak (KiB)</a:t>
                      </a:r>
                    </a:p>
                  </a:txBody>
                  <a:tcPr marL="123825" marR="123825" marT="114300" marB="114300" anchor="ctr">
                    <a:solidFill>
                      <a:srgbClr val="FFFFFF"/>
                    </a:solidFill>
                  </a:tcPr>
                </a:tc>
                <a:tc>
                  <a:txBody>
                    <a:bodyPr/>
                    <a:lstStyle/>
                    <a:p>
                      <a:r>
                        <a:rPr sz="1725" b="0">
                          <a:solidFill>
                            <a:srgbClr val="142C40"/>
                          </a:solidFill>
                          <a:latin typeface="Arial"/>
                          <a:ea typeface="Arial"/>
                          <a:cs typeface="Arial"/>
                        </a:rPr>
                        <a:t>47,894.3</a:t>
                      </a:r>
                    </a:p>
                  </a:txBody>
                  <a:tcPr marL="123825" marR="123825" marT="114300" marB="114300" anchor="ctr">
                    <a:solidFill>
                      <a:srgbClr val="FFFFFF"/>
                    </a:solidFill>
                  </a:tcPr>
                </a:tc>
                <a:tc>
                  <a:txBody>
                    <a:bodyPr/>
                    <a:lstStyle/>
                    <a:p>
                      <a:r>
                        <a:rPr sz="1725" b="0">
                          <a:solidFill>
                            <a:srgbClr val="142C40"/>
                          </a:solidFill>
                          <a:latin typeface="Arial"/>
                          <a:ea typeface="Arial"/>
                          <a:cs typeface="Arial"/>
                        </a:rPr>
                        <a:t>1,026.8</a:t>
                      </a:r>
                    </a:p>
                  </a:txBody>
                  <a:tcPr marL="123825" marR="123825" marT="114300" marB="1143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98F1D3D-9FC7-465F-8FF1-75C18D73ABFF}"/>
              </a:ext>
            </a:extLst>
          </p:cNvPr>
          <p:cNvSpPr>
            <a:spLocks xmlns:a="http://schemas.openxmlformats.org/drawingml/2006/main" noGrp="1"/>
          </p:cNvSpPr>
          <p:nvPr/>
        </p:nvSpPr>
        <p:spPr>
          <a:xfrm xmlns:a="http://schemas.openxmlformats.org/drawingml/2006/main">
            <a:off x="6286500" y="5229225"/>
            <a:ext cx="51530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87F7B"/>
                </a:solidFill>
                <a:latin typeface="Arial"/>
                <a:ea typeface="Arial"/>
                <a:cs typeface="Arial"/>
              </a:defRPr>
            </a:pPr>
            <a:r>
              <a:rPr sz="2175" b="1">
                <a:solidFill>
                  <a:srgbClr val="087F7B"/>
                </a:solidFill>
                <a:latin typeface="Arial"/>
                <a:ea typeface="Arial"/>
                <a:cs typeface="Arial"/>
              </a:rPr>
              <a:t>255 expansions meet the</a:t>
            </a:r>
          </a:p>
          <a:p xmlns:a="http://schemas.openxmlformats.org/drawingml/2006/main">
            <a:pPr>
              <a:buNone/>
              <a:defRPr sz="2175" b="1">
                <a:solidFill>
                  <a:srgbClr val="087F7B"/>
                </a:solidFill>
                <a:latin typeface="Arial"/>
                <a:ea typeface="Arial"/>
                <a:cs typeface="Arial"/>
              </a:defRPr>
            </a:pPr>
            <a:r>
              <a:rPr sz="2175" b="1">
                <a:solidFill>
                  <a:srgbClr val="087F7B"/>
                </a:solidFill>
                <a:latin typeface="Arial"/>
                <a:ea typeface="Arial"/>
                <a:cs typeface="Arial"/>
              </a:rPr>
              <a:t>&lt; 7,000 extra-credit target</a:t>
            </a:r>
          </a:p>
        </p:txBody>
      </p:sp>
      <p:sp>
        <p:nvSpPr>
          <p:cNvPr id="10" name="jump-53">
            <a:extLst xmlns:a="http://schemas.openxmlformats.org/drawingml/2006/main">
              <a:ext uri="{FF2B5EF4-FFF2-40B4-BE49-F238E27FC236}">
                <a16:creationId xmlns:a16="http://schemas.microsoft.com/office/drawing/2014/main" id="{4A34841C-FCA5-4A91-982E-A17ED07698FE}"/>
              </a:ext>
            </a:extLst>
            <ns0:hlinkClick xmlns:ns0="http://schemas.openxmlformats.org/drawingml/2006/main" xmlns:ns1="http://schemas.openxmlformats.org/officeDocument/2006/relationships" ns1:id="rIdNav4"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1" name="jump-54">
            <a:extLst xmlns:a="http://schemas.openxmlformats.org/drawingml/2006/main">
              <a:ext uri="{FF2B5EF4-FFF2-40B4-BE49-F238E27FC236}">
                <a16:creationId xmlns:a16="http://schemas.microsoft.com/office/drawing/2014/main" id="{296FFCBA-2E21-4845-86F5-6C631B2878A3}"/>
              </a:ext>
            </a:extLst>
            <ns2:hlinkClick xmlns:ns2="http://schemas.openxmlformats.org/drawingml/2006/main" xmlns:ns3="http://schemas.openxmlformats.org/officeDocument/2006/relationships" ns3:id="rIdNav5" action="ppaction://hlinksldjump" tooltip="Go to slide 12"/>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2" name="jump-55">
            <a:extLst xmlns:a="http://schemas.openxmlformats.org/drawingml/2006/main">
              <a:ext uri="{FF2B5EF4-FFF2-40B4-BE49-F238E27FC236}">
                <a16:creationId xmlns:a16="http://schemas.microsoft.com/office/drawing/2014/main" id="{0BEF24DA-C212-47B4-ACF4-7A977F136B3E}"/>
              </a:ext>
            </a:extLst>
            <ns4:hlinkClick xmlns:ns4="http://schemas.openxmlformats.org/drawingml/2006/main" xmlns:ns5="http://schemas.openxmlformats.org/officeDocument/2006/relationships" ns5:id="rIdNav6" action="ppaction://hlinksldjump" tooltip="Go to slide 14"/>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3" name="">
            <a:extLst xmlns:a="http://schemas.openxmlformats.org/drawingml/2006/main">
              <a:ext uri="{FF2B5EF4-FFF2-40B4-BE49-F238E27FC236}">
                <a16:creationId xmlns:a16="http://schemas.microsoft.com/office/drawing/2014/main" id="{E203A9E2-D762-4A1F-A5DD-21DE86A1453D}"/>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13</a:t>
            </a:r>
          </a:p>
        </p:txBody>
      </p:sp>
    </p:spTree>
    <p:extLst>
      <p:ext uri="{BB962C8B-B14F-4D97-AF65-F5344CB8AC3E}">
        <p14:creationId xmlns:p14="http://schemas.microsoft.com/office/powerpoint/2010/main" val="2465909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FD8A42-AC80-4A10-89D1-035F33E4A5E2}"/>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2C40"/>
                </a:solidFill>
                <a:latin typeface="Arial"/>
                <a:ea typeface="Arial"/>
                <a:cs typeface="Arial"/>
              </a:defRPr>
            </a:pPr>
            <a:r>
              <a:rPr sz="3300" b="1">
                <a:solidFill>
                  <a:srgbClr val="142C40"/>
                </a:solidFill>
                <a:latin typeface="Arial"/>
                <a:ea typeface="Arial"/>
                <a:cs typeface="Arial"/>
              </a:rPr>
              <a:t>Measurements and correctness checks</a:t>
            </a:r>
          </a:p>
        </p:txBody>
      </p:sp>
      <p:sp>
        <p:nvSpPr>
          <p:cNvPr id="2" name="">
            <a:extLst xmlns:a="http://schemas.openxmlformats.org/drawingml/2006/main">
              <a:ext uri="{FF2B5EF4-FFF2-40B4-BE49-F238E27FC236}">
                <a16:creationId xmlns:a16="http://schemas.microsoft.com/office/drawing/2014/main" id="{FD84148F-CB32-4104-9EA4-30E541F8D26F}"/>
              </a:ext>
            </a:extLst>
          </p:cNvPr>
          <p:cNvSpPr>
            <a:spLocks xmlns:a="http://schemas.openxmlformats.org/drawingml/2006/main" noGrp="1"/>
          </p:cNvSpPr>
          <p:nvPr/>
        </p:nvSpPr>
        <p:spPr>
          <a:xfrm xmlns:a="http://schemas.openxmlformats.org/drawingml/2006/main">
            <a:off x="628650" y="11906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66979"/>
                </a:solidFill>
                <a:latin typeface="Arial"/>
                <a:ea typeface="Arial"/>
                <a:cs typeface="Arial"/>
              </a:defRPr>
            </a:pPr>
            <a:r>
              <a:rPr sz="1800" b="0">
                <a:solidFill>
                  <a:srgbClr val="566979"/>
                </a:solidFill>
                <a:latin typeface="Arial"/>
                <a:ea typeface="Arial"/>
                <a:cs typeface="Arial"/>
              </a:rPr>
              <a:t>Python 3.11.16 on macOS arm64</a:t>
            </a:r>
          </a:p>
        </p:txBody>
      </p:sp>
      <p:sp>
        <p:nvSpPr>
          <p:cNvPr id="4" name="">
            <a:extLst xmlns:a="http://schemas.openxmlformats.org/drawingml/2006/main">
              <a:ext uri="{FF2B5EF4-FFF2-40B4-BE49-F238E27FC236}">
                <a16:creationId xmlns:a16="http://schemas.microsoft.com/office/drawing/2014/main" id="{D4F45EC9-2273-4C01-87E8-61B6EBE23790}"/>
              </a:ext>
            </a:extLst>
          </p:cNvPr>
          <p:cNvSpPr>
            <a:spLocks xmlns:a="http://schemas.openxmlformats.org/drawingml/2006/main" noGrp="1"/>
          </p:cNvSpPr>
          <p:nvPr/>
        </p:nvSpPr>
        <p:spPr>
          <a:xfrm xmlns:a="http://schemas.openxmlformats.org/drawingml/2006/main">
            <a:off x="647700" y="203835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87F7B"/>
                </a:solidFill>
                <a:latin typeface="Arial"/>
                <a:ea typeface="Arial"/>
                <a:cs typeface="Arial"/>
              </a:defRPr>
            </a:pPr>
            <a:r>
              <a:rPr sz="2400" b="1">
                <a:solidFill>
                  <a:srgbClr val="087F7B"/>
                </a:solidFill>
                <a:latin typeface="Arial"/>
                <a:ea typeface="Arial"/>
                <a:cs typeface="Arial"/>
              </a:rPr>
              <a:t>Measurement protocol</a:t>
            </a:r>
          </a:p>
        </p:txBody>
      </p:sp>
      <p:sp>
        <p:nvSpPr>
          <p:cNvPr id="5" name="">
            <a:extLst xmlns:a="http://schemas.openxmlformats.org/drawingml/2006/main">
              <a:ext uri="{FF2B5EF4-FFF2-40B4-BE49-F238E27FC236}">
                <a16:creationId xmlns:a16="http://schemas.microsoft.com/office/drawing/2014/main" id="{A6843952-493B-4CC5-A27C-5A5455EA8418}"/>
              </a:ext>
            </a:extLst>
          </p:cNvPr>
          <p:cNvSpPr>
            <a:spLocks xmlns:a="http://schemas.openxmlformats.org/drawingml/2006/main" noGrp="1"/>
          </p:cNvSpPr>
          <p:nvPr/>
        </p:nvSpPr>
        <p:spPr>
          <a:xfrm xmlns:a="http://schemas.openxmlformats.org/drawingml/2006/main">
            <a:off x="666750" y="2895600"/>
            <a:ext cx="51816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C40"/>
                </a:solidFill>
                <a:latin typeface="Arial"/>
                <a:ea typeface="Arial"/>
                <a:cs typeface="Arial"/>
              </a:defRPr>
            </a:pPr>
            <a:r>
              <a:rPr sz="2100" b="0">
                <a:solidFill>
                  <a:srgbClr val="142C40"/>
                </a:solidFill>
                <a:latin typeface="Arial"/>
                <a:ea typeface="Arial"/>
                <a:cs typeface="Arial"/>
              </a:rPr>
              <a:t>30 benchmark cases</a:t>
            </a:r>
          </a:p>
          <a:p xmlns:a="http://schemas.openxmlformats.org/drawingml/2006/main">
            <a:pPr>
              <a:buNone/>
              <a:defRPr sz="2100" b="0">
                <a:solidFill>
                  <a:srgbClr val="142C40"/>
                </a:solidFill>
                <a:latin typeface="Arial"/>
                <a:ea typeface="Arial"/>
                <a:cs typeface="Arial"/>
              </a:defRPr>
            </a:pPr>
            <a:r>
              <a:rPr sz="2100" b="0">
                <a:solidFill>
                  <a:srgbClr val="142C40"/>
                </a:solidFill>
                <a:latin typeface="Arial"/>
                <a:ea typeface="Arial"/>
                <a:cs typeface="Arial"/>
              </a:rPr>
              <a:t>Five cold timing runs per case</a:t>
            </a:r>
          </a:p>
          <a:p xmlns:a="http://schemas.openxmlformats.org/drawingml/2006/main">
            <a:pPr>
              <a:buNone/>
              <a:defRPr sz="2100" b="0">
                <a:solidFill>
                  <a:srgbClr val="142C40"/>
                </a:solidFill>
                <a:latin typeface="Arial"/>
                <a:ea typeface="Arial"/>
                <a:cs typeface="Arial"/>
              </a:defRPr>
            </a:pPr>
            <a:r>
              <a:rPr sz="2100" b="0">
                <a:solidFill>
                  <a:srgbClr val="142C40"/>
                </a:solidFill>
                <a:latin typeface="Arial"/>
                <a:ea typeface="Arial"/>
                <a:cs typeface="Arial"/>
              </a:rPr>
              <a:t>One separate memory-tracing run</a:t>
            </a:r>
          </a:p>
        </p:txBody>
      </p:sp>
      <p:sp>
        <p:nvSpPr>
          <p:cNvPr id="6" name="">
            <a:extLst xmlns:a="http://schemas.openxmlformats.org/drawingml/2006/main">
              <a:ext uri="{FF2B5EF4-FFF2-40B4-BE49-F238E27FC236}">
                <a16:creationId xmlns:a16="http://schemas.microsoft.com/office/drawing/2014/main" id="{0B78DB02-F286-44C2-B1DD-A11C6DBB370B}"/>
              </a:ext>
            </a:extLst>
          </p:cNvPr>
          <p:cNvSpPr>
            <a:spLocks xmlns:a="http://schemas.openxmlformats.org/drawingml/2006/main" noGrp="1"/>
          </p:cNvSpPr>
          <p:nvPr/>
        </p:nvSpPr>
        <p:spPr>
          <a:xfrm xmlns:a="http://schemas.openxmlformats.org/drawingml/2006/main">
            <a:off x="666750" y="4752975"/>
            <a:ext cx="52101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66979"/>
                </a:solidFill>
                <a:latin typeface="Arial"/>
                <a:ea typeface="Arial"/>
                <a:cs typeface="Arial"/>
              </a:defRPr>
            </a:pPr>
            <a:r>
              <a:rPr sz="1950" b="0">
                <a:solidFill>
                  <a:srgbClr val="566979"/>
                </a:solidFill>
                <a:latin typeface="Arial"/>
                <a:ea typeface="Arial"/>
                <a:cs typeface="Arial"/>
              </a:rPr>
              <a:t>Includes heuristic preprocessing</a:t>
            </a:r>
          </a:p>
          <a:p xmlns:a="http://schemas.openxmlformats.org/drawingml/2006/main">
            <a:pPr>
              <a:buNone/>
              <a:defRPr sz="1950" b="0">
                <a:solidFill>
                  <a:srgbClr val="566979"/>
                </a:solidFill>
                <a:latin typeface="Arial"/>
                <a:ea typeface="Arial"/>
                <a:cs typeface="Arial"/>
              </a:defRPr>
            </a:pPr>
            <a:r>
              <a:rPr sz="1950" b="0">
                <a:solidFill>
                  <a:srgbClr val="566979"/>
                </a:solidFill>
                <a:latin typeface="Arial"/>
                <a:ea typeface="Arial"/>
                <a:cs typeface="Arial"/>
              </a:rPr>
              <a:t>Excludes graphics and game execution</a:t>
            </a:r>
          </a:p>
        </p:txBody>
      </p:sp>
      <p:sp>
        <p:nvSpPr>
          <p:cNvPr id="7" name="">
            <a:extLst xmlns:a="http://schemas.openxmlformats.org/drawingml/2006/main">
              <a:ext uri="{FF2B5EF4-FFF2-40B4-BE49-F238E27FC236}">
                <a16:creationId xmlns:a16="http://schemas.microsoft.com/office/drawing/2014/main" id="{A401CA1F-CB7F-4696-AC9E-BF4774261584}"/>
              </a:ext>
            </a:extLst>
          </p:cNvPr>
          <p:cNvSpPr>
            <a:spLocks xmlns:a="http://schemas.openxmlformats.org/drawingml/2006/main" noGrp="1"/>
          </p:cNvSpPr>
          <p:nvPr/>
        </p:nvSpPr>
        <p:spPr>
          <a:xfrm xmlns:a="http://schemas.openxmlformats.org/drawingml/2006/main">
            <a:off x="6477000" y="2038350"/>
            <a:ext cx="5095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087F7B"/>
                </a:solidFill>
                <a:latin typeface="Arial"/>
                <a:ea typeface="Arial"/>
                <a:cs typeface="Arial"/>
              </a:defRPr>
            </a:pPr>
            <a:r>
              <a:rPr sz="2400" b="1">
                <a:solidFill>
                  <a:srgbClr val="087F7B"/>
                </a:solidFill>
                <a:latin typeface="Arial"/>
                <a:ea typeface="Arial"/>
                <a:cs typeface="Arial"/>
              </a:rPr>
              <a:t>Correctness evidence</a:t>
            </a:r>
          </a:p>
        </p:txBody>
      </p:sp>
      <p:sp>
        <p:nvSpPr>
          <p:cNvPr id="8" name="">
            <a:extLst xmlns:a="http://schemas.openxmlformats.org/drawingml/2006/main">
              <a:ext uri="{FF2B5EF4-FFF2-40B4-BE49-F238E27FC236}">
                <a16:creationId xmlns:a16="http://schemas.microsoft.com/office/drawing/2014/main" id="{37D04CB2-4F6C-4AE4-9059-BDFBDC60998C}"/>
              </a:ext>
            </a:extLst>
          </p:cNvPr>
          <p:cNvSpPr>
            <a:spLocks xmlns:a="http://schemas.openxmlformats.org/drawingml/2006/main" noGrp="1"/>
          </p:cNvSpPr>
          <p:nvPr/>
        </p:nvSpPr>
        <p:spPr>
          <a:xfrm xmlns:a="http://schemas.openxmlformats.org/drawingml/2006/main">
            <a:off x="6496050" y="28956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C40"/>
                </a:solidFill>
                <a:latin typeface="Arial"/>
                <a:ea typeface="Arial"/>
                <a:cs typeface="Arial"/>
              </a:defRPr>
            </a:pPr>
            <a:r>
              <a:rPr sz="2100" b="0">
                <a:solidFill>
                  <a:srgbClr val="142C40"/>
                </a:solidFill>
                <a:latin typeface="Arial"/>
                <a:ea typeface="Arial"/>
                <a:cs typeface="Arial"/>
              </a:rPr>
              <a:t>13 regression tests passed</a:t>
            </a:r>
          </a:p>
          <a:p xmlns:a="http://schemas.openxmlformats.org/drawingml/2006/main">
            <a:pPr>
              <a:buNone/>
              <a:defRPr sz="2100" b="0">
                <a:solidFill>
                  <a:srgbClr val="142C40"/>
                </a:solidFill>
                <a:latin typeface="Arial"/>
                <a:ea typeface="Arial"/>
                <a:cs typeface="Arial"/>
              </a:defRPr>
            </a:pPr>
            <a:r>
              <a:rPr sz="2100" b="0">
                <a:solidFill>
                  <a:srgbClr val="142C40"/>
                </a:solidFill>
                <a:latin typeface="Arial"/>
                <a:ea typeface="Arial"/>
                <a:cs typeface="Arial"/>
              </a:rPr>
              <a:t>20 complete-game examples passed</a:t>
            </a:r>
          </a:p>
        </p:txBody>
      </p:sp>
      <p:sp>
        <p:nvSpPr>
          <p:cNvPr id="9" name="">
            <a:extLst xmlns:a="http://schemas.openxmlformats.org/drawingml/2006/main">
              <a:ext uri="{FF2B5EF4-FFF2-40B4-BE49-F238E27FC236}">
                <a16:creationId xmlns:a16="http://schemas.microsoft.com/office/drawing/2014/main" id="{676F11B3-9B21-4A4C-ABB6-261F90605F68}"/>
              </a:ext>
            </a:extLst>
          </p:cNvPr>
          <p:cNvSpPr>
            <a:spLocks xmlns:a="http://schemas.openxmlformats.org/drawingml/2006/main" noGrp="1"/>
          </p:cNvSpPr>
          <p:nvPr/>
        </p:nvSpPr>
        <p:spPr>
          <a:xfrm xmlns:a="http://schemas.openxmlformats.org/drawingml/2006/main">
            <a:off x="6496050" y="4467225"/>
            <a:ext cx="4953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C40"/>
                </a:solidFill>
                <a:latin typeface="Arial"/>
                <a:ea typeface="Arial"/>
                <a:cs typeface="Arial"/>
              </a:defRPr>
            </a:pPr>
            <a:r>
              <a:rPr sz="2100" b="0">
                <a:solidFill>
                  <a:srgbClr val="142C40"/>
                </a:solidFill>
                <a:latin typeface="Arial"/>
                <a:ea typeface="Arial"/>
                <a:cs typeface="Arial"/>
              </a:rPr>
              <a:t>Exhaustive heuristic checks:</a:t>
            </a:r>
          </a:p>
          <a:p xmlns:a="http://schemas.openxmlformats.org/drawingml/2006/main">
            <a:pPr>
              <a:buNone/>
              <a:defRPr sz="2100" b="0">
                <a:solidFill>
                  <a:srgbClr val="142C40"/>
                </a:solidFill>
                <a:latin typeface="Arial"/>
                <a:ea typeface="Arial"/>
                <a:cs typeface="Arial"/>
              </a:defRPr>
            </a:pPr>
            <a:r>
              <a:rPr sz="2100" b="0">
                <a:solidFill>
                  <a:srgbClr val="142C40"/>
                </a:solidFill>
                <a:latin typeface="Arial"/>
                <a:ea typeface="Arial"/>
                <a:cs typeface="Arial"/>
              </a:rPr>
              <a:t>11,540 reachable states</a:t>
            </a:r>
          </a:p>
          <a:p xmlns:a="http://schemas.openxmlformats.org/drawingml/2006/main">
            <a:pPr>
              <a:buNone/>
              <a:defRPr sz="2100" b="0">
                <a:solidFill>
                  <a:srgbClr val="142C40"/>
                </a:solidFill>
                <a:latin typeface="Arial"/>
                <a:ea typeface="Arial"/>
                <a:cs typeface="Arial"/>
              </a:defRPr>
            </a:pPr>
            <a:r>
              <a:rPr sz="2100" b="0">
                <a:solidFill>
                  <a:srgbClr val="142C40"/>
                </a:solidFill>
                <a:latin typeface="Arial"/>
                <a:ea typeface="Arial"/>
                <a:cs typeface="Arial"/>
              </a:rPr>
              <a:t>25,408 transitions</a:t>
            </a:r>
          </a:p>
        </p:txBody>
      </p:sp>
      <p:sp>
        <p:nvSpPr>
          <p:cNvPr id="11" name="jump-56">
            <a:extLst xmlns:a="http://schemas.openxmlformats.org/drawingml/2006/main">
              <a:ext uri="{FF2B5EF4-FFF2-40B4-BE49-F238E27FC236}">
                <a16:creationId xmlns:a16="http://schemas.microsoft.com/office/drawing/2014/main" id="{9AF0539A-44E9-48D6-A12F-239AF01A6FAD}"/>
              </a:ext>
            </a:extLst>
            <ns0:hlinkClick xmlns:ns0="http://schemas.openxmlformats.org/drawingml/2006/main" xmlns:ns1="http://schemas.openxmlformats.org/officeDocument/2006/relationships" ns1:id="rIdNav3"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2" name="jump-57">
            <a:extLst xmlns:a="http://schemas.openxmlformats.org/drawingml/2006/main">
              <a:ext uri="{FF2B5EF4-FFF2-40B4-BE49-F238E27FC236}">
                <a16:creationId xmlns:a16="http://schemas.microsoft.com/office/drawing/2014/main" id="{9FBB4597-9780-4E9F-A275-ADDC1D564C85}"/>
              </a:ext>
            </a:extLst>
            <ns2:hlinkClick xmlns:ns2="http://schemas.openxmlformats.org/drawingml/2006/main" xmlns:ns3="http://schemas.openxmlformats.org/officeDocument/2006/relationships" ns3:id="rIdNav4" action="ppaction://hlinksldjump" tooltip="Go to slide 13"/>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3" name="jump-58">
            <a:extLst xmlns:a="http://schemas.openxmlformats.org/drawingml/2006/main">
              <a:ext uri="{FF2B5EF4-FFF2-40B4-BE49-F238E27FC236}">
                <a16:creationId xmlns:a16="http://schemas.microsoft.com/office/drawing/2014/main" id="{04C7892E-21D7-4D50-B619-2F7D6DDCAA54}"/>
              </a:ext>
            </a:extLst>
            <ns4:hlinkClick xmlns:ns4="http://schemas.openxmlformats.org/drawingml/2006/main" xmlns:ns5="http://schemas.openxmlformats.org/officeDocument/2006/relationships" ns5:id="rIdNav5" action="ppaction://hlinksldjump" tooltip="Go to slide 15"/>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4" name="">
            <a:extLst xmlns:a="http://schemas.openxmlformats.org/drawingml/2006/main">
              <a:ext uri="{FF2B5EF4-FFF2-40B4-BE49-F238E27FC236}">
                <a16:creationId xmlns:a16="http://schemas.microsoft.com/office/drawing/2014/main" id="{0FF13B06-5E3C-465E-B1D3-9C7AF95A4927}"/>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14</a:t>
            </a:r>
          </a:p>
        </p:txBody>
      </p:sp>
    </p:spTree>
    <p:extLst>
      <p:ext uri="{BB962C8B-B14F-4D97-AF65-F5344CB8AC3E}">
        <p14:creationId xmlns:p14="http://schemas.microsoft.com/office/powerpoint/2010/main" val="30058183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70033D7-77BB-4DAB-8ACD-5C264F9A1591}"/>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Arial"/>
                <a:ea typeface="Arial"/>
                <a:cs typeface="Arial"/>
              </a:defRPr>
            </a:pPr>
            <a:r>
              <a:rPr sz="3300" b="1">
                <a:solidFill>
                  <a:srgbClr val="142C40"/>
                </a:solidFill>
                <a:latin typeface="Arial"/>
                <a:ea typeface="Arial"/>
                <a:cs typeface="Arial"/>
              </a:rPr>
              <a:t>Planning time and playback speed</a:t>
            </a:r>
          </a:p>
        </p:txBody>
      </p:sp>
      <p:sp>
        <p:nvSpPr>
          <p:cNvPr id="2" name="">
            <a:extLst xmlns:a="http://schemas.openxmlformats.org/drawingml/2006/main">
              <a:ext uri="{FF2B5EF4-FFF2-40B4-BE49-F238E27FC236}">
                <a16:creationId xmlns:a16="http://schemas.microsoft.com/office/drawing/2014/main" id="{5F873D7D-344D-4763-9BDE-E391F6527854}"/>
              </a:ext>
            </a:extLst>
          </p:cNvPr>
          <p:cNvSpPr>
            <a:spLocks xmlns:a="http://schemas.openxmlformats.org/drawingml/2006/main" noGrp="1"/>
          </p:cNvSpPr>
          <p:nvPr/>
        </p:nvSpPr>
        <p:spPr>
          <a:xfrm xmlns:a="http://schemas.openxmlformats.org/drawingml/2006/main">
            <a:off x="628650" y="1190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979"/>
                </a:solidFill>
                <a:latin typeface="Arial"/>
                <a:ea typeface="Arial"/>
                <a:cs typeface="Arial"/>
              </a:defRPr>
            </a:pPr>
            <a:r>
              <a:rPr sz="1875" b="0">
                <a:solidFill>
                  <a:srgbClr val="566979"/>
                </a:solidFill>
                <a:latin typeface="Arial"/>
                <a:ea typeface="Arial"/>
                <a:cs typeface="Arial"/>
              </a:rPr>
              <a:t>A slow animation can follow a very fast search</a:t>
            </a:r>
          </a:p>
        </p:txBody>
      </p:sp>
      <p:sp>
        <p:nvSpPr>
          <p:cNvPr id="3" name="">
            <a:extLst xmlns:a="http://schemas.openxmlformats.org/drawingml/2006/main">
              <a:ext uri="{FF2B5EF4-FFF2-40B4-BE49-F238E27FC236}">
                <a16:creationId xmlns:a16="http://schemas.microsoft.com/office/drawing/2014/main" id="{8F3627CD-98BB-42ED-AC59-08F792DFCE2F}"/>
              </a:ext>
            </a:extLst>
          </p:cNvPr>
          <p:cNvSpPr>
            <a:spLocks xmlns:a="http://schemas.openxmlformats.org/drawingml/2006/main" noGrp="1"/>
          </p:cNvSpPr>
          <p:nvPr/>
        </p:nvSpPr>
        <p:spPr>
          <a:xfrm xmlns:a="http://schemas.openxmlformats.org/drawingml/2006/main">
            <a:off x="685800" y="20383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B"/>
                </a:solidFill>
                <a:latin typeface="Arial"/>
                <a:ea typeface="Arial"/>
                <a:cs typeface="Arial"/>
              </a:defRPr>
            </a:pPr>
            <a:r>
              <a:rPr sz="1800" b="1">
                <a:solidFill>
                  <a:srgbClr val="087F7B"/>
                </a:solidFill>
                <a:latin typeface="Arial"/>
                <a:ea typeface="Arial"/>
                <a:cs typeface="Arial"/>
              </a:rPr>
              <a:t>SEARCH PLANNING</a:t>
            </a:r>
          </a:p>
        </p:txBody>
      </p:sp>
      <p:sp>
        <p:nvSpPr>
          <p:cNvPr id="4" name="">
            <a:extLst xmlns:a="http://schemas.openxmlformats.org/drawingml/2006/main">
              <a:ext uri="{FF2B5EF4-FFF2-40B4-BE49-F238E27FC236}">
                <a16:creationId xmlns:a16="http://schemas.microsoft.com/office/drawing/2014/main" id="{3F189761-3F30-45E7-B5B9-847F6CF5CDE0}"/>
              </a:ext>
            </a:extLst>
          </p:cNvPr>
          <p:cNvSpPr>
            <a:spLocks xmlns:a="http://schemas.openxmlformats.org/drawingml/2006/main" noGrp="1"/>
          </p:cNvSpPr>
          <p:nvPr/>
        </p:nvSpPr>
        <p:spPr>
          <a:xfrm xmlns:a="http://schemas.openxmlformats.org/drawingml/2006/main">
            <a:off x="685800" y="2724150"/>
            <a:ext cx="5000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C40"/>
                </a:solidFill>
                <a:latin typeface="Arial"/>
                <a:ea typeface="Arial"/>
                <a:cs typeface="Arial"/>
              </a:defRPr>
            </a:pPr>
            <a:r>
              <a:rPr sz="3000" b="1">
                <a:solidFill>
                  <a:srgbClr val="142C40"/>
                </a:solidFill>
                <a:latin typeface="Arial"/>
                <a:ea typeface="Arial"/>
                <a:cs typeface="Arial"/>
              </a:rPr>
              <a:t>About 9 milliseconds</a:t>
            </a:r>
          </a:p>
        </p:txBody>
      </p:sp>
      <p:sp>
        <p:nvSpPr>
          <p:cNvPr id="5" name="">
            <a:extLst xmlns:a="http://schemas.openxmlformats.org/drawingml/2006/main">
              <a:ext uri="{FF2B5EF4-FFF2-40B4-BE49-F238E27FC236}">
                <a16:creationId xmlns:a16="http://schemas.microsoft.com/office/drawing/2014/main" id="{865BCA2C-8045-493F-B7D0-9127A609C79D}"/>
              </a:ext>
            </a:extLst>
          </p:cNvPr>
          <p:cNvSpPr>
            <a:spLocks xmlns:a="http://schemas.openxmlformats.org/drawingml/2006/main" noGrp="1"/>
          </p:cNvSpPr>
          <p:nvPr/>
        </p:nvSpPr>
        <p:spPr>
          <a:xfrm xmlns:a="http://schemas.openxmlformats.org/drawingml/2006/main">
            <a:off x="704850" y="3600450"/>
            <a:ext cx="50006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Arial"/>
                <a:ea typeface="Arial"/>
                <a:cs typeface="Arial"/>
              </a:defRPr>
            </a:pPr>
            <a:r>
              <a:rPr sz="2250" b="0">
                <a:solidFill>
                  <a:srgbClr val="142C40"/>
                </a:solidFill>
                <a:latin typeface="Arial"/>
                <a:ea typeface="Arial"/>
                <a:cs typeface="Arial"/>
              </a:rPr>
              <a:t>A* finds the trickySearch route</a:t>
            </a:r>
          </a:p>
          <a:p xmlns:a="http://schemas.openxmlformats.org/drawingml/2006/main">
            <a:pPr>
              <a:defRPr sz="2250" b="0">
                <a:solidFill>
                  <a:srgbClr val="142C40"/>
                </a:solidFill>
                <a:latin typeface="Arial"/>
                <a:ea typeface="Arial"/>
                <a:cs typeface="Arial"/>
              </a:defRPr>
            </a:pPr>
            <a:r>
              <a:rPr sz="2250" b="0">
                <a:solidFill>
                  <a:srgbClr val="142C40"/>
                </a:solidFill>
                <a:latin typeface="Arial"/>
                <a:ea typeface="Arial"/>
                <a:cs typeface="Arial"/>
              </a:rPr>
              <a:t>before Pac-Man starts moving.</a:t>
            </a:r>
          </a:p>
        </p:txBody>
      </p:sp>
      <p:sp>
        <p:nvSpPr>
          <p:cNvPr id="6" name="">
            <a:extLst xmlns:a="http://schemas.openxmlformats.org/drawingml/2006/main">
              <a:ext uri="{FF2B5EF4-FFF2-40B4-BE49-F238E27FC236}">
                <a16:creationId xmlns:a16="http://schemas.microsoft.com/office/drawing/2014/main" id="{62D9B3C0-2218-46EB-9DAB-85527E10DD50}"/>
              </a:ext>
            </a:extLst>
          </p:cNvPr>
          <p:cNvSpPr>
            <a:spLocks xmlns:a="http://schemas.openxmlformats.org/drawingml/2006/main" noGrp="1"/>
          </p:cNvSpPr>
          <p:nvPr/>
        </p:nvSpPr>
        <p:spPr>
          <a:xfrm xmlns:a="http://schemas.openxmlformats.org/drawingml/2006/main">
            <a:off x="6524625" y="20383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7B"/>
                </a:solidFill>
                <a:latin typeface="Arial"/>
                <a:ea typeface="Arial"/>
                <a:cs typeface="Arial"/>
              </a:defRPr>
            </a:pPr>
            <a:r>
              <a:rPr sz="1800" b="1">
                <a:solidFill>
                  <a:srgbClr val="087F7B"/>
                </a:solidFill>
                <a:latin typeface="Arial"/>
                <a:ea typeface="Arial"/>
                <a:cs typeface="Arial"/>
              </a:rPr>
              <a:t>GAME PLAYBACK</a:t>
            </a:r>
          </a:p>
        </p:txBody>
      </p:sp>
      <p:sp>
        <p:nvSpPr>
          <p:cNvPr id="7" name="">
            <a:extLst xmlns:a="http://schemas.openxmlformats.org/drawingml/2006/main">
              <a:ext uri="{FF2B5EF4-FFF2-40B4-BE49-F238E27FC236}">
                <a16:creationId xmlns:a16="http://schemas.microsoft.com/office/drawing/2014/main" id="{896C95D2-5625-4BC7-8135-D4B311C31163}"/>
              </a:ext>
            </a:extLst>
          </p:cNvPr>
          <p:cNvSpPr>
            <a:spLocks xmlns:a="http://schemas.openxmlformats.org/drawingml/2006/main" noGrp="1"/>
          </p:cNvSpPr>
          <p:nvPr/>
        </p:nvSpPr>
        <p:spPr>
          <a:xfrm xmlns:a="http://schemas.openxmlformats.org/drawingml/2006/main">
            <a:off x="6524625" y="2724150"/>
            <a:ext cx="4905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42C40"/>
                </a:solidFill>
                <a:latin typeface="Arial"/>
                <a:ea typeface="Arial"/>
                <a:cs typeface="Arial"/>
              </a:defRPr>
            </a:pPr>
            <a:r>
              <a:rPr sz="2625" b="1">
                <a:solidFill>
                  <a:srgbClr val="142C40"/>
                </a:solidFill>
                <a:latin typeface="Arial"/>
                <a:ea typeface="Arial"/>
                <a:cs typeface="Arial"/>
              </a:rPr>
              <a:t>60 moves at 0.2 s each</a:t>
            </a:r>
          </a:p>
        </p:txBody>
      </p:sp>
      <p:sp>
        <p:nvSpPr>
          <p:cNvPr id="8" name="">
            <a:extLst xmlns:a="http://schemas.openxmlformats.org/drawingml/2006/main">
              <a:ext uri="{FF2B5EF4-FFF2-40B4-BE49-F238E27FC236}">
                <a16:creationId xmlns:a16="http://schemas.microsoft.com/office/drawing/2014/main" id="{E549DAA6-F712-4288-ABED-07CB766D5209}"/>
              </a:ext>
            </a:extLst>
          </p:cNvPr>
          <p:cNvSpPr>
            <a:spLocks xmlns:a="http://schemas.openxmlformats.org/drawingml/2006/main" noGrp="1"/>
          </p:cNvSpPr>
          <p:nvPr/>
        </p:nvSpPr>
        <p:spPr>
          <a:xfrm xmlns:a="http://schemas.openxmlformats.org/drawingml/2006/main">
            <a:off x="6543675" y="3600450"/>
            <a:ext cx="49530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40"/>
                </a:solidFill>
                <a:latin typeface="Arial"/>
                <a:ea typeface="Arial"/>
                <a:cs typeface="Arial"/>
              </a:defRPr>
            </a:pPr>
            <a:r>
              <a:rPr sz="2250" b="0">
                <a:solidFill>
                  <a:srgbClr val="142C40"/>
                </a:solidFill>
                <a:latin typeface="Arial"/>
                <a:ea typeface="Arial"/>
                <a:cs typeface="Arial"/>
              </a:rPr>
              <a:t>About 12 seconds of requested</a:t>
            </a:r>
          </a:p>
          <a:p xmlns:a="http://schemas.openxmlformats.org/drawingml/2006/main">
            <a:pPr>
              <a:defRPr sz="2250" b="0">
                <a:solidFill>
                  <a:srgbClr val="142C40"/>
                </a:solidFill>
                <a:latin typeface="Arial"/>
                <a:ea typeface="Arial"/>
                <a:cs typeface="Arial"/>
              </a:defRPr>
            </a:pPr>
            <a:r>
              <a:rPr sz="2250" b="0">
                <a:solidFill>
                  <a:srgbClr val="142C40"/>
                </a:solidFill>
                <a:latin typeface="Arial"/>
                <a:ea typeface="Arial"/>
                <a:cs typeface="Arial"/>
              </a:rPr>
              <a:t>pauses, plus drawing time.</a:t>
            </a:r>
          </a:p>
        </p:txBody>
      </p:sp>
      <p:sp>
        <p:nvSpPr>
          <p:cNvPr id="9" name="">
            <a:extLst xmlns:a="http://schemas.openxmlformats.org/drawingml/2006/main">
              <a:ext uri="{FF2B5EF4-FFF2-40B4-BE49-F238E27FC236}">
                <a16:creationId xmlns:a16="http://schemas.microsoft.com/office/drawing/2014/main" id="{F36C6C1A-9D31-428E-8215-EC3343F22AC3}"/>
              </a:ext>
            </a:extLst>
          </p:cNvPr>
          <p:cNvSpPr>
            <a:spLocks xmlns:a="http://schemas.openxmlformats.org/drawingml/2006/main" noGrp="1"/>
          </p:cNvSpPr>
          <p:nvPr/>
        </p:nvSpPr>
        <p:spPr>
          <a:xfrm xmlns:a="http://schemas.openxmlformats.org/drawingml/2006/main">
            <a:off x="704850" y="5210175"/>
            <a:ext cx="1081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7B"/>
                </a:solidFill>
                <a:latin typeface="Arial"/>
                <a:ea typeface="Arial"/>
                <a:cs typeface="Arial"/>
              </a:defRPr>
            </a:pPr>
            <a:r>
              <a:rPr sz="2025" b="1">
                <a:solidFill>
                  <a:srgbClr val="087F7B"/>
                </a:solidFill>
                <a:latin typeface="Arial"/>
                <a:ea typeface="Arial"/>
                <a:cs typeface="Arial"/>
              </a:rPr>
              <a:t>Demo setting: 0.04 s per move. Set --frameTime 0 to remove animation delays.</a:t>
            </a:r>
          </a:p>
        </p:txBody>
      </p:sp>
      <p:sp>
        <p:nvSpPr>
          <p:cNvPr id="10" name="jump-59">
            <a:extLst xmlns:a="http://schemas.openxmlformats.org/drawingml/2006/main">
              <a:ext uri="{FF2B5EF4-FFF2-40B4-BE49-F238E27FC236}">
                <a16:creationId xmlns:a16="http://schemas.microsoft.com/office/drawing/2014/main" id="{8AF032F2-29BD-43CF-9FAA-CA6C0FC64ED4}"/>
              </a:ext>
            </a:extLst>
            <ns0:hlinkClick xmlns:ns0="http://schemas.openxmlformats.org/drawingml/2006/main" xmlns:ns1="http://schemas.openxmlformats.org/officeDocument/2006/relationships" ns1:id="rIdNav3"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1" name="jump-60">
            <a:extLst xmlns:a="http://schemas.openxmlformats.org/drawingml/2006/main">
              <a:ext uri="{FF2B5EF4-FFF2-40B4-BE49-F238E27FC236}">
                <a16:creationId xmlns:a16="http://schemas.microsoft.com/office/drawing/2014/main" id="{40DA669E-D373-4FA7-8D4C-F8B81AB9CE32}"/>
              </a:ext>
            </a:extLst>
            <ns2:hlinkClick xmlns:ns2="http://schemas.openxmlformats.org/drawingml/2006/main" xmlns:ns3="http://schemas.openxmlformats.org/officeDocument/2006/relationships" ns3:id="rIdNav4" action="ppaction://hlinksldjump" tooltip="Go to slide 14"/>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2" name="jump-61">
            <a:extLst xmlns:a="http://schemas.openxmlformats.org/drawingml/2006/main">
              <a:ext uri="{FF2B5EF4-FFF2-40B4-BE49-F238E27FC236}">
                <a16:creationId xmlns:a16="http://schemas.microsoft.com/office/drawing/2014/main" id="{AEB14535-3F84-4051-B8B5-5DA83B812EEC}"/>
              </a:ext>
            </a:extLst>
            <ns4:hlinkClick xmlns:ns4="http://schemas.openxmlformats.org/drawingml/2006/main" xmlns:ns5="http://schemas.openxmlformats.org/officeDocument/2006/relationships" ns5:id="rIdNav5" action="ppaction://hlinksldjump" tooltip="Go to slide 16"/>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3" name="">
            <a:extLst xmlns:a="http://schemas.openxmlformats.org/drawingml/2006/main">
              <a:ext uri="{FF2B5EF4-FFF2-40B4-BE49-F238E27FC236}">
                <a16:creationId xmlns:a16="http://schemas.microsoft.com/office/drawing/2014/main" id="{43159756-F152-4B7E-9C04-9C5C9313FB41}"/>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15</a:t>
            </a:r>
          </a:p>
        </p:txBody>
      </p:sp>
    </p:spTree>
    <p:extLst>
      <p:ext uri="{BB962C8B-B14F-4D97-AF65-F5344CB8AC3E}">
        <p14:creationId xmlns:p14="http://schemas.microsoft.com/office/powerpoint/2010/main" val="5006942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F868F9B-6A84-4761-A0BB-11345E10A2FA}"/>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Arial"/>
                <a:ea typeface="Arial"/>
                <a:cs typeface="Arial"/>
              </a:defRPr>
            </a:pPr>
            <a:r>
              <a:rPr sz="3300" b="1">
                <a:solidFill>
                  <a:srgbClr val="142C40"/>
                </a:solidFill>
                <a:latin typeface="Arial"/>
                <a:ea typeface="Arial"/>
                <a:cs typeface="Arial"/>
              </a:rPr>
              <a:t>Live demonstrations</a:t>
            </a:r>
          </a:p>
        </p:txBody>
      </p:sp>
      <p:sp>
        <p:nvSpPr>
          <p:cNvPr id="2" name="">
            <a:extLst xmlns:a="http://schemas.openxmlformats.org/drawingml/2006/main">
              <a:ext uri="{FF2B5EF4-FFF2-40B4-BE49-F238E27FC236}">
                <a16:creationId xmlns:a16="http://schemas.microsoft.com/office/drawing/2014/main" id="{522FBBF6-78E8-49C1-A5F0-5B455F4AC5E5}"/>
              </a:ext>
            </a:extLst>
          </p:cNvPr>
          <p:cNvSpPr>
            <a:spLocks xmlns:a="http://schemas.openxmlformats.org/drawingml/2006/main" noGrp="1"/>
          </p:cNvSpPr>
          <p:nvPr/>
        </p:nvSpPr>
        <p:spPr>
          <a:xfrm xmlns:a="http://schemas.openxmlformats.org/drawingml/2006/main">
            <a:off x="628650" y="1190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979"/>
                </a:solidFill>
                <a:latin typeface="Arial"/>
                <a:ea typeface="Arial"/>
                <a:cs typeface="Arial"/>
              </a:defRPr>
            </a:pPr>
            <a:r>
              <a:rPr sz="1875" b="0">
                <a:solidFill>
                  <a:srgbClr val="566979"/>
                </a:solidFill>
                <a:latin typeface="Arial"/>
                <a:ea typeface="Arial"/>
                <a:cs typeface="Arial"/>
              </a:rPr>
              <a:t>Choose a demo to view its command and expected result</a:t>
            </a:r>
          </a:p>
        </p:txBody>
      </p:sp>
      <p:sp>
        <p:nvSpPr>
          <p:cNvPr id="3" name="jump-10">
            <a:extLst xmlns:a="http://schemas.openxmlformats.org/drawingml/2006/main">
              <a:ext uri="{FF2B5EF4-FFF2-40B4-BE49-F238E27FC236}">
                <a16:creationId xmlns:a16="http://schemas.microsoft.com/office/drawing/2014/main" id="{A2CA58DF-E821-4258-BA84-FE85409AE5D8}"/>
              </a:ext>
            </a:extLst>
            <ns0:hlinkClick xmlns:ns0="http://schemas.openxmlformats.org/drawingml/2006/main" xmlns:ns1="http://schemas.openxmlformats.org/officeDocument/2006/relationships" ns1:id="rIdNav3" action="ppaction://hlinksldjump" tooltip="Go to slide 18"/>
          </p:cNvPr>
          <p:cNvSpPr>
            <a:spLocks xmlns:a="http://schemas.openxmlformats.org/drawingml/2006/main" noGrp="1"/>
          </p:cNvSpPr>
          <p:nvPr/>
        </p:nvSpPr>
        <p:spPr>
          <a:xfrm xmlns:a="http://schemas.openxmlformats.org/drawingml/2006/main">
            <a:off x="685800" y="2152650"/>
            <a:ext cx="3286125" cy="904875"/>
          </a:xfrm>
          <a:prstGeom xmlns:a="http://schemas.openxmlformats.org/drawingml/2006/main" prst="rect">
            <a:avLst/>
          </a:prstGeom>
          <a:solidFill xmlns:a="http://schemas.openxmlformats.org/drawingml/2006/main">
            <a:srgbClr val="087F7B"/>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BFS route</a:t>
            </a:r>
          </a:p>
        </p:txBody>
      </p:sp>
      <p:sp>
        <p:nvSpPr>
          <p:cNvPr id="4" name="jump-11">
            <a:extLst xmlns:a="http://schemas.openxmlformats.org/drawingml/2006/main">
              <a:ext uri="{FF2B5EF4-FFF2-40B4-BE49-F238E27FC236}">
                <a16:creationId xmlns:a16="http://schemas.microsoft.com/office/drawing/2014/main" id="{CE4FB5D3-855A-4BE0-A1DB-C90B3DF104E4}"/>
              </a:ext>
            </a:extLst>
            <ns2:hlinkClick xmlns:ns2="http://schemas.openxmlformats.org/drawingml/2006/main" xmlns:ns3="http://schemas.openxmlformats.org/officeDocument/2006/relationships" ns3:id="rIdNav4" action="ppaction://hlinksldjump" tooltip="Go to slide 19"/>
          </p:cNvPr>
          <p:cNvSpPr>
            <a:spLocks xmlns:a="http://schemas.openxmlformats.org/drawingml/2006/main" noGrp="1"/>
          </p:cNvSpPr>
          <p:nvPr/>
        </p:nvSpPr>
        <p:spPr>
          <a:xfrm xmlns:a="http://schemas.openxmlformats.org/drawingml/2006/main">
            <a:off x="4457700" y="2152650"/>
            <a:ext cx="3286125" cy="904875"/>
          </a:xfrm>
          <a:prstGeom xmlns:a="http://schemas.openxmlformats.org/drawingml/2006/main" prst="rect">
            <a:avLst/>
          </a:prstGeom>
          <a:solidFill xmlns:a="http://schemas.openxmlformats.org/drawingml/2006/main">
            <a:srgbClr val="087F7B"/>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Four corners</a:t>
            </a:r>
          </a:p>
        </p:txBody>
      </p:sp>
      <p:sp>
        <p:nvSpPr>
          <p:cNvPr id="5" name="jump-12">
            <a:extLst xmlns:a="http://schemas.openxmlformats.org/drawingml/2006/main">
              <a:ext uri="{FF2B5EF4-FFF2-40B4-BE49-F238E27FC236}">
                <a16:creationId xmlns:a16="http://schemas.microsoft.com/office/drawing/2014/main" id="{FDFB09C6-61DE-43D7-A819-0E6EB11B3FD8}"/>
              </a:ext>
            </a:extLst>
            <ns4:hlinkClick xmlns:ns4="http://schemas.openxmlformats.org/drawingml/2006/main" xmlns:ns5="http://schemas.openxmlformats.org/officeDocument/2006/relationships" ns5:id="rIdNav5" action="ppaction://hlinksldjump" tooltip="Go to slide 20"/>
          </p:cNvPr>
          <p:cNvSpPr>
            <a:spLocks xmlns:a="http://schemas.openxmlformats.org/drawingml/2006/main" noGrp="1"/>
          </p:cNvSpPr>
          <p:nvPr/>
        </p:nvSpPr>
        <p:spPr>
          <a:xfrm xmlns:a="http://schemas.openxmlformats.org/drawingml/2006/main">
            <a:off x="8229600" y="2152650"/>
            <a:ext cx="3286125" cy="904875"/>
          </a:xfrm>
          <a:prstGeom xmlns:a="http://schemas.openxmlformats.org/drawingml/2006/main" prst="rect">
            <a:avLst/>
          </a:prstGeom>
          <a:solidFill xmlns:a="http://schemas.openxmlformats.org/drawingml/2006/main">
            <a:srgbClr val="087F7B"/>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All food</a:t>
            </a:r>
          </a:p>
        </p:txBody>
      </p:sp>
      <p:sp>
        <p:nvSpPr>
          <p:cNvPr id="6" name="">
            <a:extLst xmlns:a="http://schemas.openxmlformats.org/drawingml/2006/main">
              <a:ext uri="{FF2B5EF4-FFF2-40B4-BE49-F238E27FC236}">
                <a16:creationId xmlns:a16="http://schemas.microsoft.com/office/drawing/2014/main" id="{57DA3275-4E17-4034-9085-D68F13B5FC40}"/>
              </a:ext>
            </a:extLst>
          </p:cNvPr>
          <p:cNvSpPr>
            <a:spLocks xmlns:a="http://schemas.openxmlformats.org/drawingml/2006/main" noGrp="1"/>
          </p:cNvSpPr>
          <p:nvPr/>
        </p:nvSpPr>
        <p:spPr>
          <a:xfrm xmlns:a="http://schemas.openxmlformats.org/drawingml/2006/main">
            <a:off x="723900" y="3371850"/>
            <a:ext cx="314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Arial"/>
                <a:ea typeface="Arial"/>
                <a:cs typeface="Arial"/>
              </a:defRPr>
            </a:pPr>
            <a:r>
              <a:rPr sz="2325" b="0">
                <a:solidFill>
                  <a:srgbClr val="142C40"/>
                </a:solidFill>
                <a:latin typeface="Arial"/>
                <a:ea typeface="Arial"/>
                <a:cs typeface="Arial"/>
              </a:rPr>
              <a:t>68 moves</a:t>
            </a:r>
          </a:p>
          <a:p xmlns:a="http://schemas.openxmlformats.org/drawingml/2006/main">
            <a:pPr>
              <a:defRPr sz="2325" b="0">
                <a:solidFill>
                  <a:srgbClr val="142C40"/>
                </a:solidFill>
                <a:latin typeface="Arial"/>
                <a:ea typeface="Arial"/>
                <a:cs typeface="Arial"/>
              </a:defRPr>
            </a:pPr>
            <a:r>
              <a:rPr sz="2325" b="0">
                <a:solidFill>
                  <a:srgbClr val="142C40"/>
                </a:solidFill>
                <a:latin typeface="Arial"/>
                <a:ea typeface="Arial"/>
                <a:cs typeface="Arial"/>
              </a:rPr>
              <a:t>269 expansions</a:t>
            </a:r>
          </a:p>
        </p:txBody>
      </p:sp>
      <p:sp>
        <p:nvSpPr>
          <p:cNvPr id="7" name="">
            <a:extLst xmlns:a="http://schemas.openxmlformats.org/drawingml/2006/main">
              <a:ext uri="{FF2B5EF4-FFF2-40B4-BE49-F238E27FC236}">
                <a16:creationId xmlns:a16="http://schemas.microsoft.com/office/drawing/2014/main" id="{E0E0F1C8-E1E0-4F09-860B-7F96D3E3EEFC}"/>
              </a:ext>
            </a:extLst>
          </p:cNvPr>
          <p:cNvSpPr>
            <a:spLocks xmlns:a="http://schemas.openxmlformats.org/drawingml/2006/main" noGrp="1"/>
          </p:cNvSpPr>
          <p:nvPr/>
        </p:nvSpPr>
        <p:spPr>
          <a:xfrm xmlns:a="http://schemas.openxmlformats.org/drawingml/2006/main">
            <a:off x="4495800" y="3371850"/>
            <a:ext cx="314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Arial"/>
                <a:ea typeface="Arial"/>
                <a:cs typeface="Arial"/>
              </a:defRPr>
            </a:pPr>
            <a:r>
              <a:rPr sz="2325" b="0">
                <a:solidFill>
                  <a:srgbClr val="142C40"/>
                </a:solidFill>
                <a:latin typeface="Arial"/>
                <a:ea typeface="Arial"/>
                <a:cs typeface="Arial"/>
              </a:rPr>
              <a:t>106 moves</a:t>
            </a:r>
          </a:p>
          <a:p xmlns:a="http://schemas.openxmlformats.org/drawingml/2006/main">
            <a:pPr>
              <a:defRPr sz="2325" b="0">
                <a:solidFill>
                  <a:srgbClr val="142C40"/>
                </a:solidFill>
                <a:latin typeface="Arial"/>
                <a:ea typeface="Arial"/>
                <a:cs typeface="Arial"/>
              </a:defRPr>
            </a:pPr>
            <a:r>
              <a:rPr sz="2325" b="0">
                <a:solidFill>
                  <a:srgbClr val="142C40"/>
                </a:solidFill>
                <a:latin typeface="Arial"/>
                <a:ea typeface="Arial"/>
                <a:cs typeface="Arial"/>
              </a:rPr>
              <a:t>741 expansions</a:t>
            </a:r>
          </a:p>
        </p:txBody>
      </p:sp>
      <p:sp>
        <p:nvSpPr>
          <p:cNvPr id="8" name="">
            <a:extLst xmlns:a="http://schemas.openxmlformats.org/drawingml/2006/main">
              <a:ext uri="{FF2B5EF4-FFF2-40B4-BE49-F238E27FC236}">
                <a16:creationId xmlns:a16="http://schemas.microsoft.com/office/drawing/2014/main" id="{5B7E2899-390D-4865-9FF5-FB8C7058DE85}"/>
              </a:ext>
            </a:extLst>
          </p:cNvPr>
          <p:cNvSpPr>
            <a:spLocks xmlns:a="http://schemas.openxmlformats.org/drawingml/2006/main" noGrp="1"/>
          </p:cNvSpPr>
          <p:nvPr/>
        </p:nvSpPr>
        <p:spPr>
          <a:xfrm xmlns:a="http://schemas.openxmlformats.org/drawingml/2006/main">
            <a:off x="8267700" y="3371850"/>
            <a:ext cx="314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40"/>
                </a:solidFill>
                <a:latin typeface="Arial"/>
                <a:ea typeface="Arial"/>
                <a:cs typeface="Arial"/>
              </a:defRPr>
            </a:pPr>
            <a:r>
              <a:rPr sz="2325" b="0">
                <a:solidFill>
                  <a:srgbClr val="142C40"/>
                </a:solidFill>
                <a:latin typeface="Arial"/>
                <a:ea typeface="Arial"/>
                <a:cs typeface="Arial"/>
              </a:rPr>
              <a:t>60 moves</a:t>
            </a:r>
          </a:p>
          <a:p xmlns:a="http://schemas.openxmlformats.org/drawingml/2006/main">
            <a:pPr>
              <a:defRPr sz="2325" b="0">
                <a:solidFill>
                  <a:srgbClr val="142C40"/>
                </a:solidFill>
                <a:latin typeface="Arial"/>
                <a:ea typeface="Arial"/>
                <a:cs typeface="Arial"/>
              </a:defRPr>
            </a:pPr>
            <a:r>
              <a:rPr sz="2325" b="0">
                <a:solidFill>
                  <a:srgbClr val="142C40"/>
                </a:solidFill>
                <a:latin typeface="Arial"/>
                <a:ea typeface="Arial"/>
                <a:cs typeface="Arial"/>
              </a:rPr>
              <a:t>255 expansions</a:t>
            </a:r>
          </a:p>
        </p:txBody>
      </p:sp>
      <p:sp>
        <p:nvSpPr>
          <p:cNvPr id="9" name="">
            <a:extLst xmlns:a="http://schemas.openxmlformats.org/drawingml/2006/main">
              <a:ext uri="{FF2B5EF4-FFF2-40B4-BE49-F238E27FC236}">
                <a16:creationId xmlns:a16="http://schemas.microsoft.com/office/drawing/2014/main" id="{B46F7031-B469-4E7B-89D0-DB30087A1A70}"/>
              </a:ext>
            </a:extLst>
          </p:cNvPr>
          <p:cNvSpPr>
            <a:spLocks xmlns:a="http://schemas.openxmlformats.org/drawingml/2006/main" noGrp="1"/>
          </p:cNvSpPr>
          <p:nvPr/>
        </p:nvSpPr>
        <p:spPr>
          <a:xfrm xmlns:a="http://schemas.openxmlformats.org/drawingml/2006/main">
            <a:off x="723900" y="49720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66979"/>
                </a:solidFill>
                <a:latin typeface="Arial"/>
                <a:ea typeface="Arial"/>
                <a:cs typeface="Arial"/>
              </a:defRPr>
            </a:pPr>
            <a:r>
              <a:rPr sz="2100" b="0">
                <a:solidFill>
                  <a:srgbClr val="566979"/>
                </a:solidFill>
                <a:latin typeface="Arial"/>
                <a:ea typeface="Arial"/>
                <a:cs typeface="Arial"/>
              </a:rPr>
              <a:t>The demo menu on the laptop also supports one move at a time.</a:t>
            </a:r>
          </a:p>
        </p:txBody>
      </p:sp>
      <p:sp>
        <p:nvSpPr>
          <p:cNvPr id="10" name="jump-13">
            <a:extLst xmlns:a="http://schemas.openxmlformats.org/drawingml/2006/main">
              <a:ext uri="{FF2B5EF4-FFF2-40B4-BE49-F238E27FC236}">
                <a16:creationId xmlns:a16="http://schemas.microsoft.com/office/drawing/2014/main" id="{F15DDFBC-8E49-40F6-B0B6-66DBED50EE16}"/>
              </a:ext>
            </a:extLst>
            <ns6:hlinkClick xmlns:ns6="http://schemas.openxmlformats.org/drawingml/2006/main" xmlns:ns7="http://schemas.openxmlformats.org/officeDocument/2006/relationships" ns7:id="rIdNav6" action="ppaction://hlinksldjump" tooltip="Go to slide 17"/>
          </p:cNvPr>
          <p:cNvSpPr>
            <a:spLocks xmlns:a="http://schemas.openxmlformats.org/drawingml/2006/main" noGrp="1"/>
          </p:cNvSpPr>
          <p:nvPr/>
        </p:nvSpPr>
        <p:spPr>
          <a:xfrm xmlns:a="http://schemas.openxmlformats.org/drawingml/2006/main">
            <a:off x="723900" y="5705475"/>
            <a:ext cx="4762500" cy="542925"/>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087F7B"/>
                </a:solidFill>
                <a:latin typeface="Arial"/>
                <a:ea typeface="Arial"/>
                <a:cs typeface="Arial"/>
              </a:defRPr>
            </a:pPr>
            <a:r>
              <a:rPr sz="2025" b="1">
                <a:solidFill>
                  <a:srgbClr val="087F7B"/>
                </a:solidFill>
                <a:latin typeface="Arial"/>
                <a:ea typeface="Arial"/>
                <a:cs typeface="Arial"/>
              </a:rPr>
              <a:t>Continue to conclusions</a:t>
            </a:r>
          </a:p>
        </p:txBody>
      </p:sp>
      <p:sp>
        <p:nvSpPr>
          <p:cNvPr id="11" name="jump-62">
            <a:extLst xmlns:a="http://schemas.openxmlformats.org/drawingml/2006/main">
              <a:ext uri="{FF2B5EF4-FFF2-40B4-BE49-F238E27FC236}">
                <a16:creationId xmlns:a16="http://schemas.microsoft.com/office/drawing/2014/main" id="{A8C06B62-ACAB-4419-8EA9-3BFD514C755B}"/>
              </a:ext>
            </a:extLst>
            <ns8:hlinkClick xmlns:ns8="http://schemas.openxmlformats.org/drawingml/2006/main" xmlns:ns9="http://schemas.openxmlformats.org/officeDocument/2006/relationships" ns9:id="rIdNav7"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2" name="jump-63">
            <a:extLst xmlns:a="http://schemas.openxmlformats.org/drawingml/2006/main">
              <a:ext uri="{FF2B5EF4-FFF2-40B4-BE49-F238E27FC236}">
                <a16:creationId xmlns:a16="http://schemas.microsoft.com/office/drawing/2014/main" id="{0E2A15EE-F18D-4D33-9DA6-59F6FE159D2B}"/>
              </a:ext>
            </a:extLst>
            <ns10:hlinkClick xmlns:ns10="http://schemas.openxmlformats.org/drawingml/2006/main" xmlns:ns11="http://schemas.openxmlformats.org/officeDocument/2006/relationships" ns11:id="rIdNav8" action="ppaction://hlinksldjump" tooltip="Go to slide 15"/>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3" name="jump-64">
            <a:extLst xmlns:a="http://schemas.openxmlformats.org/drawingml/2006/main">
              <a:ext uri="{FF2B5EF4-FFF2-40B4-BE49-F238E27FC236}">
                <a16:creationId xmlns:a16="http://schemas.microsoft.com/office/drawing/2014/main" id="{980048AD-D6E8-418A-AF00-B0B9B2B278A0}"/>
              </a:ext>
            </a:extLst>
            <ns12:hlinkClick xmlns:ns12="http://schemas.openxmlformats.org/drawingml/2006/main" xmlns:ns13="http://schemas.openxmlformats.org/officeDocument/2006/relationships" ns13:id="rIdNav9" action="ppaction://hlinksldjump" tooltip="Go to slide 17"/>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Next</a:t>
            </a:r>
          </a:p>
        </p:txBody>
      </p:sp>
      <p:sp>
        <p:nvSpPr>
          <p:cNvPr id="14" name="">
            <a:extLst xmlns:a="http://schemas.openxmlformats.org/drawingml/2006/main">
              <a:ext uri="{FF2B5EF4-FFF2-40B4-BE49-F238E27FC236}">
                <a16:creationId xmlns:a16="http://schemas.microsoft.com/office/drawing/2014/main" id="{550AF3FE-4A9F-4099-BC5D-857FD438C71E}"/>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16</a:t>
            </a:r>
          </a:p>
        </p:txBody>
      </p:sp>
    </p:spTree>
    <p:extLst>
      <p:ext uri="{BB962C8B-B14F-4D97-AF65-F5344CB8AC3E}">
        <p14:creationId xmlns:p14="http://schemas.microsoft.com/office/powerpoint/2010/main" val="210299147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C5D623-617E-45CD-BCA4-F5D75F8612CA}"/>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42C40"/>
                </a:solidFill>
                <a:latin typeface="Arial"/>
                <a:ea typeface="Arial"/>
                <a:cs typeface="Arial"/>
              </a:defRPr>
            </a:pPr>
            <a:r>
              <a:rPr sz="3300" b="1">
                <a:solidFill>
                  <a:srgbClr val="142C40"/>
                </a:solidFill>
                <a:latin typeface="Arial"/>
                <a:ea typeface="Arial"/>
                <a:cs typeface="Arial"/>
              </a:rPr>
              <a:t>Conclusions and remaining limit</a:t>
            </a:r>
          </a:p>
        </p:txBody>
      </p:sp>
      <p:sp>
        <p:nvSpPr>
          <p:cNvPr id="3" name="">
            <a:extLst xmlns:a="http://schemas.openxmlformats.org/drawingml/2006/main">
              <a:ext uri="{FF2B5EF4-FFF2-40B4-BE49-F238E27FC236}">
                <a16:creationId xmlns:a16="http://schemas.microsoft.com/office/drawing/2014/main" id="{2D01DC3C-52A2-4517-A5E7-59A6B8CF0D23}"/>
              </a:ext>
            </a:extLst>
          </p:cNvPr>
          <p:cNvSpPr>
            <a:spLocks xmlns:a="http://schemas.openxmlformats.org/drawingml/2006/main" noGrp="1"/>
          </p:cNvSpPr>
          <p:nvPr/>
        </p:nvSpPr>
        <p:spPr>
          <a:xfrm xmlns:a="http://schemas.openxmlformats.org/drawingml/2006/main">
            <a:off x="666750" y="17621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087F7B"/>
                </a:solidFill>
                <a:latin typeface="Arial"/>
                <a:ea typeface="Arial"/>
                <a:cs typeface="Arial"/>
              </a:defRPr>
            </a:pPr>
            <a:r>
              <a:rPr sz="2625" b="1">
                <a:solidFill>
                  <a:srgbClr val="087F7B"/>
                </a:solidFill>
                <a:latin typeface="Arial"/>
                <a:ea typeface="Arial"/>
                <a:cs typeface="Arial"/>
              </a:rPr>
              <a:t>The search objective guides the choice</a:t>
            </a:r>
          </a:p>
        </p:txBody>
      </p:sp>
      <p:sp>
        <p:nvSpPr>
          <p:cNvPr id="4" name="">
            <a:extLst xmlns:a="http://schemas.openxmlformats.org/drawingml/2006/main">
              <a:ext uri="{FF2B5EF4-FFF2-40B4-BE49-F238E27FC236}">
                <a16:creationId xmlns:a16="http://schemas.microsoft.com/office/drawing/2014/main" id="{B33CA893-3F8B-4547-8AAA-E9B16688411F}"/>
              </a:ext>
            </a:extLst>
          </p:cNvPr>
          <p:cNvSpPr>
            <a:spLocks xmlns:a="http://schemas.openxmlformats.org/drawingml/2006/main" noGrp="1"/>
          </p:cNvSpPr>
          <p:nvPr/>
        </p:nvSpPr>
        <p:spPr>
          <a:xfrm xmlns:a="http://schemas.openxmlformats.org/drawingml/2006/main">
            <a:off x="685800" y="2676525"/>
            <a:ext cx="106299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42C40"/>
                </a:solidFill>
                <a:latin typeface="Arial"/>
                <a:ea typeface="Arial"/>
                <a:cs typeface="Arial"/>
              </a:defRPr>
            </a:pPr>
            <a:r>
              <a:rPr sz="2325" b="0">
                <a:solidFill>
                  <a:srgbClr val="142C40"/>
                </a:solidFill>
                <a:latin typeface="Arial"/>
                <a:ea typeface="Arial"/>
                <a:cs typeface="Arial"/>
              </a:rPr>
              <a:t>BFS suits equal step costs. UCS handles weighted costs.</a:t>
            </a:r>
          </a:p>
          <a:p xmlns:a="http://schemas.openxmlformats.org/drawingml/2006/main">
            <a:pPr>
              <a:buNone/>
              <a:defRPr sz="2325" b="0">
                <a:solidFill>
                  <a:srgbClr val="142C40"/>
                </a:solidFill>
                <a:latin typeface="Arial"/>
                <a:ea typeface="Arial"/>
                <a:cs typeface="Arial"/>
              </a:defRPr>
            </a:pPr>
            <a:r>
              <a:rPr sz="2325" b="0">
                <a:solidFill>
                  <a:srgbClr val="142C40"/>
                </a:solidFill>
                <a:latin typeface="Arial"/>
                <a:ea typeface="Arial"/>
                <a:cs typeface="Arial"/>
              </a:rPr>
              <a:t>A* saves substantial work when the heuristic is informative.</a:t>
            </a:r>
          </a:p>
        </p:txBody>
      </p:sp>
      <p:sp>
        <p:nvSpPr>
          <p:cNvPr id="5" name="">
            <a:extLst xmlns:a="http://schemas.openxmlformats.org/drawingml/2006/main">
              <a:ext uri="{FF2B5EF4-FFF2-40B4-BE49-F238E27FC236}">
                <a16:creationId xmlns:a16="http://schemas.microsoft.com/office/drawing/2014/main" id="{F3476FDD-9675-4A11-B709-EEC0351A47DD}"/>
              </a:ext>
            </a:extLst>
          </p:cNvPr>
          <p:cNvSpPr>
            <a:spLocks xmlns:a="http://schemas.openxmlformats.org/drawingml/2006/main" noGrp="1"/>
          </p:cNvSpPr>
          <p:nvPr/>
        </p:nvSpPr>
        <p:spPr>
          <a:xfrm xmlns:a="http://schemas.openxmlformats.org/drawingml/2006/main">
            <a:off x="666750" y="4095750"/>
            <a:ext cx="10639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142C40"/>
                </a:solidFill>
                <a:latin typeface="Arial"/>
                <a:ea typeface="Arial"/>
                <a:cs typeface="Arial"/>
              </a:defRPr>
            </a:pPr>
            <a:r>
              <a:rPr sz="2475" b="1">
                <a:solidFill>
                  <a:srgbClr val="142C40"/>
                </a:solidFill>
                <a:latin typeface="Arial"/>
                <a:ea typeface="Arial"/>
                <a:cs typeface="Arial"/>
              </a:rPr>
              <a:t>Heuristic overhead still matters</a:t>
            </a:r>
          </a:p>
        </p:txBody>
      </p:sp>
      <p:sp>
        <p:nvSpPr>
          <p:cNvPr id="6" name="">
            <a:extLst xmlns:a="http://schemas.openxmlformats.org/drawingml/2006/main">
              <a:ext uri="{FF2B5EF4-FFF2-40B4-BE49-F238E27FC236}">
                <a16:creationId xmlns:a16="http://schemas.microsoft.com/office/drawing/2014/main" id="{E1637CF4-F483-4E67-9FC1-F251E64F70C3}"/>
              </a:ext>
            </a:extLst>
          </p:cNvPr>
          <p:cNvSpPr>
            <a:spLocks xmlns:a="http://schemas.openxmlformats.org/drawingml/2006/main" noGrp="1"/>
          </p:cNvSpPr>
          <p:nvPr/>
        </p:nvSpPr>
        <p:spPr>
          <a:xfrm xmlns:a="http://schemas.openxmlformats.org/drawingml/2006/main">
            <a:off x="685800" y="4810125"/>
            <a:ext cx="10572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C40"/>
                </a:solidFill>
                <a:latin typeface="Arial"/>
                <a:ea typeface="Arial"/>
                <a:cs typeface="Arial"/>
              </a:defRPr>
            </a:pPr>
            <a:r>
              <a:rPr sz="2100" b="0">
                <a:solidFill>
                  <a:srgbClr val="142C40"/>
                </a:solidFill>
                <a:latin typeface="Arial"/>
                <a:ea typeface="Arial"/>
                <a:cs typeface="Arial"/>
              </a:rPr>
              <a:t>tinyCorners: A* uses fewer expansions but takes slightly longer.</a:t>
            </a:r>
          </a:p>
        </p:txBody>
      </p:sp>
      <p:sp>
        <p:nvSpPr>
          <p:cNvPr id="7" name="">
            <a:extLst xmlns:a="http://schemas.openxmlformats.org/drawingml/2006/main">
              <a:ext uri="{FF2B5EF4-FFF2-40B4-BE49-F238E27FC236}">
                <a16:creationId xmlns:a16="http://schemas.microsoft.com/office/drawing/2014/main" id="{EFC2D004-AA08-4E76-8CAA-2A54A054E364}"/>
              </a:ext>
            </a:extLst>
          </p:cNvPr>
          <p:cNvSpPr>
            <a:spLocks xmlns:a="http://schemas.openxmlformats.org/drawingml/2006/main" noGrp="1"/>
          </p:cNvSpPr>
          <p:nvPr/>
        </p:nvSpPr>
        <p:spPr>
          <a:xfrm xmlns:a="http://schemas.openxmlformats.org/drawingml/2006/main">
            <a:off x="685800" y="557212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66979"/>
                </a:solidFill>
                <a:latin typeface="Arial"/>
                <a:ea typeface="Arial"/>
                <a:cs typeface="Arial"/>
              </a:defRPr>
            </a:pPr>
            <a:r>
              <a:rPr sz="1875" b="0">
                <a:solidFill>
                  <a:srgbClr val="566979"/>
                </a:solidFill>
                <a:latin typeface="Arial"/>
                <a:ea typeface="Arial"/>
                <a:cs typeface="Arial"/>
              </a:rPr>
              <a:t>Remaining limit: mediumSearch has 108 dots and did not finish</a:t>
            </a:r>
          </a:p>
          <a:p xmlns:a="http://schemas.openxmlformats.org/drawingml/2006/main">
            <a:pPr>
              <a:buNone/>
              <a:defRPr sz="1875" b="0">
                <a:solidFill>
                  <a:srgbClr val="566979"/>
                </a:solidFill>
                <a:latin typeface="Arial"/>
                <a:ea typeface="Arial"/>
                <a:cs typeface="Arial"/>
              </a:defRPr>
            </a:pPr>
            <a:r>
              <a:rPr sz="1875" b="0">
                <a:solidFill>
                  <a:srgbClr val="566979"/>
                </a:solidFill>
                <a:latin typeface="Arial"/>
                <a:ea typeface="Arial"/>
                <a:cs typeface="Arial"/>
              </a:rPr>
              <a:t>within the separate five-second diagnostic.</a:t>
            </a:r>
          </a:p>
        </p:txBody>
      </p:sp>
      <p:sp>
        <p:nvSpPr>
          <p:cNvPr id="9" name="jump-65">
            <a:extLst xmlns:a="http://schemas.openxmlformats.org/drawingml/2006/main">
              <a:ext uri="{FF2B5EF4-FFF2-40B4-BE49-F238E27FC236}">
                <a16:creationId xmlns:a16="http://schemas.microsoft.com/office/drawing/2014/main" id="{AA151A46-B9BE-49E7-BEA9-222C65919CE3}"/>
              </a:ext>
            </a:extLst>
            <ns0:hlinkClick xmlns:ns0="http://schemas.openxmlformats.org/drawingml/2006/main" xmlns:ns1="http://schemas.openxmlformats.org/officeDocument/2006/relationships" ns1:id="rIdNav3"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0" name="jump-66">
            <a:extLst xmlns:a="http://schemas.openxmlformats.org/drawingml/2006/main">
              <a:ext uri="{FF2B5EF4-FFF2-40B4-BE49-F238E27FC236}">
                <a16:creationId xmlns:a16="http://schemas.microsoft.com/office/drawing/2014/main" id="{0149A361-21A2-4E5D-B015-D287CCF4190E}"/>
              </a:ext>
            </a:extLst>
            <ns2:hlinkClick xmlns:ns2="http://schemas.openxmlformats.org/drawingml/2006/main" xmlns:ns3="http://schemas.openxmlformats.org/officeDocument/2006/relationships" ns3:id="rIdNav4" action="ppaction://hlinksldjump" tooltip="Go to slide 16"/>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1" name="jump-67">
            <a:extLst xmlns:a="http://schemas.openxmlformats.org/drawingml/2006/main">
              <a:ext uri="{FF2B5EF4-FFF2-40B4-BE49-F238E27FC236}">
                <a16:creationId xmlns:a16="http://schemas.microsoft.com/office/drawing/2014/main" id="{0DC05ECB-E65D-4B49-BAE9-C4AF56233F81}"/>
              </a:ext>
            </a:extLst>
            <ns4:hlinkClick xmlns:ns4="http://schemas.openxmlformats.org/drawingml/2006/main" xmlns:ns5="http://schemas.openxmlformats.org/officeDocument/2006/relationships" ns5:id="rIdNav5" action="ppaction://hlinksldjump" tooltip="Go to slide 2"/>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2" name="">
            <a:extLst xmlns:a="http://schemas.openxmlformats.org/drawingml/2006/main">
              <a:ext uri="{FF2B5EF4-FFF2-40B4-BE49-F238E27FC236}">
                <a16:creationId xmlns:a16="http://schemas.microsoft.com/office/drawing/2014/main" id="{6B2360DD-1961-4C67-BA5B-4D60DD765111}"/>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17</a:t>
            </a:r>
          </a:p>
        </p:txBody>
      </p:sp>
    </p:spTree>
    <p:extLst>
      <p:ext uri="{BB962C8B-B14F-4D97-AF65-F5344CB8AC3E}">
        <p14:creationId xmlns:p14="http://schemas.microsoft.com/office/powerpoint/2010/main" val="28850841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A03831D-8CEF-41C7-B6C2-8CA7E240BBA5}"/>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Arial"/>
                <a:ea typeface="Arial"/>
                <a:cs typeface="Arial"/>
              </a:defRPr>
            </a:pPr>
            <a:r>
              <a:rPr sz="3300" b="1">
                <a:solidFill>
                  <a:srgbClr val="142C40"/>
                </a:solidFill>
                <a:latin typeface="Arial"/>
                <a:ea typeface="Arial"/>
                <a:cs typeface="Arial"/>
              </a:rPr>
              <a:t>Demo: shortest route with BFS</a:t>
            </a:r>
          </a:p>
        </p:txBody>
      </p:sp>
      <p:sp>
        <p:nvSpPr>
          <p:cNvPr id="2" name="">
            <a:extLst xmlns:a="http://schemas.openxmlformats.org/drawingml/2006/main">
              <a:ext uri="{FF2B5EF4-FFF2-40B4-BE49-F238E27FC236}">
                <a16:creationId xmlns:a16="http://schemas.microsoft.com/office/drawing/2014/main" id="{758E8388-DC1B-4C07-88A6-E679261A92D6}"/>
              </a:ext>
            </a:extLst>
          </p:cNvPr>
          <p:cNvSpPr>
            <a:spLocks xmlns:a="http://schemas.openxmlformats.org/drawingml/2006/main" noGrp="1"/>
          </p:cNvSpPr>
          <p:nvPr/>
        </p:nvSpPr>
        <p:spPr>
          <a:xfrm xmlns:a="http://schemas.openxmlformats.org/drawingml/2006/main">
            <a:off x="628650" y="1190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979"/>
                </a:solidFill>
                <a:latin typeface="Arial"/>
                <a:ea typeface="Arial"/>
                <a:cs typeface="Arial"/>
              </a:defRPr>
            </a:pPr>
            <a:r>
              <a:rPr sz="1875" b="0">
                <a:solidFill>
                  <a:srgbClr val="566979"/>
                </a:solidFill>
                <a:latin typeface="Arial"/>
                <a:ea typeface="Arial"/>
                <a:cs typeface="Arial"/>
              </a:rPr>
              <a:t>Optional demonstration</a:t>
            </a:r>
          </a:p>
        </p:txBody>
      </p:sp>
      <p:sp>
        <p:nvSpPr>
          <p:cNvPr id="3" name="">
            <a:extLst xmlns:a="http://schemas.openxmlformats.org/drawingml/2006/main">
              <a:ext uri="{FF2B5EF4-FFF2-40B4-BE49-F238E27FC236}">
                <a16:creationId xmlns:a16="http://schemas.microsoft.com/office/drawing/2014/main" id="{0EE5D955-9FA6-4633-B718-12BD07A02027}"/>
              </a:ext>
            </a:extLst>
          </p:cNvPr>
          <p:cNvSpPr>
            <a:spLocks xmlns:a="http://schemas.openxmlformats.org/drawingml/2006/main" noGrp="1"/>
          </p:cNvSpPr>
          <p:nvPr/>
        </p:nvSpPr>
        <p:spPr>
          <a:xfrm xmlns:a="http://schemas.openxmlformats.org/drawingml/2006/main">
            <a:off x="685800" y="195262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66979"/>
                </a:solidFill>
                <a:latin typeface="Arial"/>
                <a:ea typeface="Arial"/>
                <a:cs typeface="Arial"/>
              </a:defRPr>
            </a:pPr>
            <a:r>
              <a:rPr sz="2025" b="0">
                <a:solidFill>
                  <a:srgbClr val="566979"/>
                </a:solidFill>
                <a:latin typeface="Arial"/>
                <a:ea typeface="Arial"/>
                <a:cs typeface="Arial"/>
              </a:rPr>
              <a:t>VS Code terminal in the Pacman folder</a:t>
            </a:r>
          </a:p>
        </p:txBody>
      </p:sp>
      <p:sp>
        <p:nvSpPr>
          <p:cNvPr id="4" name="">
            <a:extLst xmlns:a="http://schemas.openxmlformats.org/drawingml/2006/main">
              <a:ext uri="{FF2B5EF4-FFF2-40B4-BE49-F238E27FC236}">
                <a16:creationId xmlns:a16="http://schemas.microsoft.com/office/drawing/2014/main" id="{2565EB8B-3050-4520-BAB8-8E93CCA0DBEF}"/>
              </a:ext>
            </a:extLst>
          </p:cNvPr>
          <p:cNvSpPr>
            <a:spLocks xmlns:a="http://schemas.openxmlformats.org/drawingml/2006/main" noGrp="1"/>
          </p:cNvSpPr>
          <p:nvPr/>
        </p:nvSpPr>
        <p:spPr>
          <a:xfrm xmlns:a="http://schemas.openxmlformats.org/drawingml/2006/main">
            <a:off x="685800" y="273367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B"/>
                </a:solidFill>
                <a:latin typeface="Arial"/>
                <a:ea typeface="Arial"/>
                <a:cs typeface="Arial"/>
              </a:defRPr>
            </a:pPr>
            <a:r>
              <a:rPr sz="2925" b="1">
                <a:solidFill>
                  <a:srgbClr val="087F7B"/>
                </a:solidFill>
                <a:latin typeface="Arial"/>
                <a:ea typeface="Arial"/>
                <a:cs typeface="Arial"/>
              </a:rPr>
              <a:t>./Demo_Pacman.command bfs</a:t>
            </a:r>
          </a:p>
        </p:txBody>
      </p:sp>
      <p:sp>
        <p:nvSpPr>
          <p:cNvPr id="5" name="">
            <a:extLst xmlns:a="http://schemas.openxmlformats.org/drawingml/2006/main">
              <a:ext uri="{FF2B5EF4-FFF2-40B4-BE49-F238E27FC236}">
                <a16:creationId xmlns:a16="http://schemas.microsoft.com/office/drawing/2014/main" id="{F3C84CE9-5451-4781-B098-CFC50ADB984C}"/>
              </a:ext>
            </a:extLst>
          </p:cNvPr>
          <p:cNvSpPr>
            <a:spLocks xmlns:a="http://schemas.openxmlformats.org/drawingml/2006/main" noGrp="1"/>
          </p:cNvSpPr>
          <p:nvPr/>
        </p:nvSpPr>
        <p:spPr>
          <a:xfrm xmlns:a="http://schemas.openxmlformats.org/drawingml/2006/main">
            <a:off x="704850" y="3762375"/>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C40"/>
                </a:solidFill>
                <a:latin typeface="Arial"/>
                <a:ea typeface="Arial"/>
                <a:cs typeface="Arial"/>
              </a:defRPr>
            </a:pPr>
            <a:r>
              <a:rPr sz="2550" b="1">
                <a:solidFill>
                  <a:srgbClr val="142C40"/>
                </a:solidFill>
                <a:latin typeface="Arial"/>
                <a:ea typeface="Arial"/>
                <a:cs typeface="Arial"/>
              </a:rPr>
              <a:t>Expected: 68 moves and 269 expanded states</a:t>
            </a:r>
          </a:p>
        </p:txBody>
      </p:sp>
      <p:sp>
        <p:nvSpPr>
          <p:cNvPr id="6" name="">
            <a:extLst xmlns:a="http://schemas.openxmlformats.org/drawingml/2006/main">
              <a:ext uri="{FF2B5EF4-FFF2-40B4-BE49-F238E27FC236}">
                <a16:creationId xmlns:a16="http://schemas.microsoft.com/office/drawing/2014/main" id="{65E1BAA2-AD42-4DF9-BFA4-ADAF68A17ACA}"/>
              </a:ext>
            </a:extLst>
          </p:cNvPr>
          <p:cNvSpPr>
            <a:spLocks xmlns:a="http://schemas.openxmlformats.org/drawingml/2006/main" noGrp="1"/>
          </p:cNvSpPr>
          <p:nvPr/>
        </p:nvSpPr>
        <p:spPr>
          <a:xfrm xmlns:a="http://schemas.openxmlformats.org/drawingml/2006/main">
            <a:off x="704850" y="461010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40"/>
                </a:solidFill>
                <a:latin typeface="Arial"/>
                <a:ea typeface="Arial"/>
                <a:cs typeface="Arial"/>
              </a:defRPr>
            </a:pPr>
            <a:r>
              <a:rPr sz="2100" b="0">
                <a:solidFill>
                  <a:srgbClr val="142C40"/>
                </a:solidFill>
                <a:latin typeface="Arial"/>
                <a:ea typeface="Arial"/>
                <a:cs typeface="Arial"/>
              </a:rPr>
              <a:t>Explain why the queue gives a shortest path when every move costs one.</a:t>
            </a:r>
          </a:p>
        </p:txBody>
      </p:sp>
      <p:sp>
        <p:nvSpPr>
          <p:cNvPr id="7" name="jump-14">
            <a:extLst xmlns:a="http://schemas.openxmlformats.org/drawingml/2006/main">
              <a:ext uri="{FF2B5EF4-FFF2-40B4-BE49-F238E27FC236}">
                <a16:creationId xmlns:a16="http://schemas.microsoft.com/office/drawing/2014/main" id="{E0D825F6-5379-43F1-AA9F-80F11B1C1D2E}"/>
              </a:ext>
            </a:extLst>
            <ns0:hlinkClick xmlns:ns0="http://schemas.openxmlformats.org/drawingml/2006/main" xmlns:ns1="http://schemas.openxmlformats.org/officeDocument/2006/relationships" ns1:id="rIdNav3" action="ppaction://hlinksldjump" tooltip="Go to slide 16"/>
          </p:cNvPr>
          <p:cNvSpPr>
            <a:spLocks xmlns:a="http://schemas.openxmlformats.org/drawingml/2006/main" noGrp="1"/>
          </p:cNvSpPr>
          <p:nvPr/>
        </p:nvSpPr>
        <p:spPr>
          <a:xfrm xmlns:a="http://schemas.openxmlformats.org/drawingml/2006/main">
            <a:off x="704850" y="5638800"/>
            <a:ext cx="4381500" cy="552450"/>
          </a:xfrm>
          <a:prstGeom xmlns:a="http://schemas.openxmlformats.org/drawingml/2006/main" prst="rect">
            <a:avLst/>
          </a:prstGeom>
          <a:solidFill xmlns:a="http://schemas.openxmlformats.org/drawingml/2006/main">
            <a:srgbClr val="087F7B"/>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Return to demo menu</a:t>
            </a:r>
          </a:p>
        </p:txBody>
      </p:sp>
      <p:sp>
        <p:nvSpPr>
          <p:cNvPr id="8" name="jump-15">
            <a:extLst xmlns:a="http://schemas.openxmlformats.org/drawingml/2006/main">
              <a:ext uri="{FF2B5EF4-FFF2-40B4-BE49-F238E27FC236}">
                <a16:creationId xmlns:a16="http://schemas.microsoft.com/office/drawing/2014/main" id="{F1F5E596-E08B-457B-A9CF-313C05947F0B}"/>
              </a:ext>
            </a:extLst>
            <ns2:hlinkClick xmlns:ns2="http://schemas.openxmlformats.org/drawingml/2006/main" xmlns:ns3="http://schemas.openxmlformats.org/officeDocument/2006/relationships" ns3:id="rIdNav4" action="ppaction://hlinksldjump" tooltip="Go to slide 6"/>
          </p:cNvPr>
          <p:cNvSpPr>
            <a:spLocks xmlns:a="http://schemas.openxmlformats.org/drawingml/2006/main" noGrp="1"/>
          </p:cNvSpPr>
          <p:nvPr/>
        </p:nvSpPr>
        <p:spPr>
          <a:xfrm xmlns:a="http://schemas.openxmlformats.org/drawingml/2006/main">
            <a:off x="6019800" y="5638800"/>
            <a:ext cx="5334000" cy="5524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087F7B"/>
                </a:solidFill>
                <a:latin typeface="Arial"/>
                <a:ea typeface="Arial"/>
                <a:cs typeface="Arial"/>
              </a:defRPr>
            </a:pPr>
            <a:r>
              <a:rPr sz="2025" b="1">
                <a:solidFill>
                  <a:srgbClr val="087F7B"/>
                </a:solidFill>
                <a:latin typeface="Arial"/>
                <a:ea typeface="Arial"/>
                <a:cs typeface="Arial"/>
              </a:rPr>
              <a:t>Review the explanation</a:t>
            </a:r>
          </a:p>
        </p:txBody>
      </p:sp>
      <p:sp>
        <p:nvSpPr>
          <p:cNvPr id="9" name="jump-68">
            <a:extLst xmlns:a="http://schemas.openxmlformats.org/drawingml/2006/main">
              <a:ext uri="{FF2B5EF4-FFF2-40B4-BE49-F238E27FC236}">
                <a16:creationId xmlns:a16="http://schemas.microsoft.com/office/drawing/2014/main" id="{5A8A329C-6D68-4068-AB3E-31F34B8C029E}"/>
              </a:ext>
            </a:extLst>
            <ns4:hlinkClick xmlns:ns4="http://schemas.openxmlformats.org/drawingml/2006/main" xmlns:ns5="http://schemas.openxmlformats.org/officeDocument/2006/relationships" ns5:id="rIdNav5"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0" name="jump-69">
            <a:extLst xmlns:a="http://schemas.openxmlformats.org/drawingml/2006/main">
              <a:ext uri="{FF2B5EF4-FFF2-40B4-BE49-F238E27FC236}">
                <a16:creationId xmlns:a16="http://schemas.microsoft.com/office/drawing/2014/main" id="{7D5314DA-3A9A-4615-B3B2-8900A963E8FC}"/>
              </a:ext>
            </a:extLst>
            <ns6:hlinkClick xmlns:ns6="http://schemas.openxmlformats.org/drawingml/2006/main" xmlns:ns7="http://schemas.openxmlformats.org/officeDocument/2006/relationships" ns7:id="rIdNav6" action="ppaction://hlinksldjump" tooltip="Go to slide 16"/>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1" name="jump-70">
            <a:extLst xmlns:a="http://schemas.openxmlformats.org/drawingml/2006/main">
              <a:ext uri="{FF2B5EF4-FFF2-40B4-BE49-F238E27FC236}">
                <a16:creationId xmlns:a16="http://schemas.microsoft.com/office/drawing/2014/main" id="{14CDA6B5-FD24-4AC4-9269-6DFAB5AC3FA1}"/>
              </a:ext>
            </a:extLst>
            <ns8:hlinkClick xmlns:ns8="http://schemas.openxmlformats.org/drawingml/2006/main" xmlns:ns9="http://schemas.openxmlformats.org/officeDocument/2006/relationships" ns9:id="rIdNav7" action="ppaction://hlinksldjump" tooltip="Go to slide 16"/>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Demos</a:t>
            </a:r>
          </a:p>
        </p:txBody>
      </p:sp>
      <p:sp>
        <p:nvSpPr>
          <p:cNvPr id="12" name="">
            <a:extLst xmlns:a="http://schemas.openxmlformats.org/drawingml/2006/main">
              <a:ext uri="{FF2B5EF4-FFF2-40B4-BE49-F238E27FC236}">
                <a16:creationId xmlns:a16="http://schemas.microsoft.com/office/drawing/2014/main" id="{E649FBE1-6DFD-4481-AD80-7099C6669CC1}"/>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18</a:t>
            </a:r>
          </a:p>
        </p:txBody>
      </p:sp>
    </p:spTree>
    <p:extLst>
      <p:ext uri="{BB962C8B-B14F-4D97-AF65-F5344CB8AC3E}">
        <p14:creationId xmlns:p14="http://schemas.microsoft.com/office/powerpoint/2010/main" val="103078469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034287B-A5D3-494A-B102-60921D9FAA69}"/>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Arial"/>
                <a:ea typeface="Arial"/>
                <a:cs typeface="Arial"/>
              </a:defRPr>
            </a:pPr>
            <a:r>
              <a:rPr sz="3300" b="1">
                <a:solidFill>
                  <a:srgbClr val="142C40"/>
                </a:solidFill>
                <a:latin typeface="Arial"/>
                <a:ea typeface="Arial"/>
                <a:cs typeface="Arial"/>
              </a:rPr>
              <a:t>Demo: all four corners</a:t>
            </a:r>
          </a:p>
        </p:txBody>
      </p:sp>
      <p:sp>
        <p:nvSpPr>
          <p:cNvPr id="2" name="">
            <a:extLst xmlns:a="http://schemas.openxmlformats.org/drawingml/2006/main">
              <a:ext uri="{FF2B5EF4-FFF2-40B4-BE49-F238E27FC236}">
                <a16:creationId xmlns:a16="http://schemas.microsoft.com/office/drawing/2014/main" id="{54E8C789-E215-4126-8822-D80BFE9DAF94}"/>
              </a:ext>
            </a:extLst>
          </p:cNvPr>
          <p:cNvSpPr>
            <a:spLocks xmlns:a="http://schemas.openxmlformats.org/drawingml/2006/main" noGrp="1"/>
          </p:cNvSpPr>
          <p:nvPr/>
        </p:nvSpPr>
        <p:spPr>
          <a:xfrm xmlns:a="http://schemas.openxmlformats.org/drawingml/2006/main">
            <a:off x="628650" y="1190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979"/>
                </a:solidFill>
                <a:latin typeface="Arial"/>
                <a:ea typeface="Arial"/>
                <a:cs typeface="Arial"/>
              </a:defRPr>
            </a:pPr>
            <a:r>
              <a:rPr sz="1875" b="0">
                <a:solidFill>
                  <a:srgbClr val="566979"/>
                </a:solidFill>
                <a:latin typeface="Arial"/>
                <a:ea typeface="Arial"/>
                <a:cs typeface="Arial"/>
              </a:rPr>
              <a:t>Optional demonstration</a:t>
            </a:r>
          </a:p>
        </p:txBody>
      </p:sp>
      <p:sp>
        <p:nvSpPr>
          <p:cNvPr id="3" name="">
            <a:extLst xmlns:a="http://schemas.openxmlformats.org/drawingml/2006/main">
              <a:ext uri="{FF2B5EF4-FFF2-40B4-BE49-F238E27FC236}">
                <a16:creationId xmlns:a16="http://schemas.microsoft.com/office/drawing/2014/main" id="{8EB4A873-A032-44DE-9344-6790948861DA}"/>
              </a:ext>
            </a:extLst>
          </p:cNvPr>
          <p:cNvSpPr>
            <a:spLocks xmlns:a="http://schemas.openxmlformats.org/drawingml/2006/main" noGrp="1"/>
          </p:cNvSpPr>
          <p:nvPr/>
        </p:nvSpPr>
        <p:spPr>
          <a:xfrm xmlns:a="http://schemas.openxmlformats.org/drawingml/2006/main">
            <a:off x="685800" y="195262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66979"/>
                </a:solidFill>
                <a:latin typeface="Arial"/>
                <a:ea typeface="Arial"/>
                <a:cs typeface="Arial"/>
              </a:defRPr>
            </a:pPr>
            <a:r>
              <a:rPr sz="2025" b="0">
                <a:solidFill>
                  <a:srgbClr val="566979"/>
                </a:solidFill>
                <a:latin typeface="Arial"/>
                <a:ea typeface="Arial"/>
                <a:cs typeface="Arial"/>
              </a:rPr>
              <a:t>VS Code terminal in the Pacman folder</a:t>
            </a:r>
          </a:p>
        </p:txBody>
      </p:sp>
      <p:sp>
        <p:nvSpPr>
          <p:cNvPr id="4" name="">
            <a:extLst xmlns:a="http://schemas.openxmlformats.org/drawingml/2006/main">
              <a:ext uri="{FF2B5EF4-FFF2-40B4-BE49-F238E27FC236}">
                <a16:creationId xmlns:a16="http://schemas.microsoft.com/office/drawing/2014/main" id="{59598930-4494-4D32-85B1-C31651235385}"/>
              </a:ext>
            </a:extLst>
          </p:cNvPr>
          <p:cNvSpPr>
            <a:spLocks xmlns:a="http://schemas.openxmlformats.org/drawingml/2006/main" noGrp="1"/>
          </p:cNvSpPr>
          <p:nvPr/>
        </p:nvSpPr>
        <p:spPr>
          <a:xfrm xmlns:a="http://schemas.openxmlformats.org/drawingml/2006/main">
            <a:off x="685800" y="273367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B"/>
                </a:solidFill>
                <a:latin typeface="Arial"/>
                <a:ea typeface="Arial"/>
                <a:cs typeface="Arial"/>
              </a:defRPr>
            </a:pPr>
            <a:r>
              <a:rPr sz="2925" b="1">
                <a:solidFill>
                  <a:srgbClr val="087F7B"/>
                </a:solidFill>
                <a:latin typeface="Arial"/>
                <a:ea typeface="Arial"/>
                <a:cs typeface="Arial"/>
              </a:rPr>
              <a:t>./Demo_Pacman.command corners</a:t>
            </a:r>
          </a:p>
        </p:txBody>
      </p:sp>
      <p:sp>
        <p:nvSpPr>
          <p:cNvPr id="5" name="">
            <a:extLst xmlns:a="http://schemas.openxmlformats.org/drawingml/2006/main">
              <a:ext uri="{FF2B5EF4-FFF2-40B4-BE49-F238E27FC236}">
                <a16:creationId xmlns:a16="http://schemas.microsoft.com/office/drawing/2014/main" id="{5207EF88-BF69-49A5-B266-63B98C6B2329}"/>
              </a:ext>
            </a:extLst>
          </p:cNvPr>
          <p:cNvSpPr>
            <a:spLocks xmlns:a="http://schemas.openxmlformats.org/drawingml/2006/main" noGrp="1"/>
          </p:cNvSpPr>
          <p:nvPr/>
        </p:nvSpPr>
        <p:spPr>
          <a:xfrm xmlns:a="http://schemas.openxmlformats.org/drawingml/2006/main">
            <a:off x="704850" y="3762375"/>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C40"/>
                </a:solidFill>
                <a:latin typeface="Arial"/>
                <a:ea typeface="Arial"/>
                <a:cs typeface="Arial"/>
              </a:defRPr>
            </a:pPr>
            <a:r>
              <a:rPr sz="2550" b="1">
                <a:solidFill>
                  <a:srgbClr val="142C40"/>
                </a:solidFill>
                <a:latin typeface="Arial"/>
                <a:ea typeface="Arial"/>
                <a:cs typeface="Arial"/>
              </a:rPr>
              <a:t>Expected: 106 moves and 741 expanded states</a:t>
            </a:r>
          </a:p>
        </p:txBody>
      </p:sp>
      <p:sp>
        <p:nvSpPr>
          <p:cNvPr id="6" name="">
            <a:extLst xmlns:a="http://schemas.openxmlformats.org/drawingml/2006/main">
              <a:ext uri="{FF2B5EF4-FFF2-40B4-BE49-F238E27FC236}">
                <a16:creationId xmlns:a16="http://schemas.microsoft.com/office/drawing/2014/main" id="{E6C472DE-3129-45D6-B282-4AD40DA99977}"/>
              </a:ext>
            </a:extLst>
          </p:cNvPr>
          <p:cNvSpPr>
            <a:spLocks xmlns:a="http://schemas.openxmlformats.org/drawingml/2006/main" noGrp="1"/>
          </p:cNvSpPr>
          <p:nvPr/>
        </p:nvSpPr>
        <p:spPr>
          <a:xfrm xmlns:a="http://schemas.openxmlformats.org/drawingml/2006/main">
            <a:off x="704850" y="461010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40"/>
                </a:solidFill>
                <a:latin typeface="Arial"/>
                <a:ea typeface="Arial"/>
                <a:cs typeface="Arial"/>
              </a:defRPr>
            </a:pPr>
            <a:r>
              <a:rPr sz="2100" b="0">
                <a:solidFill>
                  <a:srgbClr val="142C40"/>
                </a:solidFill>
                <a:latin typeface="Arial"/>
                <a:ea typeface="Arial"/>
                <a:cs typeface="Arial"/>
              </a:rPr>
              <a:t>Point out the visited-corner history and the goal mask 1111.</a:t>
            </a:r>
          </a:p>
        </p:txBody>
      </p:sp>
      <p:sp>
        <p:nvSpPr>
          <p:cNvPr id="7" name="jump-16">
            <a:extLst xmlns:a="http://schemas.openxmlformats.org/drawingml/2006/main">
              <a:ext uri="{FF2B5EF4-FFF2-40B4-BE49-F238E27FC236}">
                <a16:creationId xmlns:a16="http://schemas.microsoft.com/office/drawing/2014/main" id="{25F73EC8-FDBA-4DDF-B7D0-EC505DD5EA38}"/>
              </a:ext>
            </a:extLst>
            <ns0:hlinkClick xmlns:ns0="http://schemas.openxmlformats.org/drawingml/2006/main" xmlns:ns1="http://schemas.openxmlformats.org/officeDocument/2006/relationships" ns1:id="rIdNav3" action="ppaction://hlinksldjump" tooltip="Go to slide 16"/>
          </p:cNvPr>
          <p:cNvSpPr>
            <a:spLocks xmlns:a="http://schemas.openxmlformats.org/drawingml/2006/main" noGrp="1"/>
          </p:cNvSpPr>
          <p:nvPr/>
        </p:nvSpPr>
        <p:spPr>
          <a:xfrm xmlns:a="http://schemas.openxmlformats.org/drawingml/2006/main">
            <a:off x="704850" y="5638800"/>
            <a:ext cx="4381500" cy="552450"/>
          </a:xfrm>
          <a:prstGeom xmlns:a="http://schemas.openxmlformats.org/drawingml/2006/main" prst="rect">
            <a:avLst/>
          </a:prstGeom>
          <a:solidFill xmlns:a="http://schemas.openxmlformats.org/drawingml/2006/main">
            <a:srgbClr val="087F7B"/>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Return to demo menu</a:t>
            </a:r>
          </a:p>
        </p:txBody>
      </p:sp>
      <p:sp>
        <p:nvSpPr>
          <p:cNvPr id="8" name="jump-17">
            <a:extLst xmlns:a="http://schemas.openxmlformats.org/drawingml/2006/main">
              <a:ext uri="{FF2B5EF4-FFF2-40B4-BE49-F238E27FC236}">
                <a16:creationId xmlns:a16="http://schemas.microsoft.com/office/drawing/2014/main" id="{8E3B2568-66B0-4852-B052-92FC327B02CF}"/>
              </a:ext>
            </a:extLst>
            <ns2:hlinkClick xmlns:ns2="http://schemas.openxmlformats.org/drawingml/2006/main" xmlns:ns3="http://schemas.openxmlformats.org/officeDocument/2006/relationships" ns3:id="rIdNav4" action="ppaction://hlinksldjump" tooltip="Go to slide 9"/>
          </p:cNvPr>
          <p:cNvSpPr>
            <a:spLocks xmlns:a="http://schemas.openxmlformats.org/drawingml/2006/main" noGrp="1"/>
          </p:cNvSpPr>
          <p:nvPr/>
        </p:nvSpPr>
        <p:spPr>
          <a:xfrm xmlns:a="http://schemas.openxmlformats.org/drawingml/2006/main">
            <a:off x="6019800" y="5638800"/>
            <a:ext cx="5334000" cy="5524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087F7B"/>
                </a:solidFill>
                <a:latin typeface="Arial"/>
                <a:ea typeface="Arial"/>
                <a:cs typeface="Arial"/>
              </a:defRPr>
            </a:pPr>
            <a:r>
              <a:rPr sz="2025" b="1">
                <a:solidFill>
                  <a:srgbClr val="087F7B"/>
                </a:solidFill>
                <a:latin typeface="Arial"/>
                <a:ea typeface="Arial"/>
                <a:cs typeface="Arial"/>
              </a:rPr>
              <a:t>Review the explanation</a:t>
            </a:r>
          </a:p>
        </p:txBody>
      </p:sp>
      <p:sp>
        <p:nvSpPr>
          <p:cNvPr id="9" name="jump-71">
            <a:extLst xmlns:a="http://schemas.openxmlformats.org/drawingml/2006/main">
              <a:ext uri="{FF2B5EF4-FFF2-40B4-BE49-F238E27FC236}">
                <a16:creationId xmlns:a16="http://schemas.microsoft.com/office/drawing/2014/main" id="{4F43CB32-3403-48DE-ABF3-632F09657F94}"/>
              </a:ext>
            </a:extLst>
            <ns4:hlinkClick xmlns:ns4="http://schemas.openxmlformats.org/drawingml/2006/main" xmlns:ns5="http://schemas.openxmlformats.org/officeDocument/2006/relationships" ns5:id="rIdNav5"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0" name="jump-72">
            <a:extLst xmlns:a="http://schemas.openxmlformats.org/drawingml/2006/main">
              <a:ext uri="{FF2B5EF4-FFF2-40B4-BE49-F238E27FC236}">
                <a16:creationId xmlns:a16="http://schemas.microsoft.com/office/drawing/2014/main" id="{16B99387-7E93-4B1D-952B-2687883A42A6}"/>
              </a:ext>
            </a:extLst>
            <ns6:hlinkClick xmlns:ns6="http://schemas.openxmlformats.org/drawingml/2006/main" xmlns:ns7="http://schemas.openxmlformats.org/officeDocument/2006/relationships" ns7:id="rIdNav6" action="ppaction://hlinksldjump" tooltip="Go to slide 16"/>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1" name="jump-73">
            <a:extLst xmlns:a="http://schemas.openxmlformats.org/drawingml/2006/main">
              <a:ext uri="{FF2B5EF4-FFF2-40B4-BE49-F238E27FC236}">
                <a16:creationId xmlns:a16="http://schemas.microsoft.com/office/drawing/2014/main" id="{B1D46DB3-1680-4527-9066-CE00070C8417}"/>
              </a:ext>
            </a:extLst>
            <ns8:hlinkClick xmlns:ns8="http://schemas.openxmlformats.org/drawingml/2006/main" xmlns:ns9="http://schemas.openxmlformats.org/officeDocument/2006/relationships" ns9:id="rIdNav7" action="ppaction://hlinksldjump" tooltip="Go to slide 16"/>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Demos</a:t>
            </a:r>
          </a:p>
        </p:txBody>
      </p:sp>
      <p:sp>
        <p:nvSpPr>
          <p:cNvPr id="12" name="">
            <a:extLst xmlns:a="http://schemas.openxmlformats.org/drawingml/2006/main">
              <a:ext uri="{FF2B5EF4-FFF2-40B4-BE49-F238E27FC236}">
                <a16:creationId xmlns:a16="http://schemas.microsoft.com/office/drawing/2014/main" id="{FB96AFA8-3BCD-4211-82A9-E1FFBA632E89}"/>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19</a:t>
            </a:r>
          </a:p>
        </p:txBody>
      </p:sp>
    </p:spTree>
    <p:extLst>
      <p:ext uri="{BB962C8B-B14F-4D97-AF65-F5344CB8AC3E}">
        <p14:creationId xmlns:p14="http://schemas.microsoft.com/office/powerpoint/2010/main" val="75310076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D842FE3-2AEE-4BDC-953D-973DB01DA335}"/>
              </a:ext>
            </a:extLst>
          </p:cNvPr>
          <p:cNvSpPr>
            <a:spLocks xmlns:a="http://schemas.openxmlformats.org/drawingml/2006/main" noGrp="1"/>
          </p:cNvSpPr>
          <p:nvPr/>
        </p:nvSpPr>
        <p:spPr>
          <a:xfrm xmlns:a="http://schemas.openxmlformats.org/drawingml/2006/main">
            <a:off x="609600" y="3810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40"/>
                </a:solidFill>
                <a:latin typeface="Arial"/>
                <a:ea typeface="Arial"/>
                <a:cs typeface="Arial"/>
              </a:defRPr>
            </a:pPr>
            <a:r>
              <a:rPr sz="3300" b="1">
                <a:solidFill>
                  <a:srgbClr val="142C40"/>
                </a:solidFill>
                <a:latin typeface="Arial"/>
                <a:ea typeface="Arial"/>
                <a:cs typeface="Arial"/>
              </a:rPr>
              <a:t>Demo: collecting every food dot</a:t>
            </a:r>
          </a:p>
        </p:txBody>
      </p:sp>
      <p:sp>
        <p:nvSpPr>
          <p:cNvPr id="2" name="">
            <a:extLst xmlns:a="http://schemas.openxmlformats.org/drawingml/2006/main">
              <a:ext uri="{FF2B5EF4-FFF2-40B4-BE49-F238E27FC236}">
                <a16:creationId xmlns:a16="http://schemas.microsoft.com/office/drawing/2014/main" id="{73F5CBB8-0C43-447D-825C-B5104C96334E}"/>
              </a:ext>
            </a:extLst>
          </p:cNvPr>
          <p:cNvSpPr>
            <a:spLocks xmlns:a="http://schemas.openxmlformats.org/drawingml/2006/main" noGrp="1"/>
          </p:cNvSpPr>
          <p:nvPr/>
        </p:nvSpPr>
        <p:spPr>
          <a:xfrm xmlns:a="http://schemas.openxmlformats.org/drawingml/2006/main">
            <a:off x="628650" y="1190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66979"/>
                </a:solidFill>
                <a:latin typeface="Arial"/>
                <a:ea typeface="Arial"/>
                <a:cs typeface="Arial"/>
              </a:defRPr>
            </a:pPr>
            <a:r>
              <a:rPr sz="1875" b="0">
                <a:solidFill>
                  <a:srgbClr val="566979"/>
                </a:solidFill>
                <a:latin typeface="Arial"/>
                <a:ea typeface="Arial"/>
                <a:cs typeface="Arial"/>
              </a:rPr>
              <a:t>Optional demonstration</a:t>
            </a:r>
          </a:p>
        </p:txBody>
      </p:sp>
      <p:sp>
        <p:nvSpPr>
          <p:cNvPr id="3" name="">
            <a:extLst xmlns:a="http://schemas.openxmlformats.org/drawingml/2006/main">
              <a:ext uri="{FF2B5EF4-FFF2-40B4-BE49-F238E27FC236}">
                <a16:creationId xmlns:a16="http://schemas.microsoft.com/office/drawing/2014/main" id="{94970854-9195-4091-83F5-7449DFC64894}"/>
              </a:ext>
            </a:extLst>
          </p:cNvPr>
          <p:cNvSpPr>
            <a:spLocks xmlns:a="http://schemas.openxmlformats.org/drawingml/2006/main" noGrp="1"/>
          </p:cNvSpPr>
          <p:nvPr/>
        </p:nvSpPr>
        <p:spPr>
          <a:xfrm xmlns:a="http://schemas.openxmlformats.org/drawingml/2006/main">
            <a:off x="685800" y="195262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66979"/>
                </a:solidFill>
                <a:latin typeface="Arial"/>
                <a:ea typeface="Arial"/>
                <a:cs typeface="Arial"/>
              </a:defRPr>
            </a:pPr>
            <a:r>
              <a:rPr sz="2025" b="0">
                <a:solidFill>
                  <a:srgbClr val="566979"/>
                </a:solidFill>
                <a:latin typeface="Arial"/>
                <a:ea typeface="Arial"/>
                <a:cs typeface="Arial"/>
              </a:rPr>
              <a:t>VS Code terminal in the Pacman folder</a:t>
            </a:r>
          </a:p>
        </p:txBody>
      </p:sp>
      <p:sp>
        <p:nvSpPr>
          <p:cNvPr id="4" name="">
            <a:extLst xmlns:a="http://schemas.openxmlformats.org/drawingml/2006/main">
              <a:ext uri="{FF2B5EF4-FFF2-40B4-BE49-F238E27FC236}">
                <a16:creationId xmlns:a16="http://schemas.microsoft.com/office/drawing/2014/main" id="{52526B08-F168-4FFA-9426-059C44EABFF0}"/>
              </a:ext>
            </a:extLst>
          </p:cNvPr>
          <p:cNvSpPr>
            <a:spLocks xmlns:a="http://schemas.openxmlformats.org/drawingml/2006/main" noGrp="1"/>
          </p:cNvSpPr>
          <p:nvPr/>
        </p:nvSpPr>
        <p:spPr>
          <a:xfrm xmlns:a="http://schemas.openxmlformats.org/drawingml/2006/main">
            <a:off x="685800" y="2733675"/>
            <a:ext cx="10810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87F7B"/>
                </a:solidFill>
                <a:latin typeface="Arial"/>
                <a:ea typeface="Arial"/>
                <a:cs typeface="Arial"/>
              </a:defRPr>
            </a:pPr>
            <a:r>
              <a:rPr sz="2925" b="1">
                <a:solidFill>
                  <a:srgbClr val="087F7B"/>
                </a:solidFill>
                <a:latin typeface="Arial"/>
                <a:ea typeface="Arial"/>
                <a:cs typeface="Arial"/>
              </a:rPr>
              <a:t>./Demo_Pacman.command food</a:t>
            </a:r>
          </a:p>
        </p:txBody>
      </p:sp>
      <p:sp>
        <p:nvSpPr>
          <p:cNvPr id="5" name="">
            <a:extLst xmlns:a="http://schemas.openxmlformats.org/drawingml/2006/main">
              <a:ext uri="{FF2B5EF4-FFF2-40B4-BE49-F238E27FC236}">
                <a16:creationId xmlns:a16="http://schemas.microsoft.com/office/drawing/2014/main" id="{0BF97963-226B-474C-B7CD-8E0CB5ED1AE2}"/>
              </a:ext>
            </a:extLst>
          </p:cNvPr>
          <p:cNvSpPr>
            <a:spLocks xmlns:a="http://schemas.openxmlformats.org/drawingml/2006/main" noGrp="1"/>
          </p:cNvSpPr>
          <p:nvPr/>
        </p:nvSpPr>
        <p:spPr>
          <a:xfrm xmlns:a="http://schemas.openxmlformats.org/drawingml/2006/main">
            <a:off x="704850" y="3762375"/>
            <a:ext cx="1071562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C40"/>
                </a:solidFill>
                <a:latin typeface="Arial"/>
                <a:ea typeface="Arial"/>
                <a:cs typeface="Arial"/>
              </a:defRPr>
            </a:pPr>
            <a:r>
              <a:rPr sz="2550" b="1">
                <a:solidFill>
                  <a:srgbClr val="142C40"/>
                </a:solidFill>
                <a:latin typeface="Arial"/>
                <a:ea typeface="Arial"/>
                <a:cs typeface="Arial"/>
              </a:rPr>
              <a:t>Expected: 60 moves and 255 expanded states</a:t>
            </a:r>
          </a:p>
        </p:txBody>
      </p:sp>
      <p:sp>
        <p:nvSpPr>
          <p:cNvPr id="6" name="">
            <a:extLst xmlns:a="http://schemas.openxmlformats.org/drawingml/2006/main">
              <a:ext uri="{FF2B5EF4-FFF2-40B4-BE49-F238E27FC236}">
                <a16:creationId xmlns:a16="http://schemas.microsoft.com/office/drawing/2014/main" id="{294B7323-FFD3-45BF-B53D-A0CEC798A6EB}"/>
              </a:ext>
            </a:extLst>
          </p:cNvPr>
          <p:cNvSpPr>
            <a:spLocks xmlns:a="http://schemas.openxmlformats.org/drawingml/2006/main" noGrp="1"/>
          </p:cNvSpPr>
          <p:nvPr/>
        </p:nvSpPr>
        <p:spPr>
          <a:xfrm xmlns:a="http://schemas.openxmlformats.org/drawingml/2006/main">
            <a:off x="704850" y="4610100"/>
            <a:ext cx="107156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40"/>
                </a:solidFill>
                <a:latin typeface="Arial"/>
                <a:ea typeface="Arial"/>
                <a:cs typeface="Arial"/>
              </a:defRPr>
            </a:pPr>
            <a:r>
              <a:rPr sz="2100" b="0">
                <a:solidFill>
                  <a:srgbClr val="142C40"/>
                </a:solidFill>
                <a:latin typeface="Arial"/>
                <a:ea typeface="Arial"/>
                <a:cs typeface="Arial"/>
              </a:rPr>
              <a:t>Explain the nearest-food term and why a spanning tree is a lower bound.</a:t>
            </a:r>
          </a:p>
        </p:txBody>
      </p:sp>
      <p:sp>
        <p:nvSpPr>
          <p:cNvPr id="7" name="jump-18">
            <a:extLst xmlns:a="http://schemas.openxmlformats.org/drawingml/2006/main">
              <a:ext uri="{FF2B5EF4-FFF2-40B4-BE49-F238E27FC236}">
                <a16:creationId xmlns:a16="http://schemas.microsoft.com/office/drawing/2014/main" id="{9D124145-0D2E-4CE3-B5AF-EA3BE8CD6A3D}"/>
              </a:ext>
            </a:extLst>
            <ns0:hlinkClick xmlns:ns0="http://schemas.openxmlformats.org/drawingml/2006/main" xmlns:ns1="http://schemas.openxmlformats.org/officeDocument/2006/relationships" ns1:id="rIdNav3" action="ppaction://hlinksldjump" tooltip="Go to slide 16"/>
          </p:cNvPr>
          <p:cNvSpPr>
            <a:spLocks xmlns:a="http://schemas.openxmlformats.org/drawingml/2006/main" noGrp="1"/>
          </p:cNvSpPr>
          <p:nvPr/>
        </p:nvSpPr>
        <p:spPr>
          <a:xfrm xmlns:a="http://schemas.openxmlformats.org/drawingml/2006/main">
            <a:off x="704850" y="5638800"/>
            <a:ext cx="4381500" cy="552450"/>
          </a:xfrm>
          <a:prstGeom xmlns:a="http://schemas.openxmlformats.org/drawingml/2006/main" prst="rect">
            <a:avLst/>
          </a:prstGeom>
          <a:solidFill xmlns:a="http://schemas.openxmlformats.org/drawingml/2006/main">
            <a:srgbClr val="087F7B"/>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Return to demo menu</a:t>
            </a:r>
          </a:p>
        </p:txBody>
      </p:sp>
      <p:sp>
        <p:nvSpPr>
          <p:cNvPr id="8" name="jump-19">
            <a:extLst xmlns:a="http://schemas.openxmlformats.org/drawingml/2006/main">
              <a:ext uri="{FF2B5EF4-FFF2-40B4-BE49-F238E27FC236}">
                <a16:creationId xmlns:a16="http://schemas.microsoft.com/office/drawing/2014/main" id="{43AD2D10-246E-4F31-AB6E-BCADF9D58D9A}"/>
              </a:ext>
            </a:extLst>
            <ns2:hlinkClick xmlns:ns2="http://schemas.openxmlformats.org/drawingml/2006/main" xmlns:ns3="http://schemas.openxmlformats.org/officeDocument/2006/relationships" ns3:id="rIdNav4" action="ppaction://hlinksldjump" tooltip="Go to slide 11"/>
          </p:cNvPr>
          <p:cNvSpPr>
            <a:spLocks xmlns:a="http://schemas.openxmlformats.org/drawingml/2006/main" noGrp="1"/>
          </p:cNvSpPr>
          <p:nvPr/>
        </p:nvSpPr>
        <p:spPr>
          <a:xfrm xmlns:a="http://schemas.openxmlformats.org/drawingml/2006/main">
            <a:off x="6019800" y="5638800"/>
            <a:ext cx="5334000" cy="5524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114300" rIns="114300" bIns="38100" anchor="ctr">
            <a:noAutofit/>
          </a:bodyPr>
          <a:lstStyle xmlns:a="http://schemas.openxmlformats.org/drawingml/2006/main"/>
          <a:p xmlns:a="http://schemas.openxmlformats.org/drawingml/2006/main">
            <a:pPr algn="ctr">
              <a:defRPr sz="2025" b="1">
                <a:solidFill>
                  <a:srgbClr val="087F7B"/>
                </a:solidFill>
                <a:latin typeface="Arial"/>
                <a:ea typeface="Arial"/>
                <a:cs typeface="Arial"/>
              </a:defRPr>
            </a:pPr>
            <a:r>
              <a:rPr sz="2025" b="1">
                <a:solidFill>
                  <a:srgbClr val="087F7B"/>
                </a:solidFill>
                <a:latin typeface="Arial"/>
                <a:ea typeface="Arial"/>
                <a:cs typeface="Arial"/>
              </a:rPr>
              <a:t>Review the explanation</a:t>
            </a:r>
          </a:p>
        </p:txBody>
      </p:sp>
      <p:sp>
        <p:nvSpPr>
          <p:cNvPr id="9" name="jump-74">
            <a:extLst xmlns:a="http://schemas.openxmlformats.org/drawingml/2006/main">
              <a:ext uri="{FF2B5EF4-FFF2-40B4-BE49-F238E27FC236}">
                <a16:creationId xmlns:a16="http://schemas.microsoft.com/office/drawing/2014/main" id="{AEF5FE41-F054-4688-94C6-057FC8C308A7}"/>
              </a:ext>
            </a:extLst>
            <ns4:hlinkClick xmlns:ns4="http://schemas.openxmlformats.org/drawingml/2006/main" xmlns:ns5="http://schemas.openxmlformats.org/officeDocument/2006/relationships" ns5:id="rIdNav5" action="ppaction://hlinksldjump" tooltip="Go to slide 2"/>
          </p:cNvPr>
          <p:cNvSpPr>
            <a:spLocks xmlns:a="http://schemas.openxmlformats.org/drawingml/2006/main" noGrp="1"/>
          </p:cNvSpPr>
          <p:nvPr/>
        </p:nvSpPr>
        <p:spPr>
          <a:xfrm xmlns:a="http://schemas.openxmlformats.org/drawingml/2006/main">
            <a:off x="6096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Menu</a:t>
            </a:r>
          </a:p>
        </p:txBody>
      </p:sp>
      <p:sp>
        <p:nvSpPr>
          <p:cNvPr id="10" name="jump-75">
            <a:extLst xmlns:a="http://schemas.openxmlformats.org/drawingml/2006/main">
              <a:ext uri="{FF2B5EF4-FFF2-40B4-BE49-F238E27FC236}">
                <a16:creationId xmlns:a16="http://schemas.microsoft.com/office/drawing/2014/main" id="{515FAB0B-C919-43D1-9FB6-0267A3F57350}"/>
              </a:ext>
            </a:extLst>
            <ns6:hlinkClick xmlns:ns6="http://schemas.openxmlformats.org/drawingml/2006/main" xmlns:ns7="http://schemas.openxmlformats.org/officeDocument/2006/relationships" ns7:id="rIdNav6" action="ppaction://hlinksldjump" tooltip="Go to slide 16"/>
          </p:cNvPr>
          <p:cNvSpPr>
            <a:spLocks xmlns:a="http://schemas.openxmlformats.org/drawingml/2006/main" noGrp="1"/>
          </p:cNvSpPr>
          <p:nvPr/>
        </p:nvSpPr>
        <p:spPr>
          <a:xfrm xmlns:a="http://schemas.openxmlformats.org/drawingml/2006/main">
            <a:off x="8772525" y="6457950"/>
            <a:ext cx="1057275"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Back</a:t>
            </a:r>
          </a:p>
        </p:txBody>
      </p:sp>
      <p:sp>
        <p:nvSpPr>
          <p:cNvPr id="11" name="jump-76">
            <a:extLst xmlns:a="http://schemas.openxmlformats.org/drawingml/2006/main">
              <a:ext uri="{FF2B5EF4-FFF2-40B4-BE49-F238E27FC236}">
                <a16:creationId xmlns:a16="http://schemas.microsoft.com/office/drawing/2014/main" id="{E2117701-6E5F-4AD0-B5B9-C1AADCB4E881}"/>
              </a:ext>
            </a:extLst>
            <ns8:hlinkClick xmlns:ns8="http://schemas.openxmlformats.org/drawingml/2006/main" xmlns:ns9="http://schemas.openxmlformats.org/officeDocument/2006/relationships" ns9:id="rIdNav7" action="ppaction://hlinksldjump" tooltip="Go to slide 16"/>
          </p:cNvPr>
          <p:cNvSpPr>
            <a:spLocks xmlns:a="http://schemas.openxmlformats.org/drawingml/2006/main" noGrp="1"/>
          </p:cNvSpPr>
          <p:nvPr/>
        </p:nvSpPr>
        <p:spPr>
          <a:xfrm xmlns:a="http://schemas.openxmlformats.org/drawingml/2006/main">
            <a:off x="9982200" y="6457950"/>
            <a:ext cx="1123950" cy="285750"/>
          </a:xfrm>
          <a:prstGeom xmlns:a="http://schemas.openxmlformats.org/drawingml/2006/main" prst="rect">
            <a:avLst/>
          </a:prstGeom>
          <a:solidFill xmlns:a="http://schemas.openxmlformats.org/drawingml/2006/main">
            <a:srgbClr val="EDF3F5"/>
          </a:solidFill>
          <a:ln xmlns:a="http://schemas.openxmlformats.org/drawingml/2006/main" w="0">
            <a:noFill/>
          </a:ln>
        </p:spPr>
        <p:txBody>
          <a:bodyPr xmlns:a="http://schemas.openxmlformats.org/drawingml/2006/main" lIns="114300" tIns="38100" rIns="114300" bIns="38100" anchor="ctr">
            <a:noAutofit/>
          </a:bodyPr>
          <a:lstStyle xmlns:a="http://schemas.openxmlformats.org/drawingml/2006/main"/>
          <a:p xmlns:a="http://schemas.openxmlformats.org/drawingml/2006/main">
            <a:pPr algn="ctr">
              <a:defRPr sz="1350" b="1">
                <a:solidFill>
                  <a:srgbClr val="087F7B"/>
                </a:solidFill>
                <a:latin typeface="Arial"/>
                <a:ea typeface="Arial"/>
                <a:cs typeface="Arial"/>
              </a:defRPr>
            </a:pPr>
            <a:r>
              <a:rPr sz="1350" b="1">
                <a:solidFill>
                  <a:srgbClr val="087F7B"/>
                </a:solidFill>
                <a:latin typeface="Arial"/>
                <a:ea typeface="Arial"/>
                <a:cs typeface="Arial"/>
              </a:rPr>
              <a:t>Demos</a:t>
            </a:r>
          </a:p>
        </p:txBody>
      </p:sp>
      <p:sp>
        <p:nvSpPr>
          <p:cNvPr id="12" name="">
            <a:extLst xmlns:a="http://schemas.openxmlformats.org/drawingml/2006/main">
              <a:ext uri="{FF2B5EF4-FFF2-40B4-BE49-F238E27FC236}">
                <a16:creationId xmlns:a16="http://schemas.microsoft.com/office/drawing/2014/main" id="{301C6D3A-3676-479F-9632-39804B481278}"/>
              </a:ext>
            </a:extLst>
          </p:cNvPr>
          <p:cNvSpPr>
            <a:spLocks xmlns:a="http://schemas.openxmlformats.org/drawingml/2006/main" noGrp="1"/>
          </p:cNvSpPr>
          <p:nvPr/>
        </p:nvSpPr>
        <p:spPr>
          <a:xfrm xmlns:a="http://schemas.openxmlformats.org/drawingml/2006/main">
            <a:off x="11268075" y="6477000"/>
            <a:ext cx="4476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66979"/>
                </a:solidFill>
                <a:latin typeface="Arial"/>
                <a:ea typeface="Arial"/>
                <a:cs typeface="Arial"/>
              </a:defRPr>
            </a:pPr>
            <a:r>
              <a:rPr sz="1350" b="0">
                <a:solidFill>
                  <a:srgbClr val="566979"/>
                </a:solidFill>
                <a:latin typeface="Arial"/>
                <a:ea typeface="Arial"/>
                <a:cs typeface="Arial"/>
              </a:rPr>
              <a:t>20</a:t>
            </a:r>
          </a:p>
        </p:txBody>
      </p:sp>
    </p:spTree>
    <p:extLst>
      <p:ext uri="{BB962C8B-B14F-4D97-AF65-F5344CB8AC3E}">
        <p14:creationId xmlns:p14="http://schemas.microsoft.com/office/powerpoint/2010/main" val="18384179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Maitreya Vaghulade and Karan Jain</dc:creator>
  <lastModifiedBy>Maitreya Vaghulade and Karan Jain</lastModifiedBy>
  <dc:title>Project 01: The Searchin' Pac-Man</dc:title>
  <dcterms:created xsi:type="dcterms:W3CDTF">2026-09-16T20:03:22.1050000Z</dcterms:created>
  <dcterms:modified xsi:type="dcterms:W3CDTF">2026-09-16T20:03:22.1050000Z</dcterms:modified>
  <dc:subject>CSE 537 Project 01 interactive presentation</dc:subject>
</coreProperties>
</file>
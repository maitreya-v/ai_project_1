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85c60e00175412d" /><Relationship Type="http://schemas.openxmlformats.org/officeDocument/2006/relationships/extended-properties" Target="/docProps/app.xml" Id="R38dbe43f668e43dc" /><Relationship Type="http://schemas.openxmlformats.org/officeDocument/2006/relationships/officeDocument" Target="/ppt/presentation.xml" Id="R5ac5a50491634761" /></Relationships>
</file>

<file path=ppt/presentation.xml><?xml version="1.0" encoding="utf-8"?>
<p:presentation xmlns:p="http://schemas.openxmlformats.org/presentationml/2006/main">
  <p:sldMasterIdLst>
    <p:sldMasterId xmlns:r="http://schemas.openxmlformats.org/officeDocument/2006/relationships" id="2147483648" r:id="Rb757a4c9e0d149f2"/>
  </p:sldMasterIdLst>
  <p:notesMasterIdLst>
    <p:notesMasterId xmlns:r="http://schemas.openxmlformats.org/officeDocument/2006/relationships" r:id="Rccfa890cd11e4243"/>
  </p:notesMasterIdLst>
  <p:sldIdLst>
    <p:sldId xmlns:r="http://schemas.openxmlformats.org/officeDocument/2006/relationships" id="256" r:id="Re8b894293f9e4fe2"/>
    <p:sldId xmlns:r="http://schemas.openxmlformats.org/officeDocument/2006/relationships" id="257" r:id="R8d9c9cdc94c24e9b"/>
    <p:sldId xmlns:r="http://schemas.openxmlformats.org/officeDocument/2006/relationships" id="258" r:id="R4a450924545c4e4b"/>
    <p:sldId xmlns:r="http://schemas.openxmlformats.org/officeDocument/2006/relationships" id="259" r:id="Rfa7510ba515f4d71"/>
    <p:sldId xmlns:r="http://schemas.openxmlformats.org/officeDocument/2006/relationships" id="260" r:id="R52e1a4c6875e4f0a"/>
    <p:sldId xmlns:r="http://schemas.openxmlformats.org/officeDocument/2006/relationships" id="261" r:id="R1a0fae6796d14df1"/>
    <p:sldId xmlns:r="http://schemas.openxmlformats.org/officeDocument/2006/relationships" id="262" r:id="Rfd42de3cce824db0"/>
    <p:sldId xmlns:r="http://schemas.openxmlformats.org/officeDocument/2006/relationships" id="263" r:id="R5aff182cc65a4aa5"/>
    <p:sldId xmlns:r="http://schemas.openxmlformats.org/officeDocument/2006/relationships" id="264" r:id="Rf32a159595d9481d"/>
    <p:sldId xmlns:r="http://schemas.openxmlformats.org/officeDocument/2006/relationships" id="265" r:id="R658a458412364caa"/>
    <p:sldId xmlns:r="http://schemas.openxmlformats.org/officeDocument/2006/relationships" id="266" r:id="Rbbe0f51c9da74eff"/>
    <p:sldId xmlns:r="http://schemas.openxmlformats.org/officeDocument/2006/relationships" id="267" r:id="R49a552bba8e844e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8a70396905c4961" /><Relationship Type="http://schemas.openxmlformats.org/officeDocument/2006/relationships/slideMaster" Target="/ppt/slideMasters/slideMaster1.xml" Id="Rb757a4c9e0d149f2" /><Relationship Type="http://schemas.openxmlformats.org/officeDocument/2006/relationships/notesMaster" Target="/ppt/notesMasters/notesMaster1.xml" Id="Rccfa890cd11e4243" /><Relationship Type="http://schemas.openxmlformats.org/officeDocument/2006/relationships/presProps" Target="/ppt/presProps.xml" Id="R513e04a1c8e64d46" /><Relationship Type="http://schemas.openxmlformats.org/officeDocument/2006/relationships/tableStyles" Target="/ppt/tableStyles.xml" Id="R4d891ccc57ab4570" /><Relationship Type="http://schemas.openxmlformats.org/officeDocument/2006/relationships/slide" Target="/ppt/slides/slide1.xml" Id="Re8b894293f9e4fe2" /><Relationship Type="http://schemas.openxmlformats.org/officeDocument/2006/relationships/slide" Target="/ppt/slides/slide2.xml" Id="R8d9c9cdc94c24e9b" /><Relationship Type="http://schemas.openxmlformats.org/officeDocument/2006/relationships/slide" Target="/ppt/slides/slide3.xml" Id="R4a450924545c4e4b" /><Relationship Type="http://schemas.openxmlformats.org/officeDocument/2006/relationships/slide" Target="/ppt/slides/slide4.xml" Id="Rfa7510ba515f4d71" /><Relationship Type="http://schemas.openxmlformats.org/officeDocument/2006/relationships/slide" Target="/ppt/slides/slide5.xml" Id="R52e1a4c6875e4f0a" /><Relationship Type="http://schemas.openxmlformats.org/officeDocument/2006/relationships/slide" Target="/ppt/slides/slide6.xml" Id="R1a0fae6796d14df1" /><Relationship Type="http://schemas.openxmlformats.org/officeDocument/2006/relationships/slide" Target="/ppt/slides/slide7.xml" Id="Rfd42de3cce824db0" /><Relationship Type="http://schemas.openxmlformats.org/officeDocument/2006/relationships/slide" Target="/ppt/slides/slide8.xml" Id="R5aff182cc65a4aa5" /><Relationship Type="http://schemas.openxmlformats.org/officeDocument/2006/relationships/slide" Target="/ppt/slides/slide9.xml" Id="Rf32a159595d9481d" /><Relationship Type="http://schemas.openxmlformats.org/officeDocument/2006/relationships/slide" Target="/ppt/slides/slide10.xml" Id="R658a458412364caa" /><Relationship Type="http://schemas.openxmlformats.org/officeDocument/2006/relationships/slide" Target="/ppt/slides/slide11.xml" Id="Rbbe0f51c9da74eff" /><Relationship Type="http://schemas.openxmlformats.org/officeDocument/2006/relationships/slide" Target="/ppt/slides/slide12.xml" Id="R49a552bba8e844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c787816b924f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55dfd9f95b4ffe" /><Relationship Type="http://schemas.openxmlformats.org/officeDocument/2006/relationships/notesMaster" Target="/ppt/notesMasters/notesMaster1.xml" Id="R8eb1b9250b42426d" /></Relationships>
</file>

<file path=ppt/notesSlides/_rels/notesSlide2.xml.rels>&#65279;<?xml version="1.0" encoding="utf-8"?><Relationships xmlns="http://schemas.openxmlformats.org/package/2006/relationships"><Relationship Type="http://schemas.openxmlformats.org/officeDocument/2006/relationships/slide" Target="/ppt/slides/slide2.xml" Id="R44bf26ed9fc64f5f" /><Relationship Type="http://schemas.openxmlformats.org/officeDocument/2006/relationships/notesMaster" Target="/ppt/notesMasters/notesMaster1.xml" Id="R8c1154be3604438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046dcacfd3455d" /><Relationship Type="http://schemas.openxmlformats.org/officeDocument/2006/relationships/notesMaster" Target="/ppt/notesMasters/notesMaster1.xml" Id="Rd9d13654544543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c384233db84f2b" /><Relationship Type="http://schemas.openxmlformats.org/officeDocument/2006/relationships/notesMaster" Target="/ppt/notesMasters/notesMaster1.xml" Id="R6483727ad22e40d4" /></Relationships>
</file>

<file path=ppt/notesSlides/_rels/notesSlide5.xml.rels>&#65279;<?xml version="1.0" encoding="utf-8"?><Relationships xmlns="http://schemas.openxmlformats.org/package/2006/relationships"><Relationship Type="http://schemas.openxmlformats.org/officeDocument/2006/relationships/slide" Target="/ppt/slides/slide5.xml" Id="Rd4253f6b67af4e04" /><Relationship Type="http://schemas.openxmlformats.org/officeDocument/2006/relationships/notesMaster" Target="/ppt/notesMasters/notesMaster1.xml" Id="Rc2a711437f3b4077"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4771cdf9544141" /><Relationship Type="http://schemas.openxmlformats.org/officeDocument/2006/relationships/notesMaster" Target="/ppt/notesMasters/notesMaster1.xml" Id="Rd623b2c938034c6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69bb01742bf4c31" /><Relationship Type="http://schemas.openxmlformats.org/officeDocument/2006/relationships/notesMaster" Target="/ppt/notesMasters/notesMaster1.xml" Id="R84c8ebb0552b43ef"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1bd2e2fd234a3b" /><Relationship Type="http://schemas.openxmlformats.org/officeDocument/2006/relationships/notesMaster" Target="/ppt/notesMasters/notesMaster1.xml" Id="R8898b8d867e648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bc5bc583cb4e1f" /><Relationship Type="http://schemas.openxmlformats.org/officeDocument/2006/relationships/notesMaster" Target="/ppt/notesMasters/notesMaster1.xml" Id="R323438fb213e4c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db1c4390a2c44ef" /><Relationship Type="http://schemas.openxmlformats.org/officeDocument/2006/relationships/notesMaster" Target="/ppt/notesMasters/notesMaster1.xml" Id="R6c2a52c38397450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4fdd1982994a21" /><Relationship Type="http://schemas.openxmlformats.org/officeDocument/2006/relationships/notesMaster" Target="/ppt/notesMasters/notesMaster1.xml" Id="R8b82c747fe1648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04ea86269d4bfd" /><Relationship Type="http://schemas.openxmlformats.org/officeDocument/2006/relationships/notesMaster" Target="/ppt/notesMasters/notesMaster1.xml" Id="R41471ae62d8f4c4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presentation explains the seven search questions and the measured tradeoffs between the solutions. The project begins with reaching a single location, then adds the need to visit every corner and collect every food dot. The main result is an optimal 60-step food route on trickySearch with only 255 expansions. Explain the ideas as well as the implementation, since the TA demonstration can require code changes. Implementation and report preparation used OpenAI Codex assistance. Cover art is a conceptual illustration, not a screenshot of a measured run.</a:t>
            </a:r>
          </a:p>
          <a:p xmlns:a="http://schemas.openxmlformats.org/drawingml/2006/main">
            <a:r>
              <a:t/>
            </a:r>
          </a:p>
          <a:p xmlns:a="http://schemas.openxmlformats.org/drawingml/2006/main">
            <a:r>
              <a:t>Sources: Project01-Fall2026.pdf, supplied CSE 537 assignment, pages 2–7; Project01_Report.pdf. Cover art: OpenAI ImageGen, generated for this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search problem specifies a start state, a goal test, and successors with actions and costs. A state should contain exactly the information needed to predict future choices and recognize the goal. A position is enough for one destination. Corners need visit history. Food search needs a grid recording which dots remain. The general search functions interact only through the problem interface, so the same algorithms also work on eight-puzzle states. Parent links reconstruct the final action sequence without copying the whole path at each expansion. The project changes only search.py and searchAgents.py among the starter files.</a:t>
            </a:r>
          </a:p>
          <a:p xmlns:a="http://schemas.openxmlformats.org/drawingml/2006/main">
            <a:r>
              <a:t/>
            </a:r>
          </a:p>
          <a:p xmlns:a="http://schemas.openxmlformats.org/drawingml/2006/main">
            <a:r>
              <a:t>Sources: Project01-Fall2026.pdf, supplied CSE 537 assignment, pages 2–7; search.py SearchProblem; searchAgents.py PositionSearchProblem, CornersProblem, FoodSearchProblem.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DFS uses a stack and follows the deepest available branch. It marks states on pop, so duplicate frontier entries cannot suppress a deeper route prematurely. BFS uses a queue and marks on insertion because its first discovery is already a shortest path in number of actions. UCS and A* track the best discovered accumulated cost. An improved cost creates a new priority-queue entry, and old entries are skipped when popped. A state can reopen if a cheaper route arrives, supporting admissible but inconsistent heuristics. Equal priorities keep insertion order. UCS assumes nonnegative costs. A* additionally needs an admissible heuristic with zero at goals. BFS minimizes cost only when all steps have equal cost.</a:t>
            </a:r>
          </a:p>
          <a:p xmlns:a="http://schemas.openxmlformats.org/drawingml/2006/main">
            <a:r>
              <a:t/>
            </a:r>
          </a:p>
          <a:p xmlns:a="http://schemas.openxmlformats.org/drawingml/2006/main">
            <a:r>
              <a:t>Sources: Project01-Fall2026.pdf, supplied CSE 537 assignment, pages 2–7, Q1–Q4; search.py depthFirstSearch, breadthFirstSearch, _costSearch.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mediumMaze, DFS expands 146 states and returns a 130-step route. BFS expands 269 states and returns the optimal 68-step route. The larger exploration effort buys a better solution. On openMaze, DFS takes 298 moves while BFS needs only 54. DFS happens to return an optimal path on bigMaze, but this is not a guarantee. The provided PDF gives an approximate DFS length hint. The supplied maze and specified successor order produce the measured 130-step route, which was replayed successfully. Pac-Man does not physically visit every explored state. Exploration is internal planning, and the final path can omit dead ends.</a:t>
            </a:r>
          </a:p>
          <a:p xmlns:a="http://schemas.openxmlformats.org/drawingml/2006/main">
            <a:r>
              <a:t/>
            </a:r>
          </a:p>
          <a:p xmlns:a="http://schemas.openxmlformats.org/drawingml/2006/main">
            <a:r>
              <a:t>Sources: validation/benchmark_results.json, CPython 3.11.16, macOS arm64, September 15, 2026; Project01_Report.pdf, section 3; assignment Q1–Q2.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cost functions charge for entering column x. StayEast makes positions farther east cheaper, while StayWest penalizes eastward positions exponentially. BFS still minimizes the number of moves, but it does not minimize these weighted objectives. On mediumDottedMaze, UCS adds six moves while reducing total weighted cost slightly. On mediumScaryMaze, UCS adds twenty moves and reduces cost by about 1.95 billion cost units. These magnitudes are arbitrary model costs, not money. The agent console prints integer costs, so the benchmark records the precise values instead. The comparison illustrates why the objective must be defined before choosing a search strategy.</a:t>
            </a:r>
          </a:p>
          <a:p xmlns:a="http://schemas.openxmlformats.org/drawingml/2006/main">
            <a:r>
              <a:t/>
            </a:r>
          </a:p>
          <a:p xmlns:a="http://schemas.openxmlformats.org/drawingml/2006/main">
            <a:r>
              <a:t>Sources: validation/benchmark_results.json, CPython 3.11.16, macOS arm64, September 15, 2026; searchAgents.py StayEastSearchAgent and StayWestSearchAgent; assignment Q3.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Manhattan distance adds the horizontal and vertical distance to the goal. Ignoring walls can only make reaching the goal easier, so this is a lower bound for unit-cost four-direction movement. A move can reduce that estimate by at most one, giving consistency. The heuristic is zero at the goal. On bigMaze, A* expands 549 states compared with 620 for UCS, an 11.5 percent reduction, while both routes have cost 210. The measured medians are 0.628 and 0.687 milliseconds. Manhattan distance can still create many equal-priority states in an open region. On openMaze, A* expands 535 states and UCS expands 682. Do not assume unscaled Manhattan distance is valid for the exponential weighted cost functions.</a:t>
            </a:r>
          </a:p>
          <a:p xmlns:a="http://schemas.openxmlformats.org/drawingml/2006/main">
            <a:r>
              <a:t/>
            </a:r>
          </a:p>
          <a:p xmlns:a="http://schemas.openxmlformats.org/drawingml/2006/main">
            <a:r>
              <a:t>Sources: validation/benchmark_results.json, CPython 3.11.16, macOS arm64, September 15, 2026; searchAgents.py manhattanHeuristic; assignment Q4.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Position alone is insufficient because reaching the same cell with different corner histories can require different future actions. Each successor is a new immutable tuple containing the new position and an integer bit mask. Set bit i using a bitwise OR when the move reaches corner i. Never store one shared mutable set of visited corners on the problem object, because that would leak history between branches. The constructor keeps fixed maze data, while states keep branch-specific information. Every legal move costs one. Starting on a corner already visits it. There are at most sixteen masks per walkable cell, so at most 16V abstract states. The full game state contains irrelevant ghost and food data and would make search unnecessarily large.</a:t>
            </a:r>
          </a:p>
          <a:p xmlns:a="http://schemas.openxmlformats.org/drawingml/2006/main">
            <a:r>
              <a:t/>
            </a:r>
          </a:p>
          <a:p xmlns:a="http://schemas.openxmlformats.org/drawingml/2006/main">
            <a:r>
              <a:t>Sources: Project01-Fall2026.pdf, supplied CSE 537 assignment, pages 2–7, Q5; searchAgents.py CornersProblem.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heuristic minimizes the Manhattan distance from the current position to the first unvisited corner plus the Manhattan distances between successive corners. With four corners there are at most 24 orders. It caches corner-to-corner suffix costs by visit mask, since those costs do not depend on Pac-Man’s current position. Any real completion induces an order of first visits, and each real segment is at least its Manhattan distance. Therefore the minimum relaxed tour is admissible. For consistency, one legal move followed by the best relaxed completion of the next state is also a relaxed completion of the current state. Thus h(s) is at most one plus h(s next). On mediumCorners, expansions fall by 62.3 percent to 741, below the assignment’s fewer-than-800 stretch target. On tinyCorners, both find 28 moves, but heuristic overhead makes A* slightly slower.</a:t>
            </a:r>
          </a:p>
          <a:p xmlns:a="http://schemas.openxmlformats.org/drawingml/2006/main">
            <a:r>
              <a:t/>
            </a:r>
          </a:p>
          <a:p xmlns:a="http://schemas.openxmlformats.org/drawingml/2006/main">
            <a:r>
              <a:t>Sources: validation/benchmark_results.json, CPython 3.11.16, macOS arm64, September 15, 2026; searchAgents.py cornersHeuristic; assignment Q6.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heuristic uses shortest-path maze distances, not straight-line distance. A breadth-first distance map from each food location is cached. Prim’s algorithm computes the minimum spanning tree weight on the complete food graph, with each edge weighted by maze distance. Cache that tree cost by remaining food subset. For admissibility, any completion first reaches a food at a cost no smaller than the nearest-food distance. The rest of its walk connects all food locations, so it costs at least a minimum spanning tree. These bounds apply to consecutive portions of the route, making their sum valid. For consistency without eating, the tree stays fixed and nearest distance drops by at most one. When eating q, attach q to the nearest node in the successor tree. This proves MST(F) &lt;= MST(F without q) + nearest distance from q. Together with the one-step move, this gives h(s) &lt;= 1 + h(s next). The final-food case also drops by at most one.</a:t>
            </a:r>
          </a:p>
          <a:p xmlns:a="http://schemas.openxmlformats.org/drawingml/2006/main">
            <a:r>
              <a:t/>
            </a:r>
          </a:p>
          <a:p xmlns:a="http://schemas.openxmlformats.org/drawingml/2006/main">
            <a:r>
              <a:t>Sources: Project01-Fall2026.pdf, supplied CSE 537 assignment, pages 2–7, Q7; searchAgents.py foodHeuristic and _mazeDistanceMap; Project01_Report.pdf, section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 food heuristic reaches the same 60-step optimum as UCS with 255 expansions rather than 16,688. That is a 98.47 percent reduction. Its median search time is approximately 49.7 times lower. Peak traced Python allocations fall by about 97.9 percent. These memory values include heuristic maps and caches, but exclude interpreter startup and whole-process resident memory. The criterion listed for extra credit is fewer than 7,000 expansions. Meeting this measured threshold is not an official grade, since the course autograder was not supplied. On tinySearch, A* and UCS both return cost 27, with 89 versus 5,057 expansions. On testSearch, both return cost seven.</a:t>
            </a:r>
          </a:p>
          <a:p xmlns:a="http://schemas.openxmlformats.org/drawingml/2006/main">
            <a:r>
              <a:t/>
            </a:r>
          </a:p>
          <a:p xmlns:a="http://schemas.openxmlformats.org/drawingml/2006/main">
            <a:r>
              <a:t>Sources: validation/benchmark_results.json, CPython 3.11.16, macOS arm64, September 15, 2026; validation/test_project.py; assignment Q7 expansion thresholds.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benchmark measures only the search call on a fresh problem with empty heuristic caches. Five untraced timings give a median. A separate cold tracemalloc run records peak Python allocations, in KiB. Heuristic preprocessing and cache construction are included. Importing modules, parsing layouts, constructing the problem, replaying the result, and animating the game are outside the measurement window. Expanded nodes count calls to the problem successor function, including neither goal pops nor heuristic-only maze preprocessing. The regression suite covers sixty generated weighted graphs checked against an independent reference, zero-cost cycles, stale queue entries, early goal generation, reopening with inconsistent heuristics, and eight-puzzle states. Exhaustive admissibility and consistency checks cover tinyCorners, mediumCorners, testSearch, and tinySearch. These project checks are local evidence, not the unavailable official course autograder.</a:t>
            </a:r>
          </a:p>
          <a:p xmlns:a="http://schemas.openxmlformats.org/drawingml/2006/main">
            <a:r>
              <a:t/>
            </a:r>
          </a:p>
          <a:p xmlns:a="http://schemas.openxmlformats.org/drawingml/2006/main">
            <a:r>
              <a:t>Sources: validation/benchmark_results.json, CPython 3.11.16, macOS arm64, September 15, 2026; validation/tests_python311.log; validation/examples.log; validation/test_project.py.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empirical comparison supports a conditional conclusion. DFS can find a feasible route quickly but has no path-quality guarantee. BFS is effective for equal costs. UCS is the reliable baseline for varying costs. A* helps most when its lower bound captures meaningful future work at low computation cost. Fewer expanded states do not automatically imply less elapsed time. On tinyCorners, A* takes 0.391 milliseconds versus BFS at 0.319 milliseconds. The optional mediumSearch case has 108 food dots and did not finish within a five-second diagnostic with memory tracing enabled. That run is partial and its timing is not comparable with the ordinary untraced benchmark. For a live demonstration, run: python pacman.py -l mediumMaze -p SearchAgent -a fn=bfs ; python pacman.py -l mediumCorners -p AStarCornersAgent ; python pacman.py -l trickySearch -p AStarFoodSearchAgent. Be ready to explain goal-on-pop, visit masks, and heuristic consistency.</a:t>
            </a:r>
          </a:p>
          <a:p xmlns:a="http://schemas.openxmlformats.org/drawingml/2006/main">
            <a:r>
              <a:t/>
            </a:r>
          </a:p>
          <a:p xmlns:a="http://schemas.openxmlformats.org/drawingml/2006/main">
            <a:r>
              <a:t>Sources: validation/benchmark_results.json, CPython 3.11.16, macOS arm64, September 15, 2026; validation/medium_search_probe.json; Project01_Report.pdf, critical conclusion.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cd58b834dc49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56e50c3fb043bf" /><Relationship Type="http://schemas.openxmlformats.org/officeDocument/2006/relationships/slideLayout" Target="/ppt/slideLayouts/slideLayout1.xml" Id="Re7641b69e5c7414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641b69e5c7414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80d62e34bdd48a2" /><Relationship Type="http://schemas.openxmlformats.org/officeDocument/2006/relationships/image" Target="/ppt/media/image.png" Id="R8e8403c4519b478d" /><Relationship Type="http://schemas.openxmlformats.org/officeDocument/2006/relationships/notesSlide" Target="/ppt/notesSlides/notesSlide1.xml" Id="Rebce9c445b5343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5d46e3b0fe4de3" /><Relationship Type="http://schemas.openxmlformats.org/officeDocument/2006/relationships/notesSlide" Target="/ppt/notesSlides/notesSlide2.xml" Id="R367225c5dae041f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6f4f3f49fd1475f" /><Relationship Type="http://schemas.openxmlformats.org/officeDocument/2006/relationships/notesSlide" Target="/ppt/notesSlides/notesSlide3.xml" Id="Rf496615570ca4b2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2f76f6ccaa3443e" /><Relationship Type="http://schemas.openxmlformats.org/officeDocument/2006/relationships/chart" Target="/ppt/slides/charts/chart1.xml" Id="R2bd883c3316e43f2" /><Relationship Type="http://schemas.openxmlformats.org/officeDocument/2006/relationships/notesSlide" Target="/ppt/notesSlides/notesSlide4.xml" Id="Rd27608b8667547f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7940e861e4c4595" /><Relationship Type="http://schemas.openxmlformats.org/officeDocument/2006/relationships/notesSlide" Target="/ppt/notesSlides/notesSlide5.xml" Id="R3445c2c7d00c44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2270fbb54714ca6" /><Relationship Type="http://schemas.openxmlformats.org/officeDocument/2006/relationships/chart" Target="/ppt/slides/charts/chart2.xml" Id="R52df009b3d9e41d6" /><Relationship Type="http://schemas.openxmlformats.org/officeDocument/2006/relationships/notesSlide" Target="/ppt/notesSlides/notesSlide6.xml" Id="R1c8c0efd7a2747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0d2b2d0c4154e68" /><Relationship Type="http://schemas.openxmlformats.org/officeDocument/2006/relationships/notesSlide" Target="/ppt/notesSlides/notesSlide7.xml" Id="R7fb1c852d58947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f6b9b0feae24a75" /><Relationship Type="http://schemas.openxmlformats.org/officeDocument/2006/relationships/chart" Target="/ppt/slides/charts/chart3.xml" Id="R435ee3f290e2468b" /><Relationship Type="http://schemas.openxmlformats.org/officeDocument/2006/relationships/notesSlide" Target="/ppt/notesSlides/notesSlide8.xml" Id="R6add55d64c4e44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380864b398a4d7b" /><Relationship Type="http://schemas.openxmlformats.org/officeDocument/2006/relationships/notesSlide" Target="/ppt/notesSlides/notesSlide9.xml" Id="R66a2ec7e023549b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26de78d3a584367" /><Relationship Type="http://schemas.openxmlformats.org/officeDocument/2006/relationships/chart" Target="/ppt/slides/charts/chart4.xml" Id="Rfe6a544228cd4b56" /><Relationship Type="http://schemas.openxmlformats.org/officeDocument/2006/relationships/notesSlide" Target="/ppt/notesSlides/notesSlide10.xml" Id="Rbf78660de3d34c5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854b6d9f8d045bd" /><Relationship Type="http://schemas.openxmlformats.org/officeDocument/2006/relationships/notesSlide" Target="/ppt/notesSlides/notesSlide11.xml" Id="R597dd4d48492497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b2d0458ec064451" /><Relationship Type="http://schemas.openxmlformats.org/officeDocument/2006/relationships/notesSlide" Target="/ppt/notesSlides/notesSlide12.xml" Id="R27d9516dd2b84c56"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42C40"/>
                </a:solidFill>
                <a:latin typeface="Arial"/>
                <a:ea typeface="Arial"/>
                <a:cs typeface="Arial"/>
              </a:rPr>
              <a:t>Path length in moves</a:t>
            </a:r>
          </a:p>
        </c:rich>
      </c:tx>
      <c:overlay val="0"/>
      <c:txPr>
        <a:bodyPr xmlns:a="http://schemas.openxmlformats.org/drawingml/2006/main" anchorCtr="1"/>
        <a:lstStyle xmlns:a="http://schemas.openxmlformats.org/drawingml/2006/main"/>
        <a:p xmlns:a="http://schemas.openxmlformats.org/drawingml/2006/main">
          <a:pPr>
            <a:defRPr sz="1800">
              <a:solidFill>
                <a:srgbClr val="142C40"/>
              </a:solidFill>
              <a:latin typeface="Arial"/>
              <a:ea typeface="Arial"/>
              <a:cs typeface="Arial"/>
            </a:defRPr>
          </a:pPr>
        </a:p>
      </c:txPr>
    </c:title>
    <c:plotArea>
      <c:barChart>
        <c:barDir val="col"/>
        <c:grouping val="clustered"/>
        <c:varyColors val="0"/>
        <c:ser>
          <c:idx val="0"/>
          <c:order val="0"/>
          <c:tx>
            <c:v>DFS</c:v>
          </c:tx>
          <c:spPr>
            <a:solidFill xmlns:a="http://schemas.openxmlformats.org/drawingml/2006/main">
              <a:srgbClr val="536D83"/>
            </a:solidFill>
          </c:spPr>
          <c:cat>
            <c:strRef>
              <c:f>'Chart Data'!$A$2:$A$3</c:f>
              <c:strCache>
                <c:ptCount val="2"/>
                <c:pt idx="0">
                  <c:v>mediumMaze</c:v>
                </c:pt>
                <c:pt idx="1">
                  <c:v>openMaze</c:v>
                </c:pt>
              </c:strCache>
            </c:strRef>
          </c:cat>
          <c:val>
            <c:numRef>
              <c:f>'Chart Data'!$B$2:$B$3</c:f>
              <c:numCache>
                <c:formatCode>#,##0</c:formatCode>
                <c:ptCount val="2"/>
                <c:pt idx="0">
                  <c:v>130</c:v>
                </c:pt>
                <c:pt idx="1">
                  <c:v>298</c:v>
                </c:pt>
              </c:numCache>
            </c:numRef>
          </c:val>
        </c:ser>
        <c:ser>
          <c:idx val="1"/>
          <c:order val="1"/>
          <c:tx>
            <c:v>BFS</c:v>
          </c:tx>
          <c:spPr>
            <a:solidFill xmlns:a="http://schemas.openxmlformats.org/drawingml/2006/main">
              <a:srgbClr val="087F7B"/>
            </a:solidFill>
          </c:spPr>
          <c:cat>
            <c:strRef>
              <c:f>'Chart Data'!$C$2:$C$3</c:f>
              <c:strCache>
                <c:ptCount val="2"/>
                <c:pt idx="0">
                  <c:v>mediumMaze</c:v>
                </c:pt>
                <c:pt idx="1">
                  <c:v>openMaze</c:v>
                </c:pt>
              </c:strCache>
            </c:strRef>
          </c:cat>
          <c:val>
            <c:numRef>
              <c:f>'Chart Data'!$D$2:$D$3</c:f>
              <c:numCache>
                <c:formatCode>#,##0</c:formatCode>
                <c:ptCount val="2"/>
                <c:pt idx="0">
                  <c:v>68</c:v>
                </c:pt>
                <c:pt idx="1">
                  <c:v>54</c:v>
                </c:pt>
              </c:numCache>
            </c:numRef>
          </c:val>
        </c:ser>
        <c:dLbls>
          <c:txPr>
            <a:bodyPr xmlns:a="http://schemas.openxmlformats.org/drawingml/2006/main" anchorCtr="1"/>
            <a:lstStyle xmlns:a="http://schemas.openxmlformats.org/drawingml/2006/main"/>
            <a:p xmlns:a="http://schemas.openxmlformats.org/drawingml/2006/main">
              <a:pPr>
                <a:defRPr sz="1725" b="1">
                  <a:solidFill>
                    <a:srgbClr val="142C40"/>
                  </a:solidFill>
                  <a:latin typeface="Arial"/>
                  <a:ea typeface="Arial"/>
                  <a:cs typeface="Arial"/>
                </a:defRPr>
              </a:pPr>
            </a:p>
          </c:txPr>
          <c:dLblPos val="outEnd"/>
          <c:showLegendKey val="0"/>
          <c:showVal val="1"/>
          <c:showCatName val="0"/>
          <c:showSerName val="0"/>
          <c:showPercent val="0"/>
          <c:showBubbleSize val="0"/>
          <c:showLeaderLines val="0"/>
        </c:dLbls>
        <c:gapWidth val="9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9C8D2"/>
            </a:solidFill>
          </a:ln>
        </c:spPr>
        <c:txPr>
          <a:bodyPr xmlns:a="http://schemas.openxmlformats.org/drawingml/2006/main" anchorCtr="1"/>
          <a:lstStyle xmlns:a="http://schemas.openxmlformats.org/drawingml/2006/main"/>
          <a:p xmlns:a="http://schemas.openxmlformats.org/drawingml/2006/main">
            <a:pPr>
              <a:defRPr sz="1650">
                <a:solidFill>
                  <a:srgbClr val="142C40"/>
                </a:solidFill>
                <a:latin typeface="Arial"/>
                <a:ea typeface="Arial"/>
                <a:cs typeface="Arial"/>
              </a:defRPr>
            </a:pPr>
          </a:p>
        </c:txPr>
        <c:crossAx val="48672768"/>
      </c:catAx>
      <c:valAx>
        <c:axId val="48672768"/>
        <c:scaling>
          <c:orientation val="minMax"/>
          <c:max val="340"/>
          <c:min val="0"/>
        </c:scaling>
        <c:delete val="0"/>
        <c:axPos val="l"/>
        <c:majorGridlines>
          <c:spPr>
            <a:ln xmlns:a="http://schemas.openxmlformats.org/drawingml/2006/main" w="9525">
              <a:solidFill>
                <a:srgbClr val="DCE5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6979"/>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142C40"/>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42C40"/>
                </a:solidFill>
                <a:latin typeface="Arial"/>
                <a:ea typeface="Arial"/>
                <a:cs typeface="Arial"/>
              </a:rPr>
              <a:t>bigMaze expansions</a:t>
            </a:r>
          </a:p>
        </c:rich>
      </c:tx>
      <c:overlay val="0"/>
      <c:txPr>
        <a:bodyPr xmlns:a="http://schemas.openxmlformats.org/drawingml/2006/main" anchorCtr="1"/>
        <a:lstStyle xmlns:a="http://schemas.openxmlformats.org/drawingml/2006/main"/>
        <a:p xmlns:a="http://schemas.openxmlformats.org/drawingml/2006/main">
          <a:pPr>
            <a:defRPr sz="1800">
              <a:solidFill>
                <a:srgbClr val="142C40"/>
              </a:solidFill>
              <a:latin typeface="Arial"/>
              <a:ea typeface="Arial"/>
              <a:cs typeface="Arial"/>
            </a:defRPr>
          </a:pPr>
        </a:p>
      </c:txPr>
    </c:title>
    <c:plotArea>
      <c:barChart>
        <c:barDir val="col"/>
        <c:grouping val="clustered"/>
        <c:varyColors val="0"/>
        <c:ser>
          <c:idx val="0"/>
          <c:order val="0"/>
          <c:tx>
            <c:v>Expanded states</c:v>
          </c:tx>
          <c:spPr>
            <a:solidFill xmlns:a="http://schemas.openxmlformats.org/drawingml/2006/main">
              <a:srgbClr val="087F7B"/>
            </a:solidFill>
          </c:spPr>
          <c:cat>
            <c:strRef>
              <c:f>'Chart Data'!$A$2:$A$3</c:f>
              <c:strCache>
                <c:ptCount val="2"/>
                <c:pt idx="0">
                  <c:v>UCS</c:v>
                </c:pt>
                <c:pt idx="1">
                  <c:v>A*</c:v>
                </c:pt>
              </c:strCache>
            </c:strRef>
          </c:cat>
          <c:val>
            <c:numRef>
              <c:f>'Chart Data'!$B$2:$B$3</c:f>
              <c:numCache>
                <c:formatCode>#,##0</c:formatCode>
                <c:ptCount val="2"/>
                <c:pt idx="0">
                  <c:v>620</c:v>
                </c:pt>
                <c:pt idx="1">
                  <c:v>549</c:v>
                </c:pt>
              </c:numCache>
            </c:numRef>
          </c:val>
        </c:ser>
        <c:dLbls>
          <c:txPr>
            <a:bodyPr xmlns:a="http://schemas.openxmlformats.org/drawingml/2006/main" anchorCtr="1"/>
            <a:lstStyle xmlns:a="http://schemas.openxmlformats.org/drawingml/2006/main"/>
            <a:p xmlns:a="http://schemas.openxmlformats.org/drawingml/2006/main">
              <a:pPr>
                <a:defRPr sz="1725" b="1">
                  <a:solidFill>
                    <a:srgbClr val="142C40"/>
                  </a:solidFill>
                  <a:latin typeface="Arial"/>
                  <a:ea typeface="Arial"/>
                  <a:cs typeface="Arial"/>
                </a:defRPr>
              </a:pPr>
            </a:p>
          </c:txPr>
          <c:dLblPos val="outEnd"/>
          <c:showLegendKey val="0"/>
          <c:showVal val="1"/>
          <c:showCatName val="0"/>
          <c:showSerName val="0"/>
          <c:showPercent val="0"/>
          <c:showBubbleSize val="0"/>
          <c:showLeaderLines val="0"/>
        </c:dLbls>
        <c:gapWidth val="9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9C8D2"/>
            </a:solidFill>
          </a:ln>
        </c:spPr>
        <c:txPr>
          <a:bodyPr xmlns:a="http://schemas.openxmlformats.org/drawingml/2006/main" anchorCtr="1"/>
          <a:lstStyle xmlns:a="http://schemas.openxmlformats.org/drawingml/2006/main"/>
          <a:p xmlns:a="http://schemas.openxmlformats.org/drawingml/2006/main">
            <a:pPr>
              <a:defRPr sz="1650">
                <a:solidFill>
                  <a:srgbClr val="142C40"/>
                </a:solidFill>
                <a:latin typeface="Arial"/>
                <a:ea typeface="Arial"/>
                <a:cs typeface="Arial"/>
              </a:defRPr>
            </a:pPr>
          </a:p>
        </c:txPr>
        <c:crossAx val="48672768"/>
      </c:catAx>
      <c:valAx>
        <c:axId val="48672768"/>
        <c:scaling>
          <c:orientation val="minMax"/>
          <c:max val="720"/>
          <c:min val="0"/>
        </c:scaling>
        <c:delete val="0"/>
        <c:axPos val="l"/>
        <c:majorGridlines>
          <c:spPr>
            <a:ln xmlns:a="http://schemas.openxmlformats.org/drawingml/2006/main" w="9525">
              <a:solidFill>
                <a:srgbClr val="DCE5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6979"/>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42C40"/>
                </a:solidFill>
                <a:latin typeface="Arial"/>
                <a:ea typeface="Arial"/>
                <a:cs typeface="Arial"/>
              </a:rPr>
              <a:t>mediumCorners expansions</a:t>
            </a:r>
          </a:p>
        </c:rich>
      </c:tx>
      <c:overlay val="0"/>
      <c:txPr>
        <a:bodyPr xmlns:a="http://schemas.openxmlformats.org/drawingml/2006/main" anchorCtr="1"/>
        <a:lstStyle xmlns:a="http://schemas.openxmlformats.org/drawingml/2006/main"/>
        <a:p xmlns:a="http://schemas.openxmlformats.org/drawingml/2006/main">
          <a:pPr>
            <a:defRPr sz="1800">
              <a:solidFill>
                <a:srgbClr val="142C40"/>
              </a:solidFill>
              <a:latin typeface="Arial"/>
              <a:ea typeface="Arial"/>
              <a:cs typeface="Arial"/>
            </a:defRPr>
          </a:pPr>
        </a:p>
      </c:txPr>
    </c:title>
    <c:plotArea>
      <c:barChart>
        <c:barDir val="col"/>
        <c:grouping val="clustered"/>
        <c:varyColors val="0"/>
        <c:ser>
          <c:idx val="0"/>
          <c:order val="0"/>
          <c:tx>
            <c:v>Expanded states</c:v>
          </c:tx>
          <c:spPr>
            <a:solidFill xmlns:a="http://schemas.openxmlformats.org/drawingml/2006/main">
              <a:srgbClr val="087F7B"/>
            </a:solidFill>
          </c:spPr>
          <c:cat>
            <c:strRef>
              <c:f>'Chart Data'!$A$2:$A$3</c:f>
              <c:strCache>
                <c:ptCount val="2"/>
                <c:pt idx="0">
                  <c:v>BFS</c:v>
                </c:pt>
                <c:pt idx="1">
                  <c:v>A*</c:v>
                </c:pt>
              </c:strCache>
            </c:strRef>
          </c:cat>
          <c:val>
            <c:numRef>
              <c:f>'Chart Data'!$B$2:$B$3</c:f>
              <c:numCache>
                <c:formatCode>#,##0</c:formatCode>
                <c:ptCount val="2"/>
                <c:pt idx="0">
                  <c:v>1966</c:v>
                </c:pt>
                <c:pt idx="1">
                  <c:v>741</c:v>
                </c:pt>
              </c:numCache>
            </c:numRef>
          </c:val>
        </c:ser>
        <c:dLbls>
          <c:txPr>
            <a:bodyPr xmlns:a="http://schemas.openxmlformats.org/drawingml/2006/main" anchorCtr="1"/>
            <a:lstStyle xmlns:a="http://schemas.openxmlformats.org/drawingml/2006/main"/>
            <a:p xmlns:a="http://schemas.openxmlformats.org/drawingml/2006/main">
              <a:pPr>
                <a:defRPr sz="1725" b="1">
                  <a:solidFill>
                    <a:srgbClr val="142C40"/>
                  </a:solidFill>
                  <a:latin typeface="Arial"/>
                  <a:ea typeface="Arial"/>
                  <a:cs typeface="Arial"/>
                </a:defRPr>
              </a:pPr>
            </a:p>
          </c:txPr>
          <c:dLblPos val="outEnd"/>
          <c:showLegendKey val="0"/>
          <c:showVal val="1"/>
          <c:showCatName val="0"/>
          <c:showSerName val="0"/>
          <c:showPercent val="0"/>
          <c:showBubbleSize val="0"/>
          <c:showLeaderLines val="0"/>
        </c:dLbls>
        <c:gapWidth val="9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9C8D2"/>
            </a:solidFill>
          </a:ln>
        </c:spPr>
        <c:txPr>
          <a:bodyPr xmlns:a="http://schemas.openxmlformats.org/drawingml/2006/main" anchorCtr="1"/>
          <a:lstStyle xmlns:a="http://schemas.openxmlformats.org/drawingml/2006/main"/>
          <a:p xmlns:a="http://schemas.openxmlformats.org/drawingml/2006/main">
            <a:pPr>
              <a:defRPr sz="1650">
                <a:solidFill>
                  <a:srgbClr val="142C40"/>
                </a:solidFill>
                <a:latin typeface="Arial"/>
                <a:ea typeface="Arial"/>
                <a:cs typeface="Arial"/>
              </a:defRPr>
            </a:pPr>
          </a:p>
        </c:txPr>
        <c:crossAx val="48672768"/>
      </c:catAx>
      <c:valAx>
        <c:axId val="48672768"/>
        <c:scaling>
          <c:orientation val="minMax"/>
          <c:max val="2300"/>
          <c:min val="0"/>
        </c:scaling>
        <c:delete val="0"/>
        <c:axPos val="l"/>
        <c:majorGridlines>
          <c:spPr>
            <a:ln xmlns:a="http://schemas.openxmlformats.org/drawingml/2006/main" w="9525">
              <a:solidFill>
                <a:srgbClr val="DCE5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6979"/>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00">
                <a:solidFill>
                  <a:srgbClr val="142C40"/>
                </a:solidFill>
                <a:latin typeface="Arial"/>
                <a:ea typeface="Arial"/>
                <a:cs typeface="Arial"/>
              </a:rPr>
              <a:t>Expanded states</a:t>
            </a:r>
          </a:p>
        </c:rich>
      </c:tx>
      <c:overlay val="0"/>
      <c:txPr>
        <a:bodyPr xmlns:a="http://schemas.openxmlformats.org/drawingml/2006/main" anchorCtr="1"/>
        <a:lstStyle xmlns:a="http://schemas.openxmlformats.org/drawingml/2006/main"/>
        <a:p xmlns:a="http://schemas.openxmlformats.org/drawingml/2006/main">
          <a:pPr>
            <a:defRPr sz="1800">
              <a:solidFill>
                <a:srgbClr val="142C40"/>
              </a:solidFill>
              <a:latin typeface="Arial"/>
              <a:ea typeface="Arial"/>
              <a:cs typeface="Arial"/>
            </a:defRPr>
          </a:pPr>
        </a:p>
      </c:txPr>
    </c:title>
    <c:plotArea>
      <c:barChart>
        <c:barDir val="col"/>
        <c:grouping val="clustered"/>
        <c:varyColors val="0"/>
        <c:ser>
          <c:idx val="0"/>
          <c:order val="0"/>
          <c:tx>
            <c:v>Expanded states</c:v>
          </c:tx>
          <c:spPr>
            <a:solidFill xmlns:a="http://schemas.openxmlformats.org/drawingml/2006/main">
              <a:srgbClr val="087F7B"/>
            </a:solidFill>
          </c:spPr>
          <c:cat>
            <c:strRef>
              <c:f>'Chart Data'!$A$2:$A$3</c:f>
              <c:strCache>
                <c:ptCount val="2"/>
                <c:pt idx="0">
                  <c:v>UCS</c:v>
                </c:pt>
                <c:pt idx="1">
                  <c:v>A*</c:v>
                </c:pt>
              </c:strCache>
            </c:strRef>
          </c:cat>
          <c:val>
            <c:numRef>
              <c:f>'Chart Data'!$B$2:$B$3</c:f>
              <c:numCache>
                <c:formatCode>#,##0</c:formatCode>
                <c:ptCount val="2"/>
                <c:pt idx="0">
                  <c:v>16688</c:v>
                </c:pt>
                <c:pt idx="1">
                  <c:v>255</c:v>
                </c:pt>
              </c:numCache>
            </c:numRef>
          </c:val>
        </c:ser>
        <c:dLbls>
          <c:txPr>
            <a:bodyPr xmlns:a="http://schemas.openxmlformats.org/drawingml/2006/main" anchorCtr="1"/>
            <a:lstStyle xmlns:a="http://schemas.openxmlformats.org/drawingml/2006/main"/>
            <a:p xmlns:a="http://schemas.openxmlformats.org/drawingml/2006/main">
              <a:pPr>
                <a:defRPr sz="1725" b="1">
                  <a:solidFill>
                    <a:srgbClr val="142C40"/>
                  </a:solidFill>
                  <a:latin typeface="Arial"/>
                  <a:ea typeface="Arial"/>
                  <a:cs typeface="Arial"/>
                </a:defRPr>
              </a:pPr>
            </a:p>
          </c:txPr>
          <c:dLblPos val="outEnd"/>
          <c:showLegendKey val="0"/>
          <c:showVal val="1"/>
          <c:showCatName val="0"/>
          <c:showSerName val="0"/>
          <c:showPercent val="0"/>
          <c:showBubbleSize val="0"/>
          <c:showLeaderLines val="0"/>
        </c:dLbls>
        <c:gapWidth val="95"/>
        <c:overlap val="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9C8D2"/>
            </a:solidFill>
          </a:ln>
        </c:spPr>
        <c:txPr>
          <a:bodyPr xmlns:a="http://schemas.openxmlformats.org/drawingml/2006/main" anchorCtr="1"/>
          <a:lstStyle xmlns:a="http://schemas.openxmlformats.org/drawingml/2006/main"/>
          <a:p xmlns:a="http://schemas.openxmlformats.org/drawingml/2006/main">
            <a:pPr>
              <a:defRPr sz="1650">
                <a:solidFill>
                  <a:srgbClr val="142C40"/>
                </a:solidFill>
                <a:latin typeface="Arial"/>
                <a:ea typeface="Arial"/>
                <a:cs typeface="Arial"/>
              </a:defRPr>
            </a:pPr>
          </a:p>
        </c:txPr>
        <c:crossAx val="48672768"/>
      </c:catAx>
      <c:valAx>
        <c:axId val="48672768"/>
        <c:scaling>
          <c:orientation val="minMax"/>
          <c:max val="19000"/>
          <c:min val="0"/>
        </c:scaling>
        <c:delete val="0"/>
        <c:axPos val="l"/>
        <c:majorGridlines>
          <c:spPr>
            <a:ln xmlns:a="http://schemas.openxmlformats.org/drawingml/2006/main" w="9525">
              <a:solidFill>
                <a:srgbClr val="DCE5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00">
                <a:solidFill>
                  <a:srgbClr val="566979"/>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C40"/>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8e8403c4519b478d"/>
          <a:stretch xmlns:a="http://schemas.openxmlformats.org/drawingml/2006/main"/>
        </p:blipFill>
        <p:spPr>
          <a:xfrm xmlns:a="http://schemas.openxmlformats.org/drawingml/2006/main">
            <a:off x="6191250" y="361950"/>
            <a:ext cx="5905500" cy="59055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E7A9CF5-5426-4478-B55C-650D35D3986D}"/>
              </a:ext>
            </a:extLst>
          </p:cNvPr>
          <p:cNvSpPr>
            <a:spLocks xmlns:a="http://schemas.openxmlformats.org/drawingml/2006/main" noGrp="1"/>
          </p:cNvSpPr>
          <p:nvPr/>
        </p:nvSpPr>
        <p:spPr>
          <a:xfrm xmlns:a="http://schemas.openxmlformats.org/drawingml/2006/main">
            <a:off x="609600" y="14763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150" b="1">
                <a:solidFill>
                  <a:srgbClr val="FFD43B"/>
                </a:solidFill>
                <a:latin typeface="Arial"/>
                <a:ea typeface="Arial"/>
                <a:cs typeface="Arial"/>
              </a:defRPr>
            </a:pPr>
            <a:r>
              <a:rPr sz="6150" b="1">
                <a:solidFill>
                  <a:srgbClr val="FFD43B"/>
                </a:solidFill>
                <a:latin typeface="Arial"/>
                <a:ea typeface="Arial"/>
                <a:cs typeface="Arial"/>
              </a:rPr>
              <a:t>Pac-Man</a:t>
            </a:r>
          </a:p>
        </p:txBody>
      </p:sp>
      <p:sp>
        <p:nvSpPr>
          <p:cNvPr id="3" name="">
            <a:extLst xmlns:a="http://schemas.openxmlformats.org/drawingml/2006/main">
              <a:ext uri="{FF2B5EF4-FFF2-40B4-BE49-F238E27FC236}">
                <a16:creationId xmlns:a16="http://schemas.microsoft.com/office/drawing/2014/main" id="{0205FFEF-7215-48D2-A15B-81DC8B3FE013}"/>
              </a:ext>
            </a:extLst>
          </p:cNvPr>
          <p:cNvSpPr>
            <a:spLocks xmlns:a="http://schemas.openxmlformats.org/drawingml/2006/main" noGrp="1"/>
          </p:cNvSpPr>
          <p:nvPr/>
        </p:nvSpPr>
        <p:spPr>
          <a:xfrm xmlns:a="http://schemas.openxmlformats.org/drawingml/2006/main">
            <a:off x="628650" y="2619375"/>
            <a:ext cx="5619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Search algorithms</a:t>
            </a:r>
          </a:p>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and informed planning</a:t>
            </a:r>
          </a:p>
        </p:txBody>
      </p:sp>
      <p:sp>
        <p:nvSpPr>
          <p:cNvPr id="4" name="">
            <a:extLst xmlns:a="http://schemas.openxmlformats.org/drawingml/2006/main">
              <a:ext uri="{FF2B5EF4-FFF2-40B4-BE49-F238E27FC236}">
                <a16:creationId xmlns:a16="http://schemas.microsoft.com/office/drawing/2014/main" id="{F2ADBDFD-FF01-4C2D-B69B-8FCF47E8CC8B}"/>
              </a:ext>
            </a:extLst>
          </p:cNvPr>
          <p:cNvSpPr>
            <a:spLocks xmlns:a="http://schemas.openxmlformats.org/drawingml/2006/main" noGrp="1"/>
          </p:cNvSpPr>
          <p:nvPr/>
        </p:nvSpPr>
        <p:spPr>
          <a:xfrm xmlns:a="http://schemas.openxmlformats.org/drawingml/2006/main">
            <a:off x="647700" y="5000625"/>
            <a:ext cx="504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0DBE4"/>
                </a:solidFill>
                <a:latin typeface="Arial"/>
                <a:ea typeface="Arial"/>
                <a:cs typeface="Arial"/>
              </a:defRPr>
            </a:pPr>
            <a:r>
              <a:rPr sz="2025" b="0">
                <a:solidFill>
                  <a:srgbClr val="D0DBE4"/>
                </a:solidFill>
                <a:latin typeface="Arial"/>
                <a:ea typeface="Arial"/>
                <a:cs typeface="Arial"/>
              </a:rPr>
              <a:t>CSE 537  Project 01</a:t>
            </a:r>
          </a:p>
          <a:p xmlns:a="http://schemas.openxmlformats.org/drawingml/2006/main">
            <a:pPr>
              <a:defRPr sz="2025" b="0">
                <a:solidFill>
                  <a:srgbClr val="D0DBE4"/>
                </a:solidFill>
                <a:latin typeface="Arial"/>
                <a:ea typeface="Arial"/>
                <a:cs typeface="Arial"/>
              </a:defRPr>
            </a:pPr>
            <a:r>
              <a:rPr sz="2025" b="0">
                <a:solidFill>
                  <a:srgbClr val="D0DBE4"/>
                </a:solidFill>
                <a:latin typeface="Arial"/>
                <a:ea typeface="Arial"/>
                <a:cs typeface="Arial"/>
              </a:rPr>
              <a:t>Fall 2026</a:t>
            </a:r>
          </a:p>
        </p:txBody>
      </p:sp>
    </p:spTree>
    <p:extLst>
      <p:ext uri="{BB962C8B-B14F-4D97-AF65-F5344CB8AC3E}">
        <p14:creationId xmlns:p14="http://schemas.microsoft.com/office/powerpoint/2010/main" val="212495866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192B326-FF59-4DEE-B8A6-0793D99D59EB}"/>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Three search problems</a:t>
            </a:r>
          </a:p>
        </p:txBody>
      </p:sp>
      <p:sp>
        <p:nvSpPr>
          <p:cNvPr id="2" name="">
            <a:extLst xmlns:a="http://schemas.openxmlformats.org/drawingml/2006/main">
              <a:ext uri="{FF2B5EF4-FFF2-40B4-BE49-F238E27FC236}">
                <a16:creationId xmlns:a16="http://schemas.microsoft.com/office/drawing/2014/main" id="{C365C353-575F-4669-A7E3-303745068318}"/>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Each algorithm returns a legal sequence of actions</a:t>
            </a:r>
          </a:p>
        </p:txBody>
      </p:sp>
      <p:sp>
        <p:nvSpPr>
          <p:cNvPr id="3" name="">
            <a:extLst xmlns:a="http://schemas.openxmlformats.org/drawingml/2006/main">
              <a:ext uri="{FF2B5EF4-FFF2-40B4-BE49-F238E27FC236}">
                <a16:creationId xmlns:a16="http://schemas.microsoft.com/office/drawing/2014/main" id="{4F46D1B8-3B9C-438D-9814-9F7900750950}"/>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02</a:t>
            </a:r>
          </a:p>
        </p:txBody>
      </p:sp>
      <p:graphicFrame>
        <p:nvGraphicFramePr>
          <p:cNvPr id="9" name=""/>
          <p:cNvGraphicFramePr/>
          <p:nvPr/>
        </p:nvGraphicFramePr>
        <p:xfrm>
          <a:off xmlns:a="http://schemas.openxmlformats.org/drawingml/2006/main" x="628650" y="2028825"/>
          <a:ext xmlns:a="http://schemas.openxmlformats.org/drawingml/2006/main" cx="10934700" cy="2571750"/>
        </p:xfrm>
        <a:graphic xmlns:a="http://schemas.openxmlformats.org/drawingml/2006/main">
          <a:graphicData uri="http://schemas.openxmlformats.org/drawingml/2006/table">
            <a:tbl>
              <a:tblPr firstRow="1" bandRow="0"/>
              <a:tblGrid>
                <a:gridCol w="2667000"/>
                <a:gridCol w="4333875"/>
                <a:gridCol w="3933825"/>
              </a:tblGrid>
              <a:tr h="642938">
                <a:tc>
                  <a:txBody>
                    <a:bodyPr/>
                    <a:lstStyle/>
                    <a:p>
                      <a:r>
                        <a:rPr sz="1950" b="1">
                          <a:solidFill>
                            <a:srgbClr val="FFFFFF"/>
                          </a:solidFill>
                          <a:latin typeface="Arial"/>
                          <a:ea typeface="Arial"/>
                          <a:cs typeface="Arial"/>
                        </a:rPr>
                        <a:t>Problem</a:t>
                      </a:r>
                    </a:p>
                  </a:txBody>
                  <a:tcPr marL="123825" marR="123825" marT="114300" marB="114300" anchor="ctr">
                    <a:solidFill>
                      <a:srgbClr val="142C40"/>
                    </a:solidFill>
                  </a:tcPr>
                </a:tc>
                <a:tc>
                  <a:txBody>
                    <a:bodyPr/>
                    <a:lstStyle/>
                    <a:p>
                      <a:r>
                        <a:rPr sz="1950" b="1">
                          <a:solidFill>
                            <a:srgbClr val="FFFFFF"/>
                          </a:solidFill>
                          <a:latin typeface="Arial"/>
                          <a:ea typeface="Arial"/>
                          <a:cs typeface="Arial"/>
                        </a:rPr>
                        <a:t>Search state</a:t>
                      </a:r>
                    </a:p>
                  </a:txBody>
                  <a:tcPr marL="123825" marR="123825" marT="114300" marB="114300" anchor="ctr">
                    <a:solidFill>
                      <a:srgbClr val="142C40"/>
                    </a:solidFill>
                  </a:tcPr>
                </a:tc>
                <a:tc>
                  <a:txBody>
                    <a:bodyPr/>
                    <a:lstStyle/>
                    <a:p>
                      <a:r>
                        <a:rPr sz="1950" b="1">
                          <a:solidFill>
                            <a:srgbClr val="FFFFFF"/>
                          </a:solidFill>
                          <a:latin typeface="Arial"/>
                          <a:ea typeface="Arial"/>
                          <a:cs typeface="Arial"/>
                        </a:rPr>
                        <a:t>Goal</a:t>
                      </a:r>
                    </a:p>
                  </a:txBody>
                  <a:tcPr marL="123825" marR="123825" marT="114300" marB="114300" anchor="ctr">
                    <a:solidFill>
                      <a:srgbClr val="142C40"/>
                    </a:solidFill>
                  </a:tcPr>
                </a:tc>
              </a:tr>
              <a:tr h="642938">
                <a:tc>
                  <a:txBody>
                    <a:bodyPr/>
                    <a:lstStyle/>
                    <a:p>
                      <a:r>
                        <a:rPr sz="2025" b="0">
                          <a:solidFill>
                            <a:srgbClr val="142C40"/>
                          </a:solidFill>
                          <a:latin typeface="Arial"/>
                          <a:ea typeface="Arial"/>
                          <a:cs typeface="Arial"/>
                        </a:rPr>
                        <a:t>One location</a:t>
                      </a:r>
                    </a:p>
                  </a:txBody>
                  <a:tcPr marL="123825" marR="123825" marT="114300" marB="114300" anchor="ctr">
                    <a:solidFill>
                      <a:srgbClr val="FFFFFF"/>
                    </a:solidFill>
                  </a:tcPr>
                </a:tc>
                <a:tc>
                  <a:txBody>
                    <a:bodyPr/>
                    <a:lstStyle/>
                    <a:p>
                      <a:r>
                        <a:rPr sz="2025" b="0">
                          <a:solidFill>
                            <a:srgbClr val="142C40"/>
                          </a:solidFill>
                          <a:latin typeface="Arial"/>
                          <a:ea typeface="Arial"/>
                          <a:cs typeface="Arial"/>
                        </a:rPr>
                        <a:t>Pac-Man position</a:t>
                      </a:r>
                    </a:p>
                  </a:txBody>
                  <a:tcPr marL="123825" marR="123825" marT="114300" marB="114300" anchor="ctr">
                    <a:solidFill>
                      <a:srgbClr val="FFFFFF"/>
                    </a:solidFill>
                  </a:tcPr>
                </a:tc>
                <a:tc>
                  <a:txBody>
                    <a:bodyPr/>
                    <a:lstStyle/>
                    <a:p>
                      <a:r>
                        <a:rPr sz="2025" b="0">
                          <a:solidFill>
                            <a:srgbClr val="142C40"/>
                          </a:solidFill>
                          <a:latin typeface="Arial"/>
                          <a:ea typeface="Arial"/>
                          <a:cs typeface="Arial"/>
                        </a:rPr>
                        <a:t>Reach a fixed target</a:t>
                      </a:r>
                    </a:p>
                  </a:txBody>
                  <a:tcPr marL="123825" marR="123825" marT="114300" marB="114300" anchor="ctr">
                    <a:solidFill>
                      <a:srgbClr val="FFFFFF"/>
                    </a:solidFill>
                  </a:tcPr>
                </a:tc>
              </a:tr>
              <a:tr h="642938">
                <a:tc>
                  <a:txBody>
                    <a:bodyPr/>
                    <a:lstStyle/>
                    <a:p>
                      <a:r>
                        <a:rPr sz="2025" b="0">
                          <a:solidFill>
                            <a:srgbClr val="142C40"/>
                          </a:solidFill>
                          <a:latin typeface="Arial"/>
                          <a:ea typeface="Arial"/>
                          <a:cs typeface="Arial"/>
                        </a:rPr>
                        <a:t>Four corners</a:t>
                      </a:r>
                    </a:p>
                  </a:txBody>
                  <a:tcPr marL="123825" marR="123825" marT="114300" marB="114300" anchor="ctr">
                    <a:solidFill>
                      <a:srgbClr val="EDF3F5"/>
                    </a:solidFill>
                  </a:tcPr>
                </a:tc>
                <a:tc>
                  <a:txBody>
                    <a:bodyPr/>
                    <a:lstStyle/>
                    <a:p>
                      <a:r>
                        <a:rPr sz="2025" b="0">
                          <a:solidFill>
                            <a:srgbClr val="142C40"/>
                          </a:solidFill>
                          <a:latin typeface="Arial"/>
                          <a:ea typeface="Arial"/>
                          <a:cs typeface="Arial"/>
                        </a:rPr>
                        <a:t>Position + visited corners</a:t>
                      </a:r>
                    </a:p>
                  </a:txBody>
                  <a:tcPr marL="123825" marR="123825" marT="114300" marB="114300" anchor="ctr">
                    <a:solidFill>
                      <a:srgbClr val="EDF3F5"/>
                    </a:solidFill>
                  </a:tcPr>
                </a:tc>
                <a:tc>
                  <a:txBody>
                    <a:bodyPr/>
                    <a:lstStyle/>
                    <a:p>
                      <a:r>
                        <a:rPr sz="2025" b="0">
                          <a:solidFill>
                            <a:srgbClr val="142C40"/>
                          </a:solidFill>
                          <a:latin typeface="Arial"/>
                          <a:ea typeface="Arial"/>
                          <a:cs typeface="Arial"/>
                        </a:rPr>
                        <a:t>Touch all four corners</a:t>
                      </a:r>
                    </a:p>
                  </a:txBody>
                  <a:tcPr marL="123825" marR="123825" marT="114300" marB="114300" anchor="ctr">
                    <a:solidFill>
                      <a:srgbClr val="EDF3F5"/>
                    </a:solidFill>
                  </a:tcPr>
                </a:tc>
              </a:tr>
              <a:tr h="642938">
                <a:tc>
                  <a:txBody>
                    <a:bodyPr/>
                    <a:lstStyle/>
                    <a:p>
                      <a:r>
                        <a:rPr sz="2025" b="0">
                          <a:solidFill>
                            <a:srgbClr val="142C40"/>
                          </a:solidFill>
                          <a:latin typeface="Arial"/>
                          <a:ea typeface="Arial"/>
                          <a:cs typeface="Arial"/>
                        </a:rPr>
                        <a:t>All food</a:t>
                      </a:r>
                    </a:p>
                  </a:txBody>
                  <a:tcPr marL="123825" marR="123825" marT="114300" marB="114300" anchor="ctr">
                    <a:solidFill>
                      <a:srgbClr val="FFFFFF"/>
                    </a:solidFill>
                  </a:tcPr>
                </a:tc>
                <a:tc>
                  <a:txBody>
                    <a:bodyPr/>
                    <a:lstStyle/>
                    <a:p>
                      <a:r>
                        <a:rPr sz="2025" b="0">
                          <a:solidFill>
                            <a:srgbClr val="142C40"/>
                          </a:solidFill>
                          <a:latin typeface="Arial"/>
                          <a:ea typeface="Arial"/>
                          <a:cs typeface="Arial"/>
                        </a:rPr>
                        <a:t>Position + remaining food</a:t>
                      </a:r>
                    </a:p>
                  </a:txBody>
                  <a:tcPr marL="123825" marR="123825" marT="114300" marB="114300" anchor="ctr">
                    <a:solidFill>
                      <a:srgbClr val="FFFFFF"/>
                    </a:solidFill>
                  </a:tcPr>
                </a:tc>
                <a:tc>
                  <a:txBody>
                    <a:bodyPr/>
                    <a:lstStyle/>
                    <a:p>
                      <a:r>
                        <a:rPr sz="2025" b="0">
                          <a:solidFill>
                            <a:srgbClr val="142C40"/>
                          </a:solidFill>
                          <a:latin typeface="Arial"/>
                          <a:ea typeface="Arial"/>
                          <a:cs typeface="Arial"/>
                        </a:rPr>
                        <a:t>Collect every food dot</a:t>
                      </a:r>
                    </a:p>
                  </a:txBody>
                  <a:tcPr marL="123825" marR="123825" marT="114300" marB="11430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C84E7CB-23D1-4EF2-8269-7355EE7B0F9B}"/>
              </a:ext>
            </a:extLst>
          </p:cNvPr>
          <p:cNvSpPr>
            <a:spLocks xmlns:a="http://schemas.openxmlformats.org/drawingml/2006/main" noGrp="1"/>
          </p:cNvSpPr>
          <p:nvPr/>
        </p:nvSpPr>
        <p:spPr>
          <a:xfrm xmlns:a="http://schemas.openxmlformats.org/drawingml/2006/main">
            <a:off x="647700" y="5143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B"/>
                </a:solidFill>
                <a:latin typeface="Arial"/>
                <a:ea typeface="Arial"/>
                <a:cs typeface="Arial"/>
              </a:defRPr>
            </a:pPr>
            <a:r>
              <a:rPr sz="2175" b="1">
                <a:solidFill>
                  <a:srgbClr val="087F7B"/>
                </a:solidFill>
                <a:latin typeface="Arial"/>
                <a:ea typeface="Arial"/>
                <a:cs typeface="Arial"/>
              </a:rPr>
              <a:t>Q1–Q4 implement the algorithms. Q5–Q7 add richer states and heuristics.</a:t>
            </a:r>
          </a:p>
        </p:txBody>
      </p:sp>
    </p:spTree>
    <p:extLst>
      <p:ext uri="{BB962C8B-B14F-4D97-AF65-F5344CB8AC3E}">
        <p14:creationId xmlns:p14="http://schemas.microsoft.com/office/powerpoint/2010/main" val="18011734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0398B1-A5C8-4B3B-88C5-F6F463835698}"/>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Four ways to choose the next node</a:t>
            </a:r>
          </a:p>
        </p:txBody>
      </p:sp>
      <p:sp>
        <p:nvSpPr>
          <p:cNvPr id="2" name="">
            <a:extLst xmlns:a="http://schemas.openxmlformats.org/drawingml/2006/main">
              <a:ext uri="{FF2B5EF4-FFF2-40B4-BE49-F238E27FC236}">
                <a16:creationId xmlns:a16="http://schemas.microsoft.com/office/drawing/2014/main" id="{B47A094F-C79C-4115-A2DA-A7F4764D9380}"/>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Frontier policy determines exploration order</a:t>
            </a:r>
          </a:p>
        </p:txBody>
      </p:sp>
      <p:sp>
        <p:nvSpPr>
          <p:cNvPr id="3" name="">
            <a:extLst xmlns:a="http://schemas.openxmlformats.org/drawingml/2006/main">
              <a:ext uri="{FF2B5EF4-FFF2-40B4-BE49-F238E27FC236}">
                <a16:creationId xmlns:a16="http://schemas.microsoft.com/office/drawing/2014/main" id="{9E63FD4E-2FFC-4690-BBFF-3663BDD01C5C}"/>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03</a:t>
            </a:r>
          </a:p>
        </p:txBody>
      </p:sp>
      <p:graphicFrame>
        <p:nvGraphicFramePr>
          <p:cNvPr id="9" name=""/>
          <p:cNvGraphicFramePr/>
          <p:nvPr/>
        </p:nvGraphicFramePr>
        <p:xfrm>
          <a:off xmlns:a="http://schemas.openxmlformats.org/drawingml/2006/main" x="628650" y="1952625"/>
          <a:ext xmlns:a="http://schemas.openxmlformats.org/drawingml/2006/main" cx="10934700" cy="3219450"/>
        </p:xfrm>
        <a:graphic xmlns:a="http://schemas.openxmlformats.org/drawingml/2006/main">
          <a:graphicData uri="http://schemas.openxmlformats.org/drawingml/2006/table">
            <a:tbl>
              <a:tblPr firstRow="1" bandRow="0"/>
              <a:tblGrid>
                <a:gridCol w="1143000"/>
                <a:gridCol w="2667000"/>
                <a:gridCol w="3505200"/>
                <a:gridCol w="3619500"/>
              </a:tblGrid>
              <a:tr h="643890">
                <a:tc>
                  <a:txBody>
                    <a:bodyPr/>
                    <a:lstStyle/>
                    <a:p>
                      <a:r>
                        <a:rPr sz="1650" b="1">
                          <a:solidFill>
                            <a:srgbClr val="FFFFFF"/>
                          </a:solidFill>
                          <a:latin typeface="Arial"/>
                          <a:ea typeface="Arial"/>
                          <a:cs typeface="Arial"/>
                        </a:rPr>
                        <a:t>Search</a:t>
                      </a:r>
                    </a:p>
                  </a:txBody>
                  <a:tcPr marL="123825" marR="123825" marT="114300" marB="114300" anchor="ctr">
                    <a:solidFill>
                      <a:srgbClr val="142C40"/>
                    </a:solidFill>
                  </a:tcPr>
                </a:tc>
                <a:tc>
                  <a:txBody>
                    <a:bodyPr/>
                    <a:lstStyle/>
                    <a:p>
                      <a:r>
                        <a:rPr sz="1650" b="1">
                          <a:solidFill>
                            <a:srgbClr val="FFFFFF"/>
                          </a:solidFill>
                          <a:latin typeface="Arial"/>
                          <a:ea typeface="Arial"/>
                          <a:cs typeface="Arial"/>
                        </a:rPr>
                        <a:t>Frontier priority</a:t>
                      </a:r>
                    </a:p>
                  </a:txBody>
                  <a:tcPr marL="123825" marR="123825" marT="114300" marB="114300" anchor="ctr">
                    <a:solidFill>
                      <a:srgbClr val="142C40"/>
                    </a:solidFill>
                  </a:tcPr>
                </a:tc>
                <a:tc>
                  <a:txBody>
                    <a:bodyPr/>
                    <a:lstStyle/>
                    <a:p>
                      <a:r>
                        <a:rPr sz="1650" b="1">
                          <a:solidFill>
                            <a:srgbClr val="FFFFFF"/>
                          </a:solidFill>
                          <a:latin typeface="Arial"/>
                          <a:ea typeface="Arial"/>
                          <a:cs typeface="Arial"/>
                        </a:rPr>
                        <a:t>Duplicate handling</a:t>
                      </a:r>
                    </a:p>
                  </a:txBody>
                  <a:tcPr marL="123825" marR="123825" marT="114300" marB="114300" anchor="ctr">
                    <a:solidFill>
                      <a:srgbClr val="142C40"/>
                    </a:solidFill>
                  </a:tcPr>
                </a:tc>
                <a:tc>
                  <a:txBody>
                    <a:bodyPr/>
                    <a:lstStyle/>
                    <a:p>
                      <a:r>
                        <a:rPr sz="1650" b="1">
                          <a:solidFill>
                            <a:srgbClr val="FFFFFF"/>
                          </a:solidFill>
                          <a:latin typeface="Arial"/>
                          <a:ea typeface="Arial"/>
                          <a:cs typeface="Arial"/>
                        </a:rPr>
                        <a:t>Optimality</a:t>
                      </a:r>
                    </a:p>
                  </a:txBody>
                  <a:tcPr marL="123825" marR="123825" marT="114300" marB="114300" anchor="ctr">
                    <a:solidFill>
                      <a:srgbClr val="142C40"/>
                    </a:solidFill>
                  </a:tcPr>
                </a:tc>
              </a:tr>
              <a:tr h="643890">
                <a:tc>
                  <a:txBody>
                    <a:bodyPr/>
                    <a:lstStyle/>
                    <a:p>
                      <a:r>
                        <a:rPr sz="1725" b="0">
                          <a:solidFill>
                            <a:srgbClr val="142C40"/>
                          </a:solidFill>
                          <a:latin typeface="Arial"/>
                          <a:ea typeface="Arial"/>
                          <a:cs typeface="Arial"/>
                        </a:rPr>
                        <a:t>DFS</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Most recently added</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Mark on removal</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No general guarantee</a:t>
                      </a:r>
                    </a:p>
                  </a:txBody>
                  <a:tcPr marL="123825" marR="123825" marT="114300" marB="114300" anchor="ctr">
                    <a:solidFill>
                      <a:srgbClr val="FFFFFF"/>
                    </a:solidFill>
                  </a:tcPr>
                </a:tc>
              </a:tr>
              <a:tr h="643890">
                <a:tc>
                  <a:txBody>
                    <a:bodyPr/>
                    <a:lstStyle/>
                    <a:p>
                      <a:r>
                        <a:rPr sz="1725" b="0">
                          <a:solidFill>
                            <a:srgbClr val="142C40"/>
                          </a:solidFill>
                          <a:latin typeface="Arial"/>
                          <a:ea typeface="Arial"/>
                          <a:cs typeface="Arial"/>
                        </a:rPr>
                        <a:t>BFS</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Earliest added</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Mark on insertion</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Fewest actions</a:t>
                      </a:r>
                    </a:p>
                  </a:txBody>
                  <a:tcPr marL="123825" marR="123825" marT="114300" marB="114300" anchor="ctr">
                    <a:solidFill>
                      <a:srgbClr val="EDF3F5"/>
                    </a:solidFill>
                  </a:tcPr>
                </a:tc>
              </a:tr>
              <a:tr h="643890">
                <a:tc>
                  <a:txBody>
                    <a:bodyPr/>
                    <a:lstStyle/>
                    <a:p>
                      <a:r>
                        <a:rPr sz="1725" b="0">
                          <a:solidFill>
                            <a:srgbClr val="142C40"/>
                          </a:solidFill>
                          <a:latin typeface="Arial"/>
                          <a:ea typeface="Arial"/>
                          <a:cs typeface="Arial"/>
                        </a:rPr>
                        <a:t>UCS</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Lowest path cost g</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Keep best g</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Least cost</a:t>
                      </a:r>
                    </a:p>
                  </a:txBody>
                  <a:tcPr marL="123825" marR="123825" marT="114300" marB="114300" anchor="ctr">
                    <a:solidFill>
                      <a:srgbClr val="FFFFFF"/>
                    </a:solidFill>
                  </a:tcPr>
                </a:tc>
              </a:tr>
              <a:tr h="643890">
                <a:tc>
                  <a:txBody>
                    <a:bodyPr/>
                    <a:lstStyle/>
                    <a:p>
                      <a:r>
                        <a:rPr sz="1725" b="0">
                          <a:solidFill>
                            <a:srgbClr val="142C40"/>
                          </a:solidFill>
                          <a:latin typeface="Arial"/>
                          <a:ea typeface="Arial"/>
                          <a:cs typeface="Arial"/>
                        </a:rPr>
                        <a:t>A*</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Lowest g + h</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Keep best g, reopen</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Least cost with valid h</a:t>
                      </a:r>
                    </a:p>
                  </a:txBody>
                  <a:tcPr marL="123825" marR="123825" marT="114300" marB="114300" anchor="ctr">
                    <a:solidFill>
                      <a:srgbClr val="EDF3F5"/>
                    </a:solidFill>
                  </a:tcPr>
                </a:tc>
              </a:tr>
            </a:tbl>
          </a:graphicData>
        </a:graphic>
      </p:graphicFrame>
      <p:sp>
        <p:nvSpPr>
          <p:cNvPr id="5" name="">
            <a:extLst xmlns:a="http://schemas.openxmlformats.org/drawingml/2006/main">
              <a:ext uri="{FF2B5EF4-FFF2-40B4-BE49-F238E27FC236}">
                <a16:creationId xmlns:a16="http://schemas.microsoft.com/office/drawing/2014/main" id="{9F23632F-4129-430E-BDFB-327A4597C3A7}"/>
              </a:ext>
            </a:extLst>
          </p:cNvPr>
          <p:cNvSpPr>
            <a:spLocks xmlns:a="http://schemas.openxmlformats.org/drawingml/2006/main" noGrp="1"/>
          </p:cNvSpPr>
          <p:nvPr/>
        </p:nvSpPr>
        <p:spPr>
          <a:xfrm xmlns:a="http://schemas.openxmlformats.org/drawingml/2006/main">
            <a:off x="647700" y="55626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87F7B"/>
                </a:solidFill>
                <a:latin typeface="Arial"/>
                <a:ea typeface="Arial"/>
                <a:cs typeface="Arial"/>
              </a:defRPr>
            </a:pPr>
            <a:r>
              <a:rPr sz="2025" b="1">
                <a:solidFill>
                  <a:srgbClr val="087F7B"/>
                </a:solidFill>
                <a:latin typeface="Arial"/>
                <a:ea typeface="Arial"/>
                <a:cs typeface="Arial"/>
              </a:rPr>
              <a:t>UCS and A* test the goal when removing a node from the frontier.</a:t>
            </a:r>
          </a:p>
        </p:txBody>
      </p:sp>
    </p:spTree>
    <p:extLst>
      <p:ext uri="{BB962C8B-B14F-4D97-AF65-F5344CB8AC3E}">
        <p14:creationId xmlns:p14="http://schemas.microsoft.com/office/powerpoint/2010/main" val="52572642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E54C9C-F42C-4B55-A0EF-381C5337EE2B}"/>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BFS finds much shorter routes than DFS</a:t>
            </a:r>
          </a:p>
        </p:txBody>
      </p:sp>
      <p:sp>
        <p:nvSpPr>
          <p:cNvPr id="2" name="">
            <a:extLst xmlns:a="http://schemas.openxmlformats.org/drawingml/2006/main">
              <a:ext uri="{FF2B5EF4-FFF2-40B4-BE49-F238E27FC236}">
                <a16:creationId xmlns:a16="http://schemas.microsoft.com/office/drawing/2014/main" id="{5FE3C904-AD0D-4745-8960-5846FAE358E8}"/>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Q1–Q2: unit-cost position search</a:t>
            </a:r>
          </a:p>
        </p:txBody>
      </p:sp>
      <p:sp>
        <p:nvSpPr>
          <p:cNvPr id="3" name="">
            <a:extLst xmlns:a="http://schemas.openxmlformats.org/drawingml/2006/main">
              <a:ext uri="{FF2B5EF4-FFF2-40B4-BE49-F238E27FC236}">
                <a16:creationId xmlns:a16="http://schemas.microsoft.com/office/drawing/2014/main" id="{3D06EEBD-DF3D-4DBF-9C98-4A1FBA7D608B}"/>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04</a:t>
            </a:r>
          </a:p>
        </p:txBody>
      </p:sp>
      <p:graphicFrame>
        <p:nvGraphicFramePr>
          <p:cNvPr id="12" name="Chart"/>
          <p:cNvGraphicFramePr/>
          <p:nvPr/>
        </p:nvGraphicFramePr>
        <p:xfrm>
          <a:off xmlns:a="http://schemas.openxmlformats.org/drawingml/2006/main" x="647700" y="1838325"/>
          <a:ext xmlns:a="http://schemas.openxmlformats.org/drawingml/2006/main" cx="7334250" cy="3829050"/>
        </p:xfrm>
        <a:graphic xmlns:a="http://schemas.openxmlformats.org/drawingml/2006/main">
          <a:graphicData uri="http://schemas.openxmlformats.org/drawingml/2006/chart">
            <c:chart xmlns:r="http://schemas.openxmlformats.org/officeDocument/2006/relationships" xmlns:c="http://schemas.openxmlformats.org/drawingml/2006/chart" r:id="R2bd883c3316e43f2"/>
          </a:graphicData>
        </a:graphic>
      </p:graphicFrame>
      <p:sp>
        <p:nvSpPr>
          <p:cNvPr id="5" name="">
            <a:extLst xmlns:a="http://schemas.openxmlformats.org/drawingml/2006/main">
              <a:ext uri="{FF2B5EF4-FFF2-40B4-BE49-F238E27FC236}">
                <a16:creationId xmlns:a16="http://schemas.microsoft.com/office/drawing/2014/main" id="{35546A45-E673-452C-AD19-FD3A6C28B292}"/>
              </a:ext>
            </a:extLst>
          </p:cNvPr>
          <p:cNvSpPr>
            <a:spLocks xmlns:a="http://schemas.openxmlformats.org/drawingml/2006/main" noGrp="1"/>
          </p:cNvSpPr>
          <p:nvPr/>
        </p:nvSpPr>
        <p:spPr>
          <a:xfrm xmlns:a="http://schemas.openxmlformats.org/drawingml/2006/main">
            <a:off x="8601075" y="2238375"/>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087F7B"/>
                </a:solidFill>
                <a:latin typeface="Arial"/>
                <a:ea typeface="Arial"/>
                <a:cs typeface="Arial"/>
              </a:defRPr>
            </a:pPr>
            <a:r>
              <a:rPr sz="3525" b="1">
                <a:solidFill>
                  <a:srgbClr val="087F7B"/>
                </a:solidFill>
                <a:latin typeface="Arial"/>
                <a:ea typeface="Arial"/>
                <a:cs typeface="Arial"/>
              </a:rPr>
              <a:t>130 vs 68</a:t>
            </a:r>
          </a:p>
        </p:txBody>
      </p:sp>
      <p:sp>
        <p:nvSpPr>
          <p:cNvPr id="6" name="">
            <a:extLst xmlns:a="http://schemas.openxmlformats.org/drawingml/2006/main">
              <a:ext uri="{FF2B5EF4-FFF2-40B4-BE49-F238E27FC236}">
                <a16:creationId xmlns:a16="http://schemas.microsoft.com/office/drawing/2014/main" id="{9EB37CF6-037F-48C5-94C8-82E1B5090E2D}"/>
              </a:ext>
            </a:extLst>
          </p:cNvPr>
          <p:cNvSpPr>
            <a:spLocks xmlns:a="http://schemas.openxmlformats.org/drawingml/2006/main" noGrp="1"/>
          </p:cNvSpPr>
          <p:nvPr/>
        </p:nvSpPr>
        <p:spPr>
          <a:xfrm xmlns:a="http://schemas.openxmlformats.org/drawingml/2006/main">
            <a:off x="8601075" y="2924175"/>
            <a:ext cx="2762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40"/>
                </a:solidFill>
                <a:latin typeface="Arial"/>
                <a:ea typeface="Arial"/>
                <a:cs typeface="Arial"/>
              </a:defRPr>
            </a:pPr>
            <a:r>
              <a:rPr sz="1950" b="0">
                <a:solidFill>
                  <a:srgbClr val="142C40"/>
                </a:solidFill>
                <a:latin typeface="Arial"/>
                <a:ea typeface="Arial"/>
                <a:cs typeface="Arial"/>
              </a:rPr>
              <a:t>moves on mediumMaze</a:t>
            </a:r>
          </a:p>
        </p:txBody>
      </p:sp>
      <p:sp>
        <p:nvSpPr>
          <p:cNvPr id="7" name="">
            <a:extLst xmlns:a="http://schemas.openxmlformats.org/drawingml/2006/main">
              <a:ext uri="{FF2B5EF4-FFF2-40B4-BE49-F238E27FC236}">
                <a16:creationId xmlns:a16="http://schemas.microsoft.com/office/drawing/2014/main" id="{5728DD08-5C26-485A-9072-4D617E7CC39D}"/>
              </a:ext>
            </a:extLst>
          </p:cNvPr>
          <p:cNvSpPr>
            <a:spLocks xmlns:a="http://schemas.openxmlformats.org/drawingml/2006/main" noGrp="1"/>
          </p:cNvSpPr>
          <p:nvPr/>
        </p:nvSpPr>
        <p:spPr>
          <a:xfrm xmlns:a="http://schemas.openxmlformats.org/drawingml/2006/main">
            <a:off x="8601075" y="3952875"/>
            <a:ext cx="2762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Arial"/>
                <a:ea typeface="Arial"/>
                <a:cs typeface="Arial"/>
              </a:defRPr>
            </a:pPr>
            <a:r>
              <a:rPr sz="2025" b="0">
                <a:solidFill>
                  <a:srgbClr val="142C40"/>
                </a:solidFill>
                <a:latin typeface="Arial"/>
                <a:ea typeface="Arial"/>
                <a:cs typeface="Arial"/>
              </a:rPr>
              <a:t>DFS expands fewer states here, but returns a longer path.</a:t>
            </a:r>
          </a:p>
        </p:txBody>
      </p:sp>
      <p:sp>
        <p:nvSpPr>
          <p:cNvPr id="8" name="">
            <a:extLst xmlns:a="http://schemas.openxmlformats.org/drawingml/2006/main">
              <a:ext uri="{FF2B5EF4-FFF2-40B4-BE49-F238E27FC236}">
                <a16:creationId xmlns:a16="http://schemas.microsoft.com/office/drawing/2014/main" id="{5B77DB20-AC5D-41B2-9B14-79D619DAD99E}"/>
              </a:ext>
            </a:extLst>
          </p:cNvPr>
          <p:cNvSpPr>
            <a:spLocks xmlns:a="http://schemas.openxmlformats.org/drawingml/2006/main" noGrp="1"/>
          </p:cNvSpPr>
          <p:nvPr/>
        </p:nvSpPr>
        <p:spPr>
          <a:xfrm xmlns:a="http://schemas.openxmlformats.org/drawingml/2006/main">
            <a:off x="647700" y="5876925"/>
            <a:ext cx="10610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66979"/>
                </a:solidFill>
                <a:latin typeface="Arial"/>
                <a:ea typeface="Arial"/>
                <a:cs typeface="Arial"/>
              </a:defRPr>
            </a:pPr>
            <a:r>
              <a:rPr sz="1725" b="0">
                <a:solidFill>
                  <a:srgbClr val="566979"/>
                </a:solidFill>
                <a:latin typeface="Arial"/>
                <a:ea typeface="Arial"/>
                <a:cs typeface="Arial"/>
              </a:rPr>
              <a:t>The exploration overlay shows planning. Pac-Man follows only the final route.</a:t>
            </a:r>
          </a:p>
        </p:txBody>
      </p:sp>
    </p:spTree>
    <p:extLst>
      <p:ext uri="{BB962C8B-B14F-4D97-AF65-F5344CB8AC3E}">
        <p14:creationId xmlns:p14="http://schemas.microsoft.com/office/powerpoint/2010/main" val="4866657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649F53F-2EE6-4A1D-AF90-1894E35DE05B}"/>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UCS chooses longer routes when they cost less</a:t>
            </a:r>
          </a:p>
        </p:txBody>
      </p:sp>
      <p:sp>
        <p:nvSpPr>
          <p:cNvPr id="2" name="">
            <a:extLst xmlns:a="http://schemas.openxmlformats.org/drawingml/2006/main">
              <a:ext uri="{FF2B5EF4-FFF2-40B4-BE49-F238E27FC236}">
                <a16:creationId xmlns:a16="http://schemas.microsoft.com/office/drawing/2014/main" id="{4F6F91FB-9C0F-4350-95C8-D48B16719A92}"/>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Q3: the objective changes when step costs vary</a:t>
            </a:r>
          </a:p>
        </p:txBody>
      </p:sp>
      <p:sp>
        <p:nvSpPr>
          <p:cNvPr id="3" name="">
            <a:extLst xmlns:a="http://schemas.openxmlformats.org/drawingml/2006/main">
              <a:ext uri="{FF2B5EF4-FFF2-40B4-BE49-F238E27FC236}">
                <a16:creationId xmlns:a16="http://schemas.microsoft.com/office/drawing/2014/main" id="{594B79BD-42C0-4043-8DDA-A85D9DB86474}"/>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05</a:t>
            </a:r>
          </a:p>
        </p:txBody>
      </p:sp>
      <p:graphicFrame>
        <p:nvGraphicFramePr>
          <p:cNvPr id="9" name=""/>
          <p:cNvGraphicFramePr/>
          <p:nvPr/>
        </p:nvGraphicFramePr>
        <p:xfrm>
          <a:off xmlns:a="http://schemas.openxmlformats.org/drawingml/2006/main" x="628650" y="1990725"/>
          <a:ext xmlns:a="http://schemas.openxmlformats.org/drawingml/2006/main" cx="10934700" cy="3086100"/>
        </p:xfrm>
        <a:graphic xmlns:a="http://schemas.openxmlformats.org/drawingml/2006/main">
          <a:graphicData uri="http://schemas.openxmlformats.org/drawingml/2006/table">
            <a:tbl>
              <a:tblPr firstRow="1" bandRow="0"/>
              <a:tblGrid>
                <a:gridCol w="3810000"/>
                <a:gridCol w="1476375"/>
                <a:gridCol w="1381125"/>
                <a:gridCol w="4267200"/>
              </a:tblGrid>
              <a:tr h="617220">
                <a:tc>
                  <a:txBody>
                    <a:bodyPr/>
                    <a:lstStyle/>
                    <a:p>
                      <a:r>
                        <a:rPr sz="1800" b="1">
                          <a:solidFill>
                            <a:srgbClr val="FFFFFF"/>
                          </a:solidFill>
                          <a:latin typeface="Arial"/>
                          <a:ea typeface="Arial"/>
                          <a:cs typeface="Arial"/>
                        </a:rPr>
                        <a:t>Layout</a:t>
                      </a:r>
                    </a:p>
                  </a:txBody>
                  <a:tcPr marL="123825" marR="123825" marT="114300" marB="114300" anchor="ctr">
                    <a:solidFill>
                      <a:srgbClr val="142C40"/>
                    </a:solidFill>
                  </a:tcPr>
                </a:tc>
                <a:tc>
                  <a:txBody>
                    <a:bodyPr/>
                    <a:lstStyle/>
                    <a:p>
                      <a:r>
                        <a:rPr sz="1800" b="1">
                          <a:solidFill>
                            <a:srgbClr val="FFFFFF"/>
                          </a:solidFill>
                          <a:latin typeface="Arial"/>
                          <a:ea typeface="Arial"/>
                          <a:cs typeface="Arial"/>
                        </a:rPr>
                        <a:t>Search</a:t>
                      </a:r>
                    </a:p>
                  </a:txBody>
                  <a:tcPr marL="123825" marR="123825" marT="114300" marB="114300" anchor="ctr">
                    <a:solidFill>
                      <a:srgbClr val="142C40"/>
                    </a:solidFill>
                  </a:tcPr>
                </a:tc>
                <a:tc>
                  <a:txBody>
                    <a:bodyPr/>
                    <a:lstStyle/>
                    <a:p>
                      <a:r>
                        <a:rPr sz="1800" b="1">
                          <a:solidFill>
                            <a:srgbClr val="FFFFFF"/>
                          </a:solidFill>
                          <a:latin typeface="Arial"/>
                          <a:ea typeface="Arial"/>
                          <a:cs typeface="Arial"/>
                        </a:rPr>
                        <a:t>Moves</a:t>
                      </a:r>
                    </a:p>
                  </a:txBody>
                  <a:tcPr marL="123825" marR="123825" marT="114300" marB="114300" anchor="ctr">
                    <a:solidFill>
                      <a:srgbClr val="142C40"/>
                    </a:solidFill>
                  </a:tcPr>
                </a:tc>
                <a:tc>
                  <a:txBody>
                    <a:bodyPr/>
                    <a:lstStyle/>
                    <a:p>
                      <a:r>
                        <a:rPr sz="1800" b="1">
                          <a:solidFill>
                            <a:srgbClr val="FFFFFF"/>
                          </a:solidFill>
                          <a:latin typeface="Arial"/>
                          <a:ea typeface="Arial"/>
                          <a:cs typeface="Arial"/>
                        </a:rPr>
                        <a:t>Total path cost</a:t>
                      </a:r>
                    </a:p>
                  </a:txBody>
                  <a:tcPr marL="123825" marR="123825" marT="114300" marB="114300" anchor="ctr">
                    <a:solidFill>
                      <a:srgbClr val="142C40"/>
                    </a:solidFill>
                  </a:tcPr>
                </a:tc>
              </a:tr>
              <a:tr h="617220">
                <a:tc>
                  <a:txBody>
                    <a:bodyPr/>
                    <a:lstStyle/>
                    <a:p>
                      <a:r>
                        <a:rPr sz="1875" b="0">
                          <a:solidFill>
                            <a:srgbClr val="142C40"/>
                          </a:solidFill>
                          <a:latin typeface="Arial"/>
                          <a:ea typeface="Arial"/>
                          <a:cs typeface="Arial"/>
                        </a:rPr>
                        <a:t>mediumDottedMaze</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BFS</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68</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1.000982522848</a:t>
                      </a:r>
                    </a:p>
                  </a:txBody>
                  <a:tcPr marL="123825" marR="123825" marT="114300" marB="114300" anchor="ctr">
                    <a:solidFill>
                      <a:srgbClr val="FFFFFF"/>
                    </a:solidFill>
                  </a:tcPr>
                </a:tc>
              </a:tr>
              <a:tr h="617220">
                <a:tc>
                  <a:txBody>
                    <a:bodyPr/>
                    <a:lstStyle/>
                    <a:p>
                      <a:r>
                        <a:rPr sz="1875" b="0">
                          <a:solidFill>
                            <a:srgbClr val="142C40"/>
                          </a:solidFill>
                          <a:latin typeface="Arial"/>
                          <a:ea typeface="Arial"/>
                          <a:cs typeface="Arial"/>
                        </a:rPr>
                        <a:t>mediumDottedMaze</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UCS</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74</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1.000976583804</a:t>
                      </a:r>
                    </a:p>
                  </a:txBody>
                  <a:tcPr marL="123825" marR="123825" marT="114300" marB="114300" anchor="ctr">
                    <a:solidFill>
                      <a:srgbClr val="EDF3F5"/>
                    </a:solidFill>
                  </a:tcPr>
                </a:tc>
              </a:tr>
              <a:tr h="617220">
                <a:tc>
                  <a:txBody>
                    <a:bodyPr/>
                    <a:lstStyle/>
                    <a:p>
                      <a:r>
                        <a:rPr sz="1875" b="0">
                          <a:solidFill>
                            <a:srgbClr val="142C40"/>
                          </a:solidFill>
                          <a:latin typeface="Arial"/>
                          <a:ea typeface="Arial"/>
                          <a:cs typeface="Arial"/>
                        </a:rPr>
                        <a:t>mediumScaryMaze</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BFS</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72</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70,670,371,838</a:t>
                      </a:r>
                    </a:p>
                  </a:txBody>
                  <a:tcPr marL="123825" marR="123825" marT="114300" marB="114300" anchor="ctr">
                    <a:solidFill>
                      <a:srgbClr val="FFFFFF"/>
                    </a:solidFill>
                  </a:tcPr>
                </a:tc>
              </a:tr>
              <a:tr h="617220">
                <a:tc>
                  <a:txBody>
                    <a:bodyPr/>
                    <a:lstStyle/>
                    <a:p>
                      <a:r>
                        <a:rPr sz="1875" b="0">
                          <a:solidFill>
                            <a:srgbClr val="142C40"/>
                          </a:solidFill>
                          <a:latin typeface="Arial"/>
                          <a:ea typeface="Arial"/>
                          <a:cs typeface="Arial"/>
                        </a:rPr>
                        <a:t>mediumScaryMaze</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UCS</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92</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68,719,479,864</a:t>
                      </a:r>
                    </a:p>
                  </a:txBody>
                  <a:tcPr marL="123825" marR="123825" marT="114300" marB="114300" anchor="ctr">
                    <a:solidFill>
                      <a:srgbClr val="EDF3F5"/>
                    </a:solidFill>
                  </a:tcPr>
                </a:tc>
              </a:tr>
            </a:tbl>
          </a:graphicData>
        </a:graphic>
      </p:graphicFrame>
      <p:sp>
        <p:nvSpPr>
          <p:cNvPr id="5" name="">
            <a:extLst xmlns:a="http://schemas.openxmlformats.org/drawingml/2006/main">
              <a:ext uri="{FF2B5EF4-FFF2-40B4-BE49-F238E27FC236}">
                <a16:creationId xmlns:a16="http://schemas.microsoft.com/office/drawing/2014/main" id="{58A7305C-F273-4FAF-9BCF-06E514A1A562}"/>
              </a:ext>
            </a:extLst>
          </p:cNvPr>
          <p:cNvSpPr>
            <a:spLocks xmlns:a="http://schemas.openxmlformats.org/drawingml/2006/main" noGrp="1"/>
          </p:cNvSpPr>
          <p:nvPr/>
        </p:nvSpPr>
        <p:spPr>
          <a:xfrm xmlns:a="http://schemas.openxmlformats.org/drawingml/2006/main">
            <a:off x="647700" y="5476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B"/>
                </a:solidFill>
                <a:latin typeface="Arial"/>
                <a:ea typeface="Arial"/>
                <a:cs typeface="Arial"/>
              </a:defRPr>
            </a:pPr>
            <a:r>
              <a:rPr sz="2175" b="1">
                <a:solidFill>
                  <a:srgbClr val="087F7B"/>
                </a:solidFill>
                <a:latin typeface="Arial"/>
                <a:ea typeface="Arial"/>
                <a:cs typeface="Arial"/>
              </a:rPr>
              <a:t>StayEast charges 0.5ˣ per move. StayWest charges 2ˣ.</a:t>
            </a:r>
          </a:p>
        </p:txBody>
      </p:sp>
    </p:spTree>
    <p:extLst>
      <p:ext uri="{BB962C8B-B14F-4D97-AF65-F5344CB8AC3E}">
        <p14:creationId xmlns:p14="http://schemas.microsoft.com/office/powerpoint/2010/main" val="113194995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7B4B18-68E4-4BC7-91ED-62C44E8BA39A}"/>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A* combines cost so far with a lower bound</a:t>
            </a:r>
          </a:p>
        </p:txBody>
      </p:sp>
      <p:sp>
        <p:nvSpPr>
          <p:cNvPr id="2" name="">
            <a:extLst xmlns:a="http://schemas.openxmlformats.org/drawingml/2006/main">
              <a:ext uri="{FF2B5EF4-FFF2-40B4-BE49-F238E27FC236}">
                <a16:creationId xmlns:a16="http://schemas.microsoft.com/office/drawing/2014/main" id="{664804CB-21E2-46D5-9EF9-457ADB53C635}"/>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Q4: Manhattan distance for a single destination</a:t>
            </a:r>
          </a:p>
        </p:txBody>
      </p:sp>
      <p:sp>
        <p:nvSpPr>
          <p:cNvPr id="3" name="">
            <a:extLst xmlns:a="http://schemas.openxmlformats.org/drawingml/2006/main">
              <a:ext uri="{FF2B5EF4-FFF2-40B4-BE49-F238E27FC236}">
                <a16:creationId xmlns:a16="http://schemas.microsoft.com/office/drawing/2014/main" id="{66307D2A-ED08-445A-B304-4F0D3C4A079D}"/>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687AFACF-A3F0-4AD4-B20A-E48780533EB7}"/>
              </a:ext>
            </a:extLst>
          </p:cNvPr>
          <p:cNvSpPr>
            <a:spLocks xmlns:a="http://schemas.openxmlformats.org/drawingml/2006/main" noGrp="1"/>
          </p:cNvSpPr>
          <p:nvPr/>
        </p:nvSpPr>
        <p:spPr>
          <a:xfrm xmlns:a="http://schemas.openxmlformats.org/drawingml/2006/main">
            <a:off x="666750" y="1952625"/>
            <a:ext cx="4810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087F7B"/>
                </a:solidFill>
                <a:latin typeface="Arial"/>
                <a:ea typeface="Arial"/>
                <a:cs typeface="Arial"/>
              </a:defRPr>
            </a:pPr>
            <a:r>
              <a:rPr sz="4350" b="1">
                <a:solidFill>
                  <a:srgbClr val="087F7B"/>
                </a:solidFill>
                <a:latin typeface="Arial"/>
                <a:ea typeface="Arial"/>
                <a:cs typeface="Arial"/>
              </a:rPr>
              <a:t>f = g + h</a:t>
            </a:r>
          </a:p>
        </p:txBody>
      </p:sp>
      <p:sp>
        <p:nvSpPr>
          <p:cNvPr id="5" name="">
            <a:extLst xmlns:a="http://schemas.openxmlformats.org/drawingml/2006/main">
              <a:ext uri="{FF2B5EF4-FFF2-40B4-BE49-F238E27FC236}">
                <a16:creationId xmlns:a16="http://schemas.microsoft.com/office/drawing/2014/main" id="{E79FDCC5-34C2-4E11-8289-585FE8E83ECC}"/>
              </a:ext>
            </a:extLst>
          </p:cNvPr>
          <p:cNvSpPr>
            <a:spLocks xmlns:a="http://schemas.openxmlformats.org/drawingml/2006/main" noGrp="1"/>
          </p:cNvSpPr>
          <p:nvPr/>
        </p:nvSpPr>
        <p:spPr>
          <a:xfrm xmlns:a="http://schemas.openxmlformats.org/drawingml/2006/main">
            <a:off x="704850" y="3009900"/>
            <a:ext cx="4762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Arial"/>
                <a:ea typeface="Arial"/>
                <a:cs typeface="Arial"/>
              </a:defRPr>
            </a:pPr>
            <a:r>
              <a:rPr sz="2250" b="0">
                <a:solidFill>
                  <a:srgbClr val="142C40"/>
                </a:solidFill>
                <a:latin typeface="Arial"/>
                <a:ea typeface="Arial"/>
                <a:cs typeface="Arial"/>
              </a:rPr>
              <a:t>g: cost already paid</a:t>
            </a:r>
          </a:p>
          <a:p xmlns:a="http://schemas.openxmlformats.org/drawingml/2006/main">
            <a:pPr>
              <a:defRPr sz="2250" b="0">
                <a:solidFill>
                  <a:srgbClr val="142C40"/>
                </a:solidFill>
                <a:latin typeface="Arial"/>
                <a:ea typeface="Arial"/>
                <a:cs typeface="Arial"/>
              </a:defRPr>
            </a:pPr>
            <a:r>
              <a:rPr sz="2250" b="0">
                <a:solidFill>
                  <a:srgbClr val="142C40"/>
                </a:solidFill>
                <a:latin typeface="Arial"/>
                <a:ea typeface="Arial"/>
                <a:cs typeface="Arial"/>
              </a:rPr>
              <a:t>h: estimated remaining cost</a:t>
            </a:r>
          </a:p>
        </p:txBody>
      </p:sp>
      <p:sp>
        <p:nvSpPr>
          <p:cNvPr id="6" name="">
            <a:extLst xmlns:a="http://schemas.openxmlformats.org/drawingml/2006/main">
              <a:ext uri="{FF2B5EF4-FFF2-40B4-BE49-F238E27FC236}">
                <a16:creationId xmlns:a16="http://schemas.microsoft.com/office/drawing/2014/main" id="{750381C2-CE38-48B6-B3FD-20BCA7001668}"/>
              </a:ext>
            </a:extLst>
          </p:cNvPr>
          <p:cNvSpPr>
            <a:spLocks xmlns:a="http://schemas.openxmlformats.org/drawingml/2006/main" noGrp="1"/>
          </p:cNvSpPr>
          <p:nvPr/>
        </p:nvSpPr>
        <p:spPr>
          <a:xfrm xmlns:a="http://schemas.openxmlformats.org/drawingml/2006/main">
            <a:off x="704850" y="4419600"/>
            <a:ext cx="4619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Arial"/>
                <a:ea typeface="Arial"/>
                <a:cs typeface="Arial"/>
              </a:defRPr>
            </a:pPr>
            <a:r>
              <a:rPr sz="2175" b="0">
                <a:solidFill>
                  <a:srgbClr val="142C40"/>
                </a:solidFill>
                <a:latin typeface="Arial"/>
                <a:ea typeface="Arial"/>
                <a:cs typeface="Arial"/>
              </a:rPr>
              <a:t>Manhattan distance ignores walls. Every legal move changes it by at most one.</a:t>
            </a:r>
          </a:p>
        </p:txBody>
      </p:sp>
      <p:graphicFrame>
        <p:nvGraphicFramePr>
          <p:cNvPr id="15" name="Chart"/>
          <p:cNvGraphicFramePr/>
          <p:nvPr/>
        </p:nvGraphicFramePr>
        <p:xfrm>
          <a:off xmlns:a="http://schemas.openxmlformats.org/drawingml/2006/main" x="6105525" y="1866900"/>
          <a:ext xmlns:a="http://schemas.openxmlformats.org/drawingml/2006/main" cx="5343525" cy="3505200"/>
        </p:xfrm>
        <a:graphic xmlns:a="http://schemas.openxmlformats.org/drawingml/2006/main">
          <a:graphicData uri="http://schemas.openxmlformats.org/drawingml/2006/chart">
            <c:chart xmlns:r="http://schemas.openxmlformats.org/officeDocument/2006/relationships" xmlns:c="http://schemas.openxmlformats.org/drawingml/2006/chart" r:id="R52df009b3d9e41d6"/>
          </a:graphicData>
        </a:graphic>
      </p:graphicFrame>
      <p:sp>
        <p:nvSpPr>
          <p:cNvPr id="8" name="">
            <a:extLst xmlns:a="http://schemas.openxmlformats.org/drawingml/2006/main">
              <a:ext uri="{FF2B5EF4-FFF2-40B4-BE49-F238E27FC236}">
                <a16:creationId xmlns:a16="http://schemas.microsoft.com/office/drawing/2014/main" id="{FDB7F9CA-26F4-4C79-A04A-231D40593C57}"/>
              </a:ext>
            </a:extLst>
          </p:cNvPr>
          <p:cNvSpPr>
            <a:spLocks xmlns:a="http://schemas.openxmlformats.org/drawingml/2006/main" noGrp="1"/>
          </p:cNvSpPr>
          <p:nvPr/>
        </p:nvSpPr>
        <p:spPr>
          <a:xfrm xmlns:a="http://schemas.openxmlformats.org/drawingml/2006/main">
            <a:off x="6419850" y="5638800"/>
            <a:ext cx="4876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B"/>
                </a:solidFill>
                <a:latin typeface="Arial"/>
                <a:ea typeface="Arial"/>
                <a:cs typeface="Arial"/>
              </a:defRPr>
            </a:pPr>
            <a:r>
              <a:rPr sz="2175" b="1">
                <a:solidFill>
                  <a:srgbClr val="087F7B"/>
                </a:solidFill>
                <a:latin typeface="Arial"/>
                <a:ea typeface="Arial"/>
                <a:cs typeface="Arial"/>
              </a:rPr>
              <a:t>Both paths cost 210 moves</a:t>
            </a:r>
          </a:p>
        </p:txBody>
      </p:sp>
    </p:spTree>
    <p:extLst>
      <p:ext uri="{BB962C8B-B14F-4D97-AF65-F5344CB8AC3E}">
        <p14:creationId xmlns:p14="http://schemas.microsoft.com/office/powerpoint/2010/main" val="3270491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88CE32B-52FB-47E4-9D34-F34C47DDE06C}"/>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The corner state preserves visit history</a:t>
            </a:r>
          </a:p>
        </p:txBody>
      </p:sp>
      <p:sp>
        <p:nvSpPr>
          <p:cNvPr id="2" name="">
            <a:extLst xmlns:a="http://schemas.openxmlformats.org/drawingml/2006/main">
              <a:ext uri="{FF2B5EF4-FFF2-40B4-BE49-F238E27FC236}">
                <a16:creationId xmlns:a16="http://schemas.microsoft.com/office/drawing/2014/main" id="{1BFE50E7-EDC8-425E-8854-FB3424813BED}"/>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Q5: position and a four-bit mask</a:t>
            </a:r>
          </a:p>
        </p:txBody>
      </p:sp>
      <p:sp>
        <p:nvSpPr>
          <p:cNvPr id="3" name="">
            <a:extLst xmlns:a="http://schemas.openxmlformats.org/drawingml/2006/main">
              <a:ext uri="{FF2B5EF4-FFF2-40B4-BE49-F238E27FC236}">
                <a16:creationId xmlns:a16="http://schemas.microsoft.com/office/drawing/2014/main" id="{CF88306D-1395-429A-A991-8DD0267DEDCA}"/>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0DF03AA7-616F-4CC9-AE7A-699C1866FFDE}"/>
              </a:ext>
            </a:extLst>
          </p:cNvPr>
          <p:cNvSpPr>
            <a:spLocks xmlns:a="http://schemas.openxmlformats.org/drawingml/2006/main" noGrp="1"/>
          </p:cNvSpPr>
          <p:nvPr/>
        </p:nvSpPr>
        <p:spPr>
          <a:xfrm xmlns:a="http://schemas.openxmlformats.org/drawingml/2006/main">
            <a:off x="666750" y="19621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087F7B"/>
                </a:solidFill>
                <a:latin typeface="Arial"/>
                <a:ea typeface="Arial"/>
                <a:cs typeface="Arial"/>
              </a:defRPr>
            </a:pPr>
            <a:r>
              <a:rPr sz="3225" b="1">
                <a:solidFill>
                  <a:srgbClr val="087F7B"/>
                </a:solidFill>
                <a:latin typeface="Arial"/>
                <a:ea typeface="Arial"/>
                <a:cs typeface="Arial"/>
              </a:rPr>
              <a:t>state = ((x, y), visited_mask)</a:t>
            </a:r>
          </a:p>
        </p:txBody>
      </p:sp>
      <p:graphicFrame>
        <p:nvGraphicFramePr>
          <p:cNvPr id="12" name=""/>
          <p:cNvGraphicFramePr/>
          <p:nvPr/>
        </p:nvGraphicFramePr>
        <p:xfrm>
          <a:off xmlns:a="http://schemas.openxmlformats.org/drawingml/2006/main" x="666750" y="3028950"/>
          <a:ext xmlns:a="http://schemas.openxmlformats.org/drawingml/2006/main" cx="6791325" cy="2562225"/>
        </p:xfrm>
        <a:graphic xmlns:a="http://schemas.openxmlformats.org/drawingml/2006/main">
          <a:graphicData uri="http://schemas.openxmlformats.org/drawingml/2006/table">
            <a:tbl>
              <a:tblPr firstRow="1" bandRow="0"/>
              <a:tblGrid>
                <a:gridCol w="952500"/>
                <a:gridCol w="3362325"/>
                <a:gridCol w="2476500"/>
              </a:tblGrid>
              <a:tr h="512445">
                <a:tc>
                  <a:txBody>
                    <a:bodyPr/>
                    <a:lstStyle/>
                    <a:p>
                      <a:r>
                        <a:rPr sz="1800" b="1">
                          <a:solidFill>
                            <a:srgbClr val="FFFFFF"/>
                          </a:solidFill>
                          <a:latin typeface="Arial"/>
                          <a:ea typeface="Arial"/>
                          <a:cs typeface="Arial"/>
                        </a:rPr>
                        <a:t>Bit</a:t>
                      </a:r>
                    </a:p>
                  </a:txBody>
                  <a:tcPr marL="123825" marR="123825" marT="114300" marB="114300" anchor="ctr">
                    <a:solidFill>
                      <a:srgbClr val="142C40"/>
                    </a:solidFill>
                  </a:tcPr>
                </a:tc>
                <a:tc>
                  <a:txBody>
                    <a:bodyPr/>
                    <a:lstStyle/>
                    <a:p>
                      <a:r>
                        <a:rPr sz="1800" b="1">
                          <a:solidFill>
                            <a:srgbClr val="FFFFFF"/>
                          </a:solidFill>
                          <a:latin typeface="Arial"/>
                          <a:ea typeface="Arial"/>
                          <a:cs typeface="Arial"/>
                        </a:rPr>
                        <a:t>Corner</a:t>
                      </a:r>
                    </a:p>
                  </a:txBody>
                  <a:tcPr marL="123825" marR="123825" marT="114300" marB="114300" anchor="ctr">
                    <a:solidFill>
                      <a:srgbClr val="142C40"/>
                    </a:solidFill>
                  </a:tcPr>
                </a:tc>
                <a:tc>
                  <a:txBody>
                    <a:bodyPr/>
                    <a:lstStyle/>
                    <a:p>
                      <a:r>
                        <a:rPr sz="1800" b="1">
                          <a:solidFill>
                            <a:srgbClr val="FFFFFF"/>
                          </a:solidFill>
                          <a:latin typeface="Arial"/>
                          <a:ea typeface="Arial"/>
                          <a:cs typeface="Arial"/>
                        </a:rPr>
                        <a:t>Example 0101</a:t>
                      </a:r>
                    </a:p>
                  </a:txBody>
                  <a:tcPr marL="123825" marR="123825" marT="114300" marB="114300" anchor="ctr">
                    <a:solidFill>
                      <a:srgbClr val="142C40"/>
                    </a:solidFill>
                  </a:tcPr>
                </a:tc>
              </a:tr>
              <a:tr h="512445">
                <a:tc>
                  <a:txBody>
                    <a:bodyPr/>
                    <a:lstStyle/>
                    <a:p>
                      <a:r>
                        <a:rPr sz="1875" b="0">
                          <a:solidFill>
                            <a:srgbClr val="142C40"/>
                          </a:solidFill>
                          <a:latin typeface="Arial"/>
                          <a:ea typeface="Arial"/>
                          <a:cs typeface="Arial"/>
                        </a:rPr>
                        <a:t>0</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Bottom-left</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Visited</a:t>
                      </a:r>
                    </a:p>
                  </a:txBody>
                  <a:tcPr marL="123825" marR="123825" marT="114300" marB="114300" anchor="ctr">
                    <a:solidFill>
                      <a:srgbClr val="FFFFFF"/>
                    </a:solidFill>
                  </a:tcPr>
                </a:tc>
              </a:tr>
              <a:tr h="512445">
                <a:tc>
                  <a:txBody>
                    <a:bodyPr/>
                    <a:lstStyle/>
                    <a:p>
                      <a:r>
                        <a:rPr sz="1875" b="0">
                          <a:solidFill>
                            <a:srgbClr val="142C40"/>
                          </a:solidFill>
                          <a:latin typeface="Arial"/>
                          <a:ea typeface="Arial"/>
                          <a:cs typeface="Arial"/>
                        </a:rPr>
                        <a:t>1</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Top-left</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Unvisited</a:t>
                      </a:r>
                    </a:p>
                  </a:txBody>
                  <a:tcPr marL="123825" marR="123825" marT="114300" marB="114300" anchor="ctr">
                    <a:solidFill>
                      <a:srgbClr val="EDF3F5"/>
                    </a:solidFill>
                  </a:tcPr>
                </a:tc>
              </a:tr>
              <a:tr h="512445">
                <a:tc>
                  <a:txBody>
                    <a:bodyPr/>
                    <a:lstStyle/>
                    <a:p>
                      <a:r>
                        <a:rPr sz="1875" b="0">
                          <a:solidFill>
                            <a:srgbClr val="142C40"/>
                          </a:solidFill>
                          <a:latin typeface="Arial"/>
                          <a:ea typeface="Arial"/>
                          <a:cs typeface="Arial"/>
                        </a:rPr>
                        <a:t>2</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Bottom-right</a:t>
                      </a:r>
                    </a:p>
                  </a:txBody>
                  <a:tcPr marL="123825" marR="123825" marT="114300" marB="114300" anchor="ctr">
                    <a:solidFill>
                      <a:srgbClr val="FFFFFF"/>
                    </a:solidFill>
                  </a:tcPr>
                </a:tc>
                <a:tc>
                  <a:txBody>
                    <a:bodyPr/>
                    <a:lstStyle/>
                    <a:p>
                      <a:r>
                        <a:rPr sz="1875" b="0">
                          <a:solidFill>
                            <a:srgbClr val="142C40"/>
                          </a:solidFill>
                          <a:latin typeface="Arial"/>
                          <a:ea typeface="Arial"/>
                          <a:cs typeface="Arial"/>
                        </a:rPr>
                        <a:t>Visited</a:t>
                      </a:r>
                    </a:p>
                  </a:txBody>
                  <a:tcPr marL="123825" marR="123825" marT="114300" marB="114300" anchor="ctr">
                    <a:solidFill>
                      <a:srgbClr val="FFFFFF"/>
                    </a:solidFill>
                  </a:tcPr>
                </a:tc>
              </a:tr>
              <a:tr h="512445">
                <a:tc>
                  <a:txBody>
                    <a:bodyPr/>
                    <a:lstStyle/>
                    <a:p>
                      <a:r>
                        <a:rPr sz="1875" b="0">
                          <a:solidFill>
                            <a:srgbClr val="142C40"/>
                          </a:solidFill>
                          <a:latin typeface="Arial"/>
                          <a:ea typeface="Arial"/>
                          <a:cs typeface="Arial"/>
                        </a:rPr>
                        <a:t>3</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Top-right</a:t>
                      </a:r>
                    </a:p>
                  </a:txBody>
                  <a:tcPr marL="123825" marR="123825" marT="114300" marB="114300" anchor="ctr">
                    <a:solidFill>
                      <a:srgbClr val="EDF3F5"/>
                    </a:solidFill>
                  </a:tcPr>
                </a:tc>
                <a:tc>
                  <a:txBody>
                    <a:bodyPr/>
                    <a:lstStyle/>
                    <a:p>
                      <a:r>
                        <a:rPr sz="1875" b="0">
                          <a:solidFill>
                            <a:srgbClr val="142C40"/>
                          </a:solidFill>
                          <a:latin typeface="Arial"/>
                          <a:ea typeface="Arial"/>
                          <a:cs typeface="Arial"/>
                        </a:rPr>
                        <a:t>Unvisited</a:t>
                      </a:r>
                    </a:p>
                  </a:txBody>
                  <a:tcPr marL="123825" marR="123825" marT="114300" marB="114300" anchor="ctr">
                    <a:solidFill>
                      <a:srgbClr val="EDF3F5"/>
                    </a:solidFill>
                  </a:tcPr>
                </a:tc>
              </a:tr>
            </a:tbl>
          </a:graphicData>
        </a:graphic>
      </p:graphicFrame>
      <p:sp>
        <p:nvSpPr>
          <p:cNvPr id="6" name="">
            <a:extLst xmlns:a="http://schemas.openxmlformats.org/drawingml/2006/main">
              <a:ext uri="{FF2B5EF4-FFF2-40B4-BE49-F238E27FC236}">
                <a16:creationId xmlns:a16="http://schemas.microsoft.com/office/drawing/2014/main" id="{83DFA6D1-01A0-4A7D-B2FB-D3A1DF7048F9}"/>
              </a:ext>
            </a:extLst>
          </p:cNvPr>
          <p:cNvSpPr>
            <a:spLocks xmlns:a="http://schemas.openxmlformats.org/drawingml/2006/main" noGrp="1"/>
          </p:cNvSpPr>
          <p:nvPr/>
        </p:nvSpPr>
        <p:spPr>
          <a:xfrm xmlns:a="http://schemas.openxmlformats.org/drawingml/2006/main">
            <a:off x="8153400" y="3114675"/>
            <a:ext cx="3286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A corner at the starting</a:t>
            </a:r>
          </a:p>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position counts as visited.</a:t>
            </a:r>
          </a:p>
        </p:txBody>
      </p:sp>
      <p:sp>
        <p:nvSpPr>
          <p:cNvPr id="7" name="">
            <a:extLst xmlns:a="http://schemas.openxmlformats.org/drawingml/2006/main">
              <a:ext uri="{FF2B5EF4-FFF2-40B4-BE49-F238E27FC236}">
                <a16:creationId xmlns:a16="http://schemas.microsoft.com/office/drawing/2014/main" id="{A7CE5A3B-5935-433B-8BB6-640284DAB4B3}"/>
              </a:ext>
            </a:extLst>
          </p:cNvPr>
          <p:cNvSpPr>
            <a:spLocks xmlns:a="http://schemas.openxmlformats.org/drawingml/2006/main" noGrp="1"/>
          </p:cNvSpPr>
          <p:nvPr/>
        </p:nvSpPr>
        <p:spPr>
          <a:xfrm xmlns:a="http://schemas.openxmlformats.org/drawingml/2006/main">
            <a:off x="8153400" y="4591050"/>
            <a:ext cx="319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087F7B"/>
                </a:solidFill>
                <a:latin typeface="Arial"/>
                <a:ea typeface="Arial"/>
                <a:cs typeface="Arial"/>
              </a:defRPr>
            </a:pPr>
            <a:r>
              <a:rPr sz="2475" b="1">
                <a:solidFill>
                  <a:srgbClr val="087F7B"/>
                </a:solidFill>
                <a:latin typeface="Arial"/>
                <a:ea typeface="Arial"/>
                <a:cs typeface="Arial"/>
              </a:rPr>
              <a:t>Goal mask</a:t>
            </a:r>
          </a:p>
          <a:p xmlns:a="http://schemas.openxmlformats.org/drawingml/2006/main">
            <a:pPr>
              <a:defRPr sz="2475" b="1">
                <a:solidFill>
                  <a:srgbClr val="087F7B"/>
                </a:solidFill>
                <a:latin typeface="Arial"/>
                <a:ea typeface="Arial"/>
                <a:cs typeface="Arial"/>
              </a:defRPr>
            </a:pPr>
            <a:r>
              <a:rPr sz="2475" b="1">
                <a:solidFill>
                  <a:srgbClr val="087F7B"/>
                </a:solidFill>
                <a:latin typeface="Arial"/>
                <a:ea typeface="Arial"/>
                <a:cs typeface="Arial"/>
              </a:rPr>
              <a:t>1111 = 15</a:t>
            </a:r>
          </a:p>
        </p:txBody>
      </p:sp>
    </p:spTree>
    <p:extLst>
      <p:ext uri="{BB962C8B-B14F-4D97-AF65-F5344CB8AC3E}">
        <p14:creationId xmlns:p14="http://schemas.microsoft.com/office/powerpoint/2010/main" val="194738362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24E689-15BF-4431-829C-FA621288EF6F}"/>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A relaxed corner tour reduces search</a:t>
            </a:r>
          </a:p>
        </p:txBody>
      </p:sp>
      <p:sp>
        <p:nvSpPr>
          <p:cNvPr id="2" name="">
            <a:extLst xmlns:a="http://schemas.openxmlformats.org/drawingml/2006/main">
              <a:ext uri="{FF2B5EF4-FFF2-40B4-BE49-F238E27FC236}">
                <a16:creationId xmlns:a16="http://schemas.microsoft.com/office/drawing/2014/main" id="{70E4B9BC-DB72-44BE-B1CD-1ED9CA3FB6DD}"/>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Q6: choose the cheapest Manhattan visit order</a:t>
            </a:r>
          </a:p>
        </p:txBody>
      </p:sp>
      <p:sp>
        <p:nvSpPr>
          <p:cNvPr id="3" name="">
            <a:extLst xmlns:a="http://schemas.openxmlformats.org/drawingml/2006/main">
              <a:ext uri="{FF2B5EF4-FFF2-40B4-BE49-F238E27FC236}">
                <a16:creationId xmlns:a16="http://schemas.microsoft.com/office/drawing/2014/main" id="{5017F497-B9FA-40F3-BC86-4BB6D14DFBBA}"/>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198D0A68-00E7-4659-98FB-DE11B444D9E6}"/>
              </a:ext>
            </a:extLst>
          </p:cNvPr>
          <p:cNvSpPr>
            <a:spLocks xmlns:a="http://schemas.openxmlformats.org/drawingml/2006/main" noGrp="1"/>
          </p:cNvSpPr>
          <p:nvPr/>
        </p:nvSpPr>
        <p:spPr>
          <a:xfrm xmlns:a="http://schemas.openxmlformats.org/drawingml/2006/main">
            <a:off x="666750" y="2009775"/>
            <a:ext cx="52197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42C40"/>
                </a:solidFill>
                <a:latin typeface="Arial"/>
                <a:ea typeface="Arial"/>
                <a:cs typeface="Arial"/>
              </a:defRPr>
            </a:pPr>
            <a:r>
              <a:rPr sz="2325" b="1">
                <a:solidFill>
                  <a:srgbClr val="142C40"/>
                </a:solidFill>
                <a:latin typeface="Arial"/>
                <a:ea typeface="Arial"/>
                <a:cs typeface="Arial"/>
              </a:rPr>
              <a:t>Ignore walls.</a:t>
            </a:r>
          </a:p>
          <a:p xmlns:a="http://schemas.openxmlformats.org/drawingml/2006/main">
            <a:pPr>
              <a:defRPr sz="2325" b="1">
                <a:solidFill>
                  <a:srgbClr val="142C40"/>
                </a:solidFill>
                <a:latin typeface="Arial"/>
                <a:ea typeface="Arial"/>
                <a:cs typeface="Arial"/>
              </a:defRPr>
            </a:pPr>
            <a:r>
              <a:rPr sz="2325" b="1">
                <a:solidFill>
                  <a:srgbClr val="142C40"/>
                </a:solidFill>
                <a:latin typeface="Arial"/>
                <a:ea typeface="Arial"/>
                <a:cs typeface="Arial"/>
              </a:rPr>
              <a:t>Try every remaining corner order.</a:t>
            </a:r>
          </a:p>
          <a:p xmlns:a="http://schemas.openxmlformats.org/drawingml/2006/main">
            <a:pPr>
              <a:defRPr sz="2325" b="1">
                <a:solidFill>
                  <a:srgbClr val="142C40"/>
                </a:solidFill>
                <a:latin typeface="Arial"/>
                <a:ea typeface="Arial"/>
                <a:cs typeface="Arial"/>
              </a:defRPr>
            </a:pPr>
            <a:r>
              <a:rPr sz="2325" b="1">
                <a:solidFill>
                  <a:srgbClr val="142C40"/>
                </a:solidFill>
                <a:latin typeface="Arial"/>
                <a:ea typeface="Arial"/>
                <a:cs typeface="Arial"/>
              </a:rPr>
              <a:t>Return the smallest tour cost.</a:t>
            </a:r>
          </a:p>
        </p:txBody>
      </p:sp>
      <p:sp>
        <p:nvSpPr>
          <p:cNvPr id="5" name="">
            <a:extLst xmlns:a="http://schemas.openxmlformats.org/drawingml/2006/main">
              <a:ext uri="{FF2B5EF4-FFF2-40B4-BE49-F238E27FC236}">
                <a16:creationId xmlns:a16="http://schemas.microsoft.com/office/drawing/2014/main" id="{76C5F555-B256-471E-817E-8281B1AADE63}"/>
              </a:ext>
            </a:extLst>
          </p:cNvPr>
          <p:cNvSpPr>
            <a:spLocks xmlns:a="http://schemas.openxmlformats.org/drawingml/2006/main" noGrp="1"/>
          </p:cNvSpPr>
          <p:nvPr/>
        </p:nvSpPr>
        <p:spPr>
          <a:xfrm xmlns:a="http://schemas.openxmlformats.org/drawingml/2006/main">
            <a:off x="685800" y="3952875"/>
            <a:ext cx="50006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66979"/>
                </a:solidFill>
                <a:latin typeface="Arial"/>
                <a:ea typeface="Arial"/>
                <a:cs typeface="Arial"/>
              </a:defRPr>
            </a:pPr>
            <a:r>
              <a:rPr sz="2025" b="0">
                <a:solidFill>
                  <a:srgbClr val="566979"/>
                </a:solidFill>
                <a:latin typeface="Arial"/>
                <a:ea typeface="Arial"/>
                <a:cs typeface="Arial"/>
              </a:rPr>
              <a:t>At most 4! = 24 orders</a:t>
            </a:r>
          </a:p>
          <a:p xmlns:a="http://schemas.openxmlformats.org/drawingml/2006/main">
            <a:pPr>
              <a:defRPr sz="2025" b="0">
                <a:solidFill>
                  <a:srgbClr val="566979"/>
                </a:solidFill>
                <a:latin typeface="Arial"/>
                <a:ea typeface="Arial"/>
                <a:cs typeface="Arial"/>
              </a:defRPr>
            </a:pPr>
            <a:r>
              <a:rPr sz="2025" b="0">
                <a:solidFill>
                  <a:srgbClr val="566979"/>
                </a:solidFill>
                <a:latin typeface="Arial"/>
                <a:ea typeface="Arial"/>
                <a:cs typeface="Arial"/>
              </a:rPr>
              <a:t>Cache the corner-to-corner cost</a:t>
            </a:r>
          </a:p>
        </p:txBody>
      </p:sp>
      <p:graphicFrame>
        <p:nvGraphicFramePr>
          <p:cNvPr id="13" name="Chart"/>
          <p:cNvGraphicFramePr/>
          <p:nvPr/>
        </p:nvGraphicFramePr>
        <p:xfrm>
          <a:off xmlns:a="http://schemas.openxmlformats.org/drawingml/2006/main" x="6162675" y="1895475"/>
          <a:ext xmlns:a="http://schemas.openxmlformats.org/drawingml/2006/main" cx="5248275" cy="3419475"/>
        </p:xfrm>
        <a:graphic xmlns:a="http://schemas.openxmlformats.org/drawingml/2006/main">
          <a:graphicData uri="http://schemas.openxmlformats.org/drawingml/2006/chart">
            <c:chart xmlns:r="http://schemas.openxmlformats.org/officeDocument/2006/relationships" xmlns:c="http://schemas.openxmlformats.org/drawingml/2006/chart" r:id="R435ee3f290e2468b"/>
          </a:graphicData>
        </a:graphic>
      </p:graphicFrame>
      <p:sp>
        <p:nvSpPr>
          <p:cNvPr id="7" name="">
            <a:extLst xmlns:a="http://schemas.openxmlformats.org/drawingml/2006/main">
              <a:ext uri="{FF2B5EF4-FFF2-40B4-BE49-F238E27FC236}">
                <a16:creationId xmlns:a16="http://schemas.microsoft.com/office/drawing/2014/main" id="{1F2CE1EC-1C56-4619-8524-AB6BF294CBFD}"/>
              </a:ext>
            </a:extLst>
          </p:cNvPr>
          <p:cNvSpPr>
            <a:spLocks xmlns:a="http://schemas.openxmlformats.org/drawingml/2006/main" noGrp="1"/>
          </p:cNvSpPr>
          <p:nvPr/>
        </p:nvSpPr>
        <p:spPr>
          <a:xfrm xmlns:a="http://schemas.openxmlformats.org/drawingml/2006/main">
            <a:off x="6296025" y="5562600"/>
            <a:ext cx="51911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B"/>
                </a:solidFill>
                <a:latin typeface="Arial"/>
                <a:ea typeface="Arial"/>
                <a:cs typeface="Arial"/>
              </a:defRPr>
            </a:pPr>
            <a:r>
              <a:rPr sz="2175" b="1">
                <a:solidFill>
                  <a:srgbClr val="087F7B"/>
                </a:solidFill>
                <a:latin typeface="Arial"/>
                <a:ea typeface="Arial"/>
                <a:cs typeface="Arial"/>
              </a:rPr>
              <a:t>106 moves with both methods</a:t>
            </a:r>
          </a:p>
        </p:txBody>
      </p:sp>
    </p:spTree>
    <p:extLst>
      <p:ext uri="{BB962C8B-B14F-4D97-AF65-F5344CB8AC3E}">
        <p14:creationId xmlns:p14="http://schemas.microsoft.com/office/powerpoint/2010/main" val="106836318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16C8014-864E-4CB6-B84F-CF45AF0BA508}"/>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The food heuristic connects all remaining dots</a:t>
            </a:r>
          </a:p>
        </p:txBody>
      </p:sp>
      <p:sp>
        <p:nvSpPr>
          <p:cNvPr id="2" name="">
            <a:extLst xmlns:a="http://schemas.openxmlformats.org/drawingml/2006/main">
              <a:ext uri="{FF2B5EF4-FFF2-40B4-BE49-F238E27FC236}">
                <a16:creationId xmlns:a16="http://schemas.microsoft.com/office/drawing/2014/main" id="{CFDDBFFF-57CC-4EBD-9B93-1B1CC9010F8D}"/>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Q7: nearest-food distance plus a minimum spanning tree</a:t>
            </a:r>
          </a:p>
        </p:txBody>
      </p:sp>
      <p:sp>
        <p:nvSpPr>
          <p:cNvPr id="3" name="">
            <a:extLst xmlns:a="http://schemas.openxmlformats.org/drawingml/2006/main">
              <a:ext uri="{FF2B5EF4-FFF2-40B4-BE49-F238E27FC236}">
                <a16:creationId xmlns:a16="http://schemas.microsoft.com/office/drawing/2014/main" id="{FA4D3E90-B9E2-4FDC-BE91-13F55B129302}"/>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F913B910-CB4B-4570-938A-8F3648DCCA07}"/>
              </a:ext>
            </a:extLst>
          </p:cNvPr>
          <p:cNvSpPr>
            <a:spLocks xmlns:a="http://schemas.openxmlformats.org/drawingml/2006/main" noGrp="1"/>
          </p:cNvSpPr>
          <p:nvPr/>
        </p:nvSpPr>
        <p:spPr>
          <a:xfrm xmlns:a="http://schemas.openxmlformats.org/drawingml/2006/main">
            <a:off x="647700" y="2066925"/>
            <a:ext cx="108775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87F7B"/>
                </a:solidFill>
                <a:latin typeface="Arial"/>
                <a:ea typeface="Arial"/>
                <a:cs typeface="Arial"/>
              </a:defRPr>
            </a:pPr>
            <a:r>
              <a:rPr sz="3150" b="1">
                <a:solidFill>
                  <a:srgbClr val="087F7B"/>
                </a:solidFill>
                <a:latin typeface="Arial"/>
                <a:ea typeface="Arial"/>
                <a:cs typeface="Arial"/>
              </a:rPr>
              <a:t>h = nearest-food distance + MST cost</a:t>
            </a:r>
          </a:p>
        </p:txBody>
      </p:sp>
      <p:sp>
        <p:nvSpPr>
          <p:cNvPr id="5" name="">
            <a:extLst xmlns:a="http://schemas.openxmlformats.org/drawingml/2006/main">
              <a:ext uri="{FF2B5EF4-FFF2-40B4-BE49-F238E27FC236}">
                <a16:creationId xmlns:a16="http://schemas.microsoft.com/office/drawing/2014/main" id="{C8845553-E336-402F-8A63-5483D945744D}"/>
              </a:ext>
            </a:extLst>
          </p:cNvPr>
          <p:cNvSpPr>
            <a:spLocks xmlns:a="http://schemas.openxmlformats.org/drawingml/2006/main" noGrp="1"/>
          </p:cNvSpPr>
          <p:nvPr/>
        </p:nvSpPr>
        <p:spPr>
          <a:xfrm xmlns:a="http://schemas.openxmlformats.org/drawingml/2006/main">
            <a:off x="666750" y="3343275"/>
            <a:ext cx="4667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42C40"/>
                </a:solidFill>
                <a:latin typeface="Arial"/>
                <a:ea typeface="Arial"/>
                <a:cs typeface="Arial"/>
              </a:defRPr>
            </a:pPr>
            <a:r>
              <a:rPr sz="2325" b="1">
                <a:solidFill>
                  <a:srgbClr val="142C40"/>
                </a:solidFill>
                <a:latin typeface="Arial"/>
                <a:ea typeface="Arial"/>
                <a:cs typeface="Arial"/>
              </a:rPr>
              <a:t>Nearest-food distance</a:t>
            </a:r>
          </a:p>
        </p:txBody>
      </p:sp>
      <p:sp>
        <p:nvSpPr>
          <p:cNvPr id="6" name="">
            <a:extLst xmlns:a="http://schemas.openxmlformats.org/drawingml/2006/main">
              <a:ext uri="{FF2B5EF4-FFF2-40B4-BE49-F238E27FC236}">
                <a16:creationId xmlns:a16="http://schemas.microsoft.com/office/drawing/2014/main" id="{6BC6B613-F045-4424-B8F2-00B3926DF7A0}"/>
              </a:ext>
            </a:extLst>
          </p:cNvPr>
          <p:cNvSpPr>
            <a:spLocks xmlns:a="http://schemas.openxmlformats.org/drawingml/2006/main" noGrp="1"/>
          </p:cNvSpPr>
          <p:nvPr/>
        </p:nvSpPr>
        <p:spPr>
          <a:xfrm xmlns:a="http://schemas.openxmlformats.org/drawingml/2006/main">
            <a:off x="666750" y="4000500"/>
            <a:ext cx="46958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Arial"/>
                <a:ea typeface="Arial"/>
                <a:cs typeface="Arial"/>
              </a:defRPr>
            </a:pPr>
            <a:r>
              <a:rPr sz="2175" b="0">
                <a:solidFill>
                  <a:srgbClr val="142C40"/>
                </a:solidFill>
                <a:latin typeface="Arial"/>
                <a:ea typeface="Arial"/>
                <a:cs typeface="Arial"/>
              </a:rPr>
              <a:t>Minimum maze distance from the current position to any remaining dot</a:t>
            </a:r>
          </a:p>
        </p:txBody>
      </p:sp>
      <p:sp>
        <p:nvSpPr>
          <p:cNvPr id="7" name="">
            <a:extLst xmlns:a="http://schemas.openxmlformats.org/drawingml/2006/main">
              <a:ext uri="{FF2B5EF4-FFF2-40B4-BE49-F238E27FC236}">
                <a16:creationId xmlns:a16="http://schemas.microsoft.com/office/drawing/2014/main" id="{98DF686F-3E66-4629-9DB6-1A7FE5C31EC2}"/>
              </a:ext>
            </a:extLst>
          </p:cNvPr>
          <p:cNvSpPr>
            <a:spLocks xmlns:a="http://schemas.openxmlformats.org/drawingml/2006/main" noGrp="1"/>
          </p:cNvSpPr>
          <p:nvPr/>
        </p:nvSpPr>
        <p:spPr>
          <a:xfrm xmlns:a="http://schemas.openxmlformats.org/drawingml/2006/main">
            <a:off x="6486525" y="3343275"/>
            <a:ext cx="49149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42C40"/>
                </a:solidFill>
                <a:latin typeface="Arial"/>
                <a:ea typeface="Arial"/>
                <a:cs typeface="Arial"/>
              </a:defRPr>
            </a:pPr>
            <a:r>
              <a:rPr sz="2325" b="1">
                <a:solidFill>
                  <a:srgbClr val="142C40"/>
                </a:solidFill>
                <a:latin typeface="Arial"/>
                <a:ea typeface="Arial"/>
                <a:cs typeface="Arial"/>
              </a:rPr>
              <a:t>Minimum spanning tree</a:t>
            </a:r>
          </a:p>
        </p:txBody>
      </p:sp>
      <p:sp>
        <p:nvSpPr>
          <p:cNvPr id="8" name="">
            <a:extLst xmlns:a="http://schemas.openxmlformats.org/drawingml/2006/main">
              <a:ext uri="{FF2B5EF4-FFF2-40B4-BE49-F238E27FC236}">
                <a16:creationId xmlns:a16="http://schemas.microsoft.com/office/drawing/2014/main" id="{D744A0B9-A861-4962-A54D-FDACE3E74C62}"/>
              </a:ext>
            </a:extLst>
          </p:cNvPr>
          <p:cNvSpPr>
            <a:spLocks xmlns:a="http://schemas.openxmlformats.org/drawingml/2006/main" noGrp="1"/>
          </p:cNvSpPr>
          <p:nvPr/>
        </p:nvSpPr>
        <p:spPr>
          <a:xfrm xmlns:a="http://schemas.openxmlformats.org/drawingml/2006/main">
            <a:off x="6486525" y="4000500"/>
            <a:ext cx="4876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40"/>
                </a:solidFill>
                <a:latin typeface="Arial"/>
                <a:ea typeface="Arial"/>
                <a:cs typeface="Arial"/>
              </a:defRPr>
            </a:pPr>
            <a:r>
              <a:rPr sz="2175" b="0">
                <a:solidFill>
                  <a:srgbClr val="142C40"/>
                </a:solidFill>
                <a:latin typeface="Arial"/>
                <a:ea typeface="Arial"/>
                <a:cs typeface="Arial"/>
              </a:rPr>
              <a:t>Cheapest tree connecting every remaining dot using maze distances</a:t>
            </a:r>
          </a:p>
        </p:txBody>
      </p:sp>
      <p:sp>
        <p:nvSpPr>
          <p:cNvPr id="9" name="">
            <a:extLst xmlns:a="http://schemas.openxmlformats.org/drawingml/2006/main">
              <a:ext uri="{FF2B5EF4-FFF2-40B4-BE49-F238E27FC236}">
                <a16:creationId xmlns:a16="http://schemas.microsoft.com/office/drawing/2014/main" id="{0264587E-1C43-47C0-A444-495B912EA1C9}"/>
              </a:ext>
            </a:extLst>
          </p:cNvPr>
          <p:cNvSpPr>
            <a:spLocks xmlns:a="http://schemas.openxmlformats.org/drawingml/2006/main" noGrp="1"/>
          </p:cNvSpPr>
          <p:nvPr/>
        </p:nvSpPr>
        <p:spPr>
          <a:xfrm xmlns:a="http://schemas.openxmlformats.org/drawingml/2006/main">
            <a:off x="666750" y="5772150"/>
            <a:ext cx="108489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No food remains: h = 0. Distance maps and tree costs use per-problem caches.</a:t>
            </a:r>
          </a:p>
        </p:txBody>
      </p:sp>
    </p:spTree>
    <p:extLst>
      <p:ext uri="{BB962C8B-B14F-4D97-AF65-F5344CB8AC3E}">
        <p14:creationId xmlns:p14="http://schemas.microsoft.com/office/powerpoint/2010/main" val="194741491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985D29-D048-40BD-9394-4692982FDE51}"/>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Food A* cuts expansions by 98.5%</a:t>
            </a:r>
          </a:p>
        </p:txBody>
      </p:sp>
      <p:sp>
        <p:nvSpPr>
          <p:cNvPr id="2" name="">
            <a:extLst xmlns:a="http://schemas.openxmlformats.org/drawingml/2006/main">
              <a:ext uri="{FF2B5EF4-FFF2-40B4-BE49-F238E27FC236}">
                <a16:creationId xmlns:a16="http://schemas.microsoft.com/office/drawing/2014/main" id="{A65B6AD7-E5D3-4C06-8205-0966AB1B941F}"/>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trickySearch: both methods find the optimal 60-step route</a:t>
            </a:r>
          </a:p>
        </p:txBody>
      </p:sp>
      <p:sp>
        <p:nvSpPr>
          <p:cNvPr id="3" name="">
            <a:extLst xmlns:a="http://schemas.openxmlformats.org/drawingml/2006/main">
              <a:ext uri="{FF2B5EF4-FFF2-40B4-BE49-F238E27FC236}">
                <a16:creationId xmlns:a16="http://schemas.microsoft.com/office/drawing/2014/main" id="{DA5B056B-0B71-42D6-90A8-0E52007A255C}"/>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10</a:t>
            </a:r>
          </a:p>
        </p:txBody>
      </p:sp>
      <p:graphicFrame>
        <p:nvGraphicFramePr>
          <p:cNvPr id="10" name="Chart"/>
          <p:cNvGraphicFramePr/>
          <p:nvPr/>
        </p:nvGraphicFramePr>
        <p:xfrm>
          <a:off xmlns:a="http://schemas.openxmlformats.org/drawingml/2006/main" x="628650" y="2000250"/>
          <a:ext xmlns:a="http://schemas.openxmlformats.org/drawingml/2006/main" cx="4962525" cy="3409950"/>
        </p:xfrm>
        <a:graphic xmlns:a="http://schemas.openxmlformats.org/drawingml/2006/main">
          <a:graphicData uri="http://schemas.openxmlformats.org/drawingml/2006/chart">
            <c:chart xmlns:r="http://schemas.openxmlformats.org/officeDocument/2006/relationships" xmlns:c="http://schemas.openxmlformats.org/drawingml/2006/chart" r:id="Rfe6a544228cd4b56"/>
          </a:graphicData>
        </a:graphic>
      </p:graphicFrame>
      <p:graphicFrame>
        <p:nvGraphicFramePr>
          <p:cNvPr id="11" name=""/>
          <p:cNvGraphicFramePr/>
          <p:nvPr/>
        </p:nvGraphicFramePr>
        <p:xfrm>
          <a:off xmlns:a="http://schemas.openxmlformats.org/drawingml/2006/main" x="6229350" y="2219325"/>
          <a:ext xmlns:a="http://schemas.openxmlformats.org/drawingml/2006/main" cx="5238750" cy="2600325"/>
        </p:xfrm>
        <a:graphic xmlns:a="http://schemas.openxmlformats.org/drawingml/2006/main">
          <a:graphicData uri="http://schemas.openxmlformats.org/drawingml/2006/table">
            <a:tbl>
              <a:tblPr firstRow="1" bandRow="0"/>
              <a:tblGrid>
                <a:gridCol w="2076450"/>
                <a:gridCol w="1638300"/>
                <a:gridCol w="1524000"/>
              </a:tblGrid>
              <a:tr h="650081">
                <a:tc>
                  <a:txBody>
                    <a:bodyPr/>
                    <a:lstStyle/>
                    <a:p>
                      <a:r>
                        <a:rPr sz="1650" b="1">
                          <a:solidFill>
                            <a:srgbClr val="FFFFFF"/>
                          </a:solidFill>
                          <a:latin typeface="Arial"/>
                          <a:ea typeface="Arial"/>
                          <a:cs typeface="Arial"/>
                        </a:rPr>
                        <a:t>Metric</a:t>
                      </a:r>
                    </a:p>
                  </a:txBody>
                  <a:tcPr marL="123825" marR="123825" marT="114300" marB="114300" anchor="ctr">
                    <a:solidFill>
                      <a:srgbClr val="142C40"/>
                    </a:solidFill>
                  </a:tcPr>
                </a:tc>
                <a:tc>
                  <a:txBody>
                    <a:bodyPr/>
                    <a:lstStyle/>
                    <a:p>
                      <a:r>
                        <a:rPr sz="1650" b="1">
                          <a:solidFill>
                            <a:srgbClr val="FFFFFF"/>
                          </a:solidFill>
                          <a:latin typeface="Arial"/>
                          <a:ea typeface="Arial"/>
                          <a:cs typeface="Arial"/>
                        </a:rPr>
                        <a:t>UCS</a:t>
                      </a:r>
                    </a:p>
                  </a:txBody>
                  <a:tcPr marL="123825" marR="123825" marT="114300" marB="114300" anchor="ctr">
                    <a:solidFill>
                      <a:srgbClr val="142C40"/>
                    </a:solidFill>
                  </a:tcPr>
                </a:tc>
                <a:tc>
                  <a:txBody>
                    <a:bodyPr/>
                    <a:lstStyle/>
                    <a:p>
                      <a:r>
                        <a:rPr sz="1650" b="1">
                          <a:solidFill>
                            <a:srgbClr val="FFFFFF"/>
                          </a:solidFill>
                          <a:latin typeface="Arial"/>
                          <a:ea typeface="Arial"/>
                          <a:cs typeface="Arial"/>
                        </a:rPr>
                        <a:t>A*</a:t>
                      </a:r>
                    </a:p>
                  </a:txBody>
                  <a:tcPr marL="123825" marR="123825" marT="114300" marB="114300" anchor="ctr">
                    <a:solidFill>
                      <a:srgbClr val="142C40"/>
                    </a:solidFill>
                  </a:tcPr>
                </a:tc>
              </a:tr>
              <a:tr h="650081">
                <a:tc>
                  <a:txBody>
                    <a:bodyPr/>
                    <a:lstStyle/>
                    <a:p>
                      <a:r>
                        <a:rPr sz="1725" b="0">
                          <a:solidFill>
                            <a:srgbClr val="142C40"/>
                          </a:solidFill>
                          <a:latin typeface="Arial"/>
                          <a:ea typeface="Arial"/>
                          <a:cs typeface="Arial"/>
                        </a:rPr>
                        <a:t>Expanded</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16,688</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255</a:t>
                      </a:r>
                    </a:p>
                  </a:txBody>
                  <a:tcPr marL="123825" marR="123825" marT="114300" marB="114300" anchor="ctr">
                    <a:solidFill>
                      <a:srgbClr val="FFFFFF"/>
                    </a:solidFill>
                  </a:tcPr>
                </a:tc>
              </a:tr>
              <a:tr h="650081">
                <a:tc>
                  <a:txBody>
                    <a:bodyPr/>
                    <a:lstStyle/>
                    <a:p>
                      <a:r>
                        <a:rPr sz="1725" b="0">
                          <a:solidFill>
                            <a:srgbClr val="142C40"/>
                          </a:solidFill>
                          <a:latin typeface="Arial"/>
                          <a:ea typeface="Arial"/>
                          <a:cs typeface="Arial"/>
                        </a:rPr>
                        <a:t>Time (ms)</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456.943</a:t>
                      </a:r>
                    </a:p>
                  </a:txBody>
                  <a:tcPr marL="123825" marR="123825" marT="114300" marB="114300" anchor="ctr">
                    <a:solidFill>
                      <a:srgbClr val="EDF3F5"/>
                    </a:solidFill>
                  </a:tcPr>
                </a:tc>
                <a:tc>
                  <a:txBody>
                    <a:bodyPr/>
                    <a:lstStyle/>
                    <a:p>
                      <a:r>
                        <a:rPr sz="1725" b="0">
                          <a:solidFill>
                            <a:srgbClr val="142C40"/>
                          </a:solidFill>
                          <a:latin typeface="Arial"/>
                          <a:ea typeface="Arial"/>
                          <a:cs typeface="Arial"/>
                        </a:rPr>
                        <a:t>9.188</a:t>
                      </a:r>
                    </a:p>
                  </a:txBody>
                  <a:tcPr marL="123825" marR="123825" marT="114300" marB="114300" anchor="ctr">
                    <a:solidFill>
                      <a:srgbClr val="EDF3F5"/>
                    </a:solidFill>
                  </a:tcPr>
                </a:tc>
              </a:tr>
              <a:tr h="650081">
                <a:tc>
                  <a:txBody>
                    <a:bodyPr/>
                    <a:lstStyle/>
                    <a:p>
                      <a:r>
                        <a:rPr sz="1725" b="0">
                          <a:solidFill>
                            <a:srgbClr val="142C40"/>
                          </a:solidFill>
                          <a:latin typeface="Arial"/>
                          <a:ea typeface="Arial"/>
                          <a:cs typeface="Arial"/>
                        </a:rPr>
                        <a:t>Peak (KiB)</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47,894.3</a:t>
                      </a:r>
                    </a:p>
                  </a:txBody>
                  <a:tcPr marL="123825" marR="123825" marT="114300" marB="114300" anchor="ctr">
                    <a:solidFill>
                      <a:srgbClr val="FFFFFF"/>
                    </a:solidFill>
                  </a:tcPr>
                </a:tc>
                <a:tc>
                  <a:txBody>
                    <a:bodyPr/>
                    <a:lstStyle/>
                    <a:p>
                      <a:r>
                        <a:rPr sz="1725" b="0">
                          <a:solidFill>
                            <a:srgbClr val="142C40"/>
                          </a:solidFill>
                          <a:latin typeface="Arial"/>
                          <a:ea typeface="Arial"/>
                          <a:cs typeface="Arial"/>
                        </a:rPr>
                        <a:t>1,026.8</a:t>
                      </a:r>
                    </a:p>
                  </a:txBody>
                  <a:tcPr marL="123825" marR="123825" marT="114300" marB="114300" anchor="ctr">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D98F1D3D-9FC7-465F-8FF1-75C18D73ABFF}"/>
              </a:ext>
            </a:extLst>
          </p:cNvPr>
          <p:cNvSpPr>
            <a:spLocks xmlns:a="http://schemas.openxmlformats.org/drawingml/2006/main" noGrp="1"/>
          </p:cNvSpPr>
          <p:nvPr/>
        </p:nvSpPr>
        <p:spPr>
          <a:xfrm xmlns:a="http://schemas.openxmlformats.org/drawingml/2006/main">
            <a:off x="6286500" y="5229225"/>
            <a:ext cx="51530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B"/>
                </a:solidFill>
                <a:latin typeface="Arial"/>
                <a:ea typeface="Arial"/>
                <a:cs typeface="Arial"/>
              </a:defRPr>
            </a:pPr>
            <a:r>
              <a:rPr sz="2175" b="1">
                <a:solidFill>
                  <a:srgbClr val="087F7B"/>
                </a:solidFill>
                <a:latin typeface="Arial"/>
                <a:ea typeface="Arial"/>
                <a:cs typeface="Arial"/>
              </a:rPr>
              <a:t>255 expansions meet the</a:t>
            </a:r>
          </a:p>
          <a:p xmlns:a="http://schemas.openxmlformats.org/drawingml/2006/main">
            <a:pPr>
              <a:defRPr sz="2175" b="1">
                <a:solidFill>
                  <a:srgbClr val="087F7B"/>
                </a:solidFill>
                <a:latin typeface="Arial"/>
                <a:ea typeface="Arial"/>
                <a:cs typeface="Arial"/>
              </a:defRPr>
            </a:pPr>
            <a:r>
              <a:rPr sz="2175" b="1">
                <a:solidFill>
                  <a:srgbClr val="087F7B"/>
                </a:solidFill>
                <a:latin typeface="Arial"/>
                <a:ea typeface="Arial"/>
                <a:cs typeface="Arial"/>
              </a:rPr>
              <a:t>&lt; 7,000 extra-credit target</a:t>
            </a:r>
          </a:p>
        </p:txBody>
      </p:sp>
    </p:spTree>
    <p:extLst>
      <p:ext uri="{BB962C8B-B14F-4D97-AF65-F5344CB8AC3E}">
        <p14:creationId xmlns:p14="http://schemas.microsoft.com/office/powerpoint/2010/main" val="246590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2FD8A42-AC80-4A10-89D1-035F33E4A5E2}"/>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Measurements and correctness checks</a:t>
            </a:r>
          </a:p>
        </p:txBody>
      </p:sp>
      <p:sp>
        <p:nvSpPr>
          <p:cNvPr id="2" name="">
            <a:extLst xmlns:a="http://schemas.openxmlformats.org/drawingml/2006/main">
              <a:ext uri="{FF2B5EF4-FFF2-40B4-BE49-F238E27FC236}">
                <a16:creationId xmlns:a16="http://schemas.microsoft.com/office/drawing/2014/main" id="{FD84148F-CB32-4104-9EA4-30E541F8D26F}"/>
              </a:ext>
            </a:extLst>
          </p:cNvPr>
          <p:cNvSpPr>
            <a:spLocks xmlns:a="http://schemas.openxmlformats.org/drawingml/2006/main" noGrp="1"/>
          </p:cNvSpPr>
          <p:nvPr/>
        </p:nvSpPr>
        <p:spPr>
          <a:xfrm xmlns:a="http://schemas.openxmlformats.org/drawingml/2006/main">
            <a:off x="628650" y="119062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66979"/>
                </a:solidFill>
                <a:latin typeface="Arial"/>
                <a:ea typeface="Arial"/>
                <a:cs typeface="Arial"/>
              </a:defRPr>
            </a:pPr>
            <a:r>
              <a:rPr sz="1800" b="0">
                <a:solidFill>
                  <a:srgbClr val="566979"/>
                </a:solidFill>
                <a:latin typeface="Arial"/>
                <a:ea typeface="Arial"/>
                <a:cs typeface="Arial"/>
              </a:rPr>
              <a:t>Python 3.11.16 on macOS arm64</a:t>
            </a:r>
          </a:p>
        </p:txBody>
      </p:sp>
      <p:sp>
        <p:nvSpPr>
          <p:cNvPr id="3" name="">
            <a:extLst xmlns:a="http://schemas.openxmlformats.org/drawingml/2006/main">
              <a:ext uri="{FF2B5EF4-FFF2-40B4-BE49-F238E27FC236}">
                <a16:creationId xmlns:a16="http://schemas.microsoft.com/office/drawing/2014/main" id="{F6859265-67A7-4469-92E2-CFC75F1AC3F1}"/>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D4F45EC9-2273-4C01-87E8-61B6EBE23790}"/>
              </a:ext>
            </a:extLst>
          </p:cNvPr>
          <p:cNvSpPr>
            <a:spLocks xmlns:a="http://schemas.openxmlformats.org/drawingml/2006/main" noGrp="1"/>
          </p:cNvSpPr>
          <p:nvPr/>
        </p:nvSpPr>
        <p:spPr>
          <a:xfrm xmlns:a="http://schemas.openxmlformats.org/drawingml/2006/main">
            <a:off x="647700" y="2038350"/>
            <a:ext cx="5238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087F7B"/>
                </a:solidFill>
                <a:latin typeface="Arial"/>
                <a:ea typeface="Arial"/>
                <a:cs typeface="Arial"/>
              </a:defRPr>
            </a:pPr>
            <a:r>
              <a:rPr sz="2400" b="1">
                <a:solidFill>
                  <a:srgbClr val="087F7B"/>
                </a:solidFill>
                <a:latin typeface="Arial"/>
                <a:ea typeface="Arial"/>
                <a:cs typeface="Arial"/>
              </a:rPr>
              <a:t>Measurement protocol</a:t>
            </a:r>
          </a:p>
        </p:txBody>
      </p:sp>
      <p:sp>
        <p:nvSpPr>
          <p:cNvPr id="5" name="">
            <a:extLst xmlns:a="http://schemas.openxmlformats.org/drawingml/2006/main">
              <a:ext uri="{FF2B5EF4-FFF2-40B4-BE49-F238E27FC236}">
                <a16:creationId xmlns:a16="http://schemas.microsoft.com/office/drawing/2014/main" id="{A6843952-493B-4CC5-A27C-5A5455EA8418}"/>
              </a:ext>
            </a:extLst>
          </p:cNvPr>
          <p:cNvSpPr>
            <a:spLocks xmlns:a="http://schemas.openxmlformats.org/drawingml/2006/main" noGrp="1"/>
          </p:cNvSpPr>
          <p:nvPr/>
        </p:nvSpPr>
        <p:spPr>
          <a:xfrm xmlns:a="http://schemas.openxmlformats.org/drawingml/2006/main">
            <a:off x="666750" y="2895600"/>
            <a:ext cx="51816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30 benchmark cases</a:t>
            </a:r>
          </a:p>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Five cold timing runs per case</a:t>
            </a:r>
          </a:p>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One separate memory-tracing run</a:t>
            </a:r>
          </a:p>
        </p:txBody>
      </p:sp>
      <p:sp>
        <p:nvSpPr>
          <p:cNvPr id="6" name="">
            <a:extLst xmlns:a="http://schemas.openxmlformats.org/drawingml/2006/main">
              <a:ext uri="{FF2B5EF4-FFF2-40B4-BE49-F238E27FC236}">
                <a16:creationId xmlns:a16="http://schemas.microsoft.com/office/drawing/2014/main" id="{0B78DB02-F286-44C2-B1DD-A11C6DBB370B}"/>
              </a:ext>
            </a:extLst>
          </p:cNvPr>
          <p:cNvSpPr>
            <a:spLocks xmlns:a="http://schemas.openxmlformats.org/drawingml/2006/main" noGrp="1"/>
          </p:cNvSpPr>
          <p:nvPr/>
        </p:nvSpPr>
        <p:spPr>
          <a:xfrm xmlns:a="http://schemas.openxmlformats.org/drawingml/2006/main">
            <a:off x="666750" y="4752975"/>
            <a:ext cx="52101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66979"/>
                </a:solidFill>
                <a:latin typeface="Arial"/>
                <a:ea typeface="Arial"/>
                <a:cs typeface="Arial"/>
              </a:defRPr>
            </a:pPr>
            <a:r>
              <a:rPr sz="1950" b="0">
                <a:solidFill>
                  <a:srgbClr val="566979"/>
                </a:solidFill>
                <a:latin typeface="Arial"/>
                <a:ea typeface="Arial"/>
                <a:cs typeface="Arial"/>
              </a:rPr>
              <a:t>Includes heuristic preprocessing</a:t>
            </a:r>
          </a:p>
          <a:p xmlns:a="http://schemas.openxmlformats.org/drawingml/2006/main">
            <a:pPr>
              <a:defRPr sz="1950" b="0">
                <a:solidFill>
                  <a:srgbClr val="566979"/>
                </a:solidFill>
                <a:latin typeface="Arial"/>
                <a:ea typeface="Arial"/>
                <a:cs typeface="Arial"/>
              </a:defRPr>
            </a:pPr>
            <a:r>
              <a:rPr sz="1950" b="0">
                <a:solidFill>
                  <a:srgbClr val="566979"/>
                </a:solidFill>
                <a:latin typeface="Arial"/>
                <a:ea typeface="Arial"/>
                <a:cs typeface="Arial"/>
              </a:rPr>
              <a:t>Excludes graphics and game execution</a:t>
            </a:r>
          </a:p>
        </p:txBody>
      </p:sp>
      <p:sp>
        <p:nvSpPr>
          <p:cNvPr id="7" name="">
            <a:extLst xmlns:a="http://schemas.openxmlformats.org/drawingml/2006/main">
              <a:ext uri="{FF2B5EF4-FFF2-40B4-BE49-F238E27FC236}">
                <a16:creationId xmlns:a16="http://schemas.microsoft.com/office/drawing/2014/main" id="{A401CA1F-CB7F-4696-AC9E-BF4774261584}"/>
              </a:ext>
            </a:extLst>
          </p:cNvPr>
          <p:cNvSpPr>
            <a:spLocks xmlns:a="http://schemas.openxmlformats.org/drawingml/2006/main" noGrp="1"/>
          </p:cNvSpPr>
          <p:nvPr/>
        </p:nvSpPr>
        <p:spPr>
          <a:xfrm xmlns:a="http://schemas.openxmlformats.org/drawingml/2006/main">
            <a:off x="6477000" y="2038350"/>
            <a:ext cx="5095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087F7B"/>
                </a:solidFill>
                <a:latin typeface="Arial"/>
                <a:ea typeface="Arial"/>
                <a:cs typeface="Arial"/>
              </a:defRPr>
            </a:pPr>
            <a:r>
              <a:rPr sz="2400" b="1">
                <a:solidFill>
                  <a:srgbClr val="087F7B"/>
                </a:solidFill>
                <a:latin typeface="Arial"/>
                <a:ea typeface="Arial"/>
                <a:cs typeface="Arial"/>
              </a:rPr>
              <a:t>Correctness evidence</a:t>
            </a:r>
          </a:p>
        </p:txBody>
      </p:sp>
      <p:sp>
        <p:nvSpPr>
          <p:cNvPr id="8" name="">
            <a:extLst xmlns:a="http://schemas.openxmlformats.org/drawingml/2006/main">
              <a:ext uri="{FF2B5EF4-FFF2-40B4-BE49-F238E27FC236}">
                <a16:creationId xmlns:a16="http://schemas.microsoft.com/office/drawing/2014/main" id="{37D04CB2-4F6C-4AE4-9059-BDFBDC60998C}"/>
              </a:ext>
            </a:extLst>
          </p:cNvPr>
          <p:cNvSpPr>
            <a:spLocks xmlns:a="http://schemas.openxmlformats.org/drawingml/2006/main" noGrp="1"/>
          </p:cNvSpPr>
          <p:nvPr/>
        </p:nvSpPr>
        <p:spPr>
          <a:xfrm xmlns:a="http://schemas.openxmlformats.org/drawingml/2006/main">
            <a:off x="6496050" y="289560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13 regression tests passed</a:t>
            </a:r>
          </a:p>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20 complete-game examples passed</a:t>
            </a:r>
          </a:p>
        </p:txBody>
      </p:sp>
      <p:sp>
        <p:nvSpPr>
          <p:cNvPr id="9" name="">
            <a:extLst xmlns:a="http://schemas.openxmlformats.org/drawingml/2006/main">
              <a:ext uri="{FF2B5EF4-FFF2-40B4-BE49-F238E27FC236}">
                <a16:creationId xmlns:a16="http://schemas.microsoft.com/office/drawing/2014/main" id="{676F11B3-9B21-4A4C-ABB6-261F90605F68}"/>
              </a:ext>
            </a:extLst>
          </p:cNvPr>
          <p:cNvSpPr>
            <a:spLocks xmlns:a="http://schemas.openxmlformats.org/drawingml/2006/main" noGrp="1"/>
          </p:cNvSpPr>
          <p:nvPr/>
        </p:nvSpPr>
        <p:spPr>
          <a:xfrm xmlns:a="http://schemas.openxmlformats.org/drawingml/2006/main">
            <a:off x="6496050" y="4467225"/>
            <a:ext cx="4953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Exhaustive heuristic checks:</a:t>
            </a:r>
          </a:p>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11,540 reachable states</a:t>
            </a:r>
          </a:p>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25,408 transitions</a:t>
            </a:r>
          </a:p>
        </p:txBody>
      </p:sp>
    </p:spTree>
    <p:extLst>
      <p:ext uri="{BB962C8B-B14F-4D97-AF65-F5344CB8AC3E}">
        <p14:creationId xmlns:p14="http://schemas.microsoft.com/office/powerpoint/2010/main" val="3005818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CC5D623-617E-45CD-BCA4-F5D75F8612CA}"/>
              </a:ext>
            </a:extLst>
          </p:cNvPr>
          <p:cNvSpPr>
            <a:spLocks xmlns:a="http://schemas.openxmlformats.org/drawingml/2006/main" noGrp="1"/>
          </p:cNvSpPr>
          <p:nvPr/>
        </p:nvSpPr>
        <p:spPr>
          <a:xfrm xmlns:a="http://schemas.openxmlformats.org/drawingml/2006/main">
            <a:off x="609600" y="3810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Arial"/>
                <a:ea typeface="Arial"/>
                <a:cs typeface="Arial"/>
              </a:defRPr>
            </a:pPr>
            <a:r>
              <a:rPr sz="3300" b="1">
                <a:solidFill>
                  <a:srgbClr val="142C40"/>
                </a:solidFill>
                <a:latin typeface="Arial"/>
                <a:ea typeface="Arial"/>
                <a:cs typeface="Arial"/>
              </a:rPr>
              <a:t>Conclusions and remaining limit</a:t>
            </a:r>
          </a:p>
        </p:txBody>
      </p:sp>
      <p:sp>
        <p:nvSpPr>
          <p:cNvPr id="2" name="">
            <a:extLst xmlns:a="http://schemas.openxmlformats.org/drawingml/2006/main">
              <a:ext uri="{FF2B5EF4-FFF2-40B4-BE49-F238E27FC236}">
                <a16:creationId xmlns:a16="http://schemas.microsoft.com/office/drawing/2014/main" id="{65E6212D-8647-47DD-8EFE-062744570988}"/>
              </a:ext>
            </a:extLst>
          </p:cNvPr>
          <p:cNvSpPr>
            <a:spLocks xmlns:a="http://schemas.openxmlformats.org/drawingml/2006/main" noGrp="1"/>
          </p:cNvSpPr>
          <p:nvPr/>
        </p:nvSpPr>
        <p:spPr>
          <a:xfrm xmlns:a="http://schemas.openxmlformats.org/drawingml/2006/main">
            <a:off x="11106150" y="6391275"/>
            <a:ext cx="47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66979"/>
                </a:solidFill>
                <a:latin typeface="Arial"/>
                <a:ea typeface="Arial"/>
                <a:cs typeface="Arial"/>
              </a:defRPr>
            </a:pPr>
            <a:r>
              <a:rPr sz="1350" b="0">
                <a:solidFill>
                  <a:srgbClr val="566979"/>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2D01DC3C-52A2-4517-A5E7-59A6B8CF0D23}"/>
              </a:ext>
            </a:extLst>
          </p:cNvPr>
          <p:cNvSpPr>
            <a:spLocks xmlns:a="http://schemas.openxmlformats.org/drawingml/2006/main" noGrp="1"/>
          </p:cNvSpPr>
          <p:nvPr/>
        </p:nvSpPr>
        <p:spPr>
          <a:xfrm xmlns:a="http://schemas.openxmlformats.org/drawingml/2006/main">
            <a:off x="666750" y="176212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087F7B"/>
                </a:solidFill>
                <a:latin typeface="Arial"/>
                <a:ea typeface="Arial"/>
                <a:cs typeface="Arial"/>
              </a:defRPr>
            </a:pPr>
            <a:r>
              <a:rPr sz="2625" b="1">
                <a:solidFill>
                  <a:srgbClr val="087F7B"/>
                </a:solidFill>
                <a:latin typeface="Arial"/>
                <a:ea typeface="Arial"/>
                <a:cs typeface="Arial"/>
              </a:rPr>
              <a:t>The search objective guides the choice</a:t>
            </a:r>
          </a:p>
        </p:txBody>
      </p:sp>
      <p:sp>
        <p:nvSpPr>
          <p:cNvPr id="4" name="">
            <a:extLst xmlns:a="http://schemas.openxmlformats.org/drawingml/2006/main">
              <a:ext uri="{FF2B5EF4-FFF2-40B4-BE49-F238E27FC236}">
                <a16:creationId xmlns:a16="http://schemas.microsoft.com/office/drawing/2014/main" id="{B33CA893-3F8B-4547-8AAA-E9B16688411F}"/>
              </a:ext>
            </a:extLst>
          </p:cNvPr>
          <p:cNvSpPr>
            <a:spLocks xmlns:a="http://schemas.openxmlformats.org/drawingml/2006/main" noGrp="1"/>
          </p:cNvSpPr>
          <p:nvPr/>
        </p:nvSpPr>
        <p:spPr>
          <a:xfrm xmlns:a="http://schemas.openxmlformats.org/drawingml/2006/main">
            <a:off x="685800" y="2676525"/>
            <a:ext cx="106299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40"/>
                </a:solidFill>
                <a:latin typeface="Arial"/>
                <a:ea typeface="Arial"/>
                <a:cs typeface="Arial"/>
              </a:defRPr>
            </a:pPr>
            <a:r>
              <a:rPr sz="2325" b="0">
                <a:solidFill>
                  <a:srgbClr val="142C40"/>
                </a:solidFill>
                <a:latin typeface="Arial"/>
                <a:ea typeface="Arial"/>
                <a:cs typeface="Arial"/>
              </a:rPr>
              <a:t>BFS suits equal step costs. UCS handles weighted costs.</a:t>
            </a:r>
          </a:p>
          <a:p xmlns:a="http://schemas.openxmlformats.org/drawingml/2006/main">
            <a:pPr>
              <a:defRPr sz="2325" b="0">
                <a:solidFill>
                  <a:srgbClr val="142C40"/>
                </a:solidFill>
                <a:latin typeface="Arial"/>
                <a:ea typeface="Arial"/>
                <a:cs typeface="Arial"/>
              </a:defRPr>
            </a:pPr>
            <a:r>
              <a:rPr sz="2325" b="0">
                <a:solidFill>
                  <a:srgbClr val="142C40"/>
                </a:solidFill>
                <a:latin typeface="Arial"/>
                <a:ea typeface="Arial"/>
                <a:cs typeface="Arial"/>
              </a:rPr>
              <a:t>A* saves substantial work when the heuristic is informative.</a:t>
            </a:r>
          </a:p>
        </p:txBody>
      </p:sp>
      <p:sp>
        <p:nvSpPr>
          <p:cNvPr id="5" name="">
            <a:extLst xmlns:a="http://schemas.openxmlformats.org/drawingml/2006/main">
              <a:ext uri="{FF2B5EF4-FFF2-40B4-BE49-F238E27FC236}">
                <a16:creationId xmlns:a16="http://schemas.microsoft.com/office/drawing/2014/main" id="{F3476FDD-9675-4A11-B709-EEC0351A47DD}"/>
              </a:ext>
            </a:extLst>
          </p:cNvPr>
          <p:cNvSpPr>
            <a:spLocks xmlns:a="http://schemas.openxmlformats.org/drawingml/2006/main" noGrp="1"/>
          </p:cNvSpPr>
          <p:nvPr/>
        </p:nvSpPr>
        <p:spPr>
          <a:xfrm xmlns:a="http://schemas.openxmlformats.org/drawingml/2006/main">
            <a:off x="666750" y="4095750"/>
            <a:ext cx="106394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142C40"/>
                </a:solidFill>
                <a:latin typeface="Arial"/>
                <a:ea typeface="Arial"/>
                <a:cs typeface="Arial"/>
              </a:defRPr>
            </a:pPr>
            <a:r>
              <a:rPr sz="2475" b="1">
                <a:solidFill>
                  <a:srgbClr val="142C40"/>
                </a:solidFill>
                <a:latin typeface="Arial"/>
                <a:ea typeface="Arial"/>
                <a:cs typeface="Arial"/>
              </a:rPr>
              <a:t>Heuristic overhead still matters</a:t>
            </a:r>
          </a:p>
        </p:txBody>
      </p:sp>
      <p:sp>
        <p:nvSpPr>
          <p:cNvPr id="6" name="">
            <a:extLst xmlns:a="http://schemas.openxmlformats.org/drawingml/2006/main">
              <a:ext uri="{FF2B5EF4-FFF2-40B4-BE49-F238E27FC236}">
                <a16:creationId xmlns:a16="http://schemas.microsoft.com/office/drawing/2014/main" id="{E1637CF4-F483-4E67-9FC1-F251E64F70C3}"/>
              </a:ext>
            </a:extLst>
          </p:cNvPr>
          <p:cNvSpPr>
            <a:spLocks xmlns:a="http://schemas.openxmlformats.org/drawingml/2006/main" noGrp="1"/>
          </p:cNvSpPr>
          <p:nvPr/>
        </p:nvSpPr>
        <p:spPr>
          <a:xfrm xmlns:a="http://schemas.openxmlformats.org/drawingml/2006/main">
            <a:off x="685800" y="4810125"/>
            <a:ext cx="10572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40"/>
                </a:solidFill>
                <a:latin typeface="Arial"/>
                <a:ea typeface="Arial"/>
                <a:cs typeface="Arial"/>
              </a:defRPr>
            </a:pPr>
            <a:r>
              <a:rPr sz="2100" b="0">
                <a:solidFill>
                  <a:srgbClr val="142C40"/>
                </a:solidFill>
                <a:latin typeface="Arial"/>
                <a:ea typeface="Arial"/>
                <a:cs typeface="Arial"/>
              </a:rPr>
              <a:t>tinyCorners: A* uses fewer expansions but takes slightly longer.</a:t>
            </a:r>
          </a:p>
        </p:txBody>
      </p:sp>
      <p:sp>
        <p:nvSpPr>
          <p:cNvPr id="7" name="">
            <a:extLst xmlns:a="http://schemas.openxmlformats.org/drawingml/2006/main">
              <a:ext uri="{FF2B5EF4-FFF2-40B4-BE49-F238E27FC236}">
                <a16:creationId xmlns:a16="http://schemas.microsoft.com/office/drawing/2014/main" id="{EFC2D004-AA08-4E76-8CAA-2A54A054E364}"/>
              </a:ext>
            </a:extLst>
          </p:cNvPr>
          <p:cNvSpPr>
            <a:spLocks xmlns:a="http://schemas.openxmlformats.org/drawingml/2006/main" noGrp="1"/>
          </p:cNvSpPr>
          <p:nvPr/>
        </p:nvSpPr>
        <p:spPr>
          <a:xfrm xmlns:a="http://schemas.openxmlformats.org/drawingml/2006/main">
            <a:off x="685800" y="5743575"/>
            <a:ext cx="10572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66979"/>
                </a:solidFill>
                <a:latin typeface="Arial"/>
                <a:ea typeface="Arial"/>
                <a:cs typeface="Arial"/>
              </a:defRPr>
            </a:pPr>
            <a:r>
              <a:rPr sz="1950" b="0">
                <a:solidFill>
                  <a:srgbClr val="566979"/>
                </a:solidFill>
                <a:latin typeface="Arial"/>
                <a:ea typeface="Arial"/>
                <a:cs typeface="Arial"/>
              </a:rPr>
              <a:t>Remaining limit: mediumSearch has 108 dots and did not finish</a:t>
            </a:r>
          </a:p>
          <a:p xmlns:a="http://schemas.openxmlformats.org/drawingml/2006/main">
            <a:pPr>
              <a:defRPr sz="1950" b="0">
                <a:solidFill>
                  <a:srgbClr val="566979"/>
                </a:solidFill>
                <a:latin typeface="Arial"/>
                <a:ea typeface="Arial"/>
                <a:cs typeface="Arial"/>
              </a:defRPr>
            </a:pPr>
            <a:r>
              <a:rPr sz="1950" b="0">
                <a:solidFill>
                  <a:srgbClr val="566979"/>
                </a:solidFill>
                <a:latin typeface="Arial"/>
                <a:ea typeface="Arial"/>
                <a:cs typeface="Arial"/>
              </a:rPr>
              <a:t>within the separate five-second diagnostic.</a:t>
            </a:r>
          </a:p>
        </p:txBody>
      </p:sp>
    </p:spTree>
    <p:extLst>
      <p:ext uri="{BB962C8B-B14F-4D97-AF65-F5344CB8AC3E}">
        <p14:creationId xmlns:p14="http://schemas.microsoft.com/office/powerpoint/2010/main" val="2885084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2026-09-16T13:51:04.8600000Z</dcterms:created>
  <dcterms:modified xsi:type="dcterms:W3CDTF">2026-09-16T13:51:04.8600000Z</dcterms:modified>
</coreProperties>
</file>